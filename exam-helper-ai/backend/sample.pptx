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9"/>
  </p:notesMasterIdLst>
  <p:sldIdLst>
    <p:sldId id="371" r:id="rId2"/>
    <p:sldId id="372" r:id="rId3"/>
    <p:sldId id="387" r:id="rId4"/>
    <p:sldId id="390" r:id="rId5"/>
    <p:sldId id="388" r:id="rId6"/>
    <p:sldId id="386" r:id="rId7"/>
    <p:sldId id="389" r:id="rId8"/>
    <p:sldId id="413" r:id="rId9"/>
    <p:sldId id="412" r:id="rId10"/>
    <p:sldId id="408" r:id="rId11"/>
    <p:sldId id="416" r:id="rId12"/>
    <p:sldId id="415" r:id="rId13"/>
    <p:sldId id="414" r:id="rId14"/>
    <p:sldId id="418" r:id="rId15"/>
    <p:sldId id="420" r:id="rId16"/>
    <p:sldId id="401" r:id="rId17"/>
    <p:sldId id="391" r:id="rId18"/>
    <p:sldId id="406" r:id="rId19"/>
    <p:sldId id="411" r:id="rId20"/>
    <p:sldId id="419" r:id="rId21"/>
    <p:sldId id="410" r:id="rId22"/>
    <p:sldId id="409" r:id="rId23"/>
    <p:sldId id="407" r:id="rId24"/>
    <p:sldId id="405" r:id="rId25"/>
    <p:sldId id="404" r:id="rId26"/>
    <p:sldId id="402" r:id="rId27"/>
    <p:sldId id="403" r:id="rId28"/>
    <p:sldId id="400" r:id="rId29"/>
    <p:sldId id="394" r:id="rId30"/>
    <p:sldId id="399" r:id="rId31"/>
    <p:sldId id="398" r:id="rId32"/>
    <p:sldId id="397" r:id="rId33"/>
    <p:sldId id="396" r:id="rId34"/>
    <p:sldId id="395" r:id="rId35"/>
    <p:sldId id="421" r:id="rId36"/>
    <p:sldId id="422" r:id="rId37"/>
    <p:sldId id="423" r:id="rId38"/>
    <p:sldId id="393" r:id="rId39"/>
    <p:sldId id="424" r:id="rId40"/>
    <p:sldId id="425" r:id="rId41"/>
    <p:sldId id="429" r:id="rId42"/>
    <p:sldId id="430" r:id="rId43"/>
    <p:sldId id="428" r:id="rId44"/>
    <p:sldId id="427" r:id="rId45"/>
    <p:sldId id="426" r:id="rId46"/>
    <p:sldId id="431" r:id="rId47"/>
    <p:sldId id="433" r:id="rId48"/>
    <p:sldId id="432" r:id="rId49"/>
    <p:sldId id="447" r:id="rId50"/>
    <p:sldId id="448" r:id="rId51"/>
    <p:sldId id="449" r:id="rId52"/>
    <p:sldId id="450" r:id="rId53"/>
    <p:sldId id="434" r:id="rId54"/>
    <p:sldId id="435" r:id="rId55"/>
    <p:sldId id="446" r:id="rId56"/>
    <p:sldId id="445" r:id="rId57"/>
    <p:sldId id="444" r:id="rId58"/>
    <p:sldId id="443" r:id="rId59"/>
    <p:sldId id="451" r:id="rId60"/>
    <p:sldId id="442" r:id="rId61"/>
    <p:sldId id="441" r:id="rId62"/>
    <p:sldId id="440" r:id="rId63"/>
    <p:sldId id="439" r:id="rId64"/>
    <p:sldId id="438" r:id="rId65"/>
    <p:sldId id="437" r:id="rId66"/>
    <p:sldId id="454" r:id="rId67"/>
    <p:sldId id="471" r:id="rId68"/>
    <p:sldId id="455" r:id="rId69"/>
    <p:sldId id="452" r:id="rId70"/>
    <p:sldId id="436" r:id="rId71"/>
    <p:sldId id="460" r:id="rId72"/>
    <p:sldId id="459" r:id="rId73"/>
    <p:sldId id="473" r:id="rId74"/>
    <p:sldId id="472" r:id="rId75"/>
    <p:sldId id="458" r:id="rId76"/>
    <p:sldId id="457" r:id="rId77"/>
    <p:sldId id="456" r:id="rId78"/>
    <p:sldId id="461" r:id="rId79"/>
    <p:sldId id="465" r:id="rId80"/>
    <p:sldId id="464" r:id="rId81"/>
    <p:sldId id="463" r:id="rId82"/>
    <p:sldId id="462" r:id="rId83"/>
    <p:sldId id="466" r:id="rId84"/>
    <p:sldId id="467" r:id="rId85"/>
    <p:sldId id="468" r:id="rId86"/>
    <p:sldId id="469" r:id="rId87"/>
    <p:sldId id="470" r:id="rId88"/>
  </p:sldIdLst>
  <p:sldSz cx="9920288" cy="5580063"/>
  <p:notesSz cx="6858000" cy="9144000"/>
  <p:defaultTextStyle>
    <a:defPPr>
      <a:defRPr lang="en-US"/>
    </a:defPPr>
    <a:lvl1pPr marL="0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1pPr>
    <a:lvl2pPr marL="495099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2pPr>
    <a:lvl3pPr marL="990200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3pPr>
    <a:lvl4pPr marL="1485299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4pPr>
    <a:lvl5pPr marL="1980399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5pPr>
    <a:lvl6pPr marL="2475499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6pPr>
    <a:lvl7pPr marL="2970599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7pPr>
    <a:lvl8pPr marL="3465698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8pPr>
    <a:lvl9pPr marL="3960799" algn="l" defTabSz="990200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BE02ED-22BE-4DF6-82B4-BE71A7766AE9}">
          <p14:sldIdLst>
            <p14:sldId id="371"/>
            <p14:sldId id="372"/>
            <p14:sldId id="387"/>
            <p14:sldId id="390"/>
            <p14:sldId id="388"/>
            <p14:sldId id="386"/>
            <p14:sldId id="389"/>
            <p14:sldId id="413"/>
            <p14:sldId id="412"/>
            <p14:sldId id="408"/>
            <p14:sldId id="416"/>
            <p14:sldId id="415"/>
            <p14:sldId id="414"/>
            <p14:sldId id="418"/>
            <p14:sldId id="420"/>
            <p14:sldId id="401"/>
            <p14:sldId id="391"/>
            <p14:sldId id="406"/>
            <p14:sldId id="411"/>
            <p14:sldId id="419"/>
            <p14:sldId id="410"/>
            <p14:sldId id="409"/>
            <p14:sldId id="407"/>
            <p14:sldId id="405"/>
            <p14:sldId id="404"/>
            <p14:sldId id="402"/>
            <p14:sldId id="403"/>
            <p14:sldId id="400"/>
            <p14:sldId id="394"/>
            <p14:sldId id="399"/>
            <p14:sldId id="398"/>
            <p14:sldId id="397"/>
            <p14:sldId id="396"/>
            <p14:sldId id="395"/>
            <p14:sldId id="421"/>
            <p14:sldId id="422"/>
            <p14:sldId id="423"/>
            <p14:sldId id="393"/>
            <p14:sldId id="424"/>
            <p14:sldId id="425"/>
            <p14:sldId id="429"/>
            <p14:sldId id="430"/>
            <p14:sldId id="428"/>
            <p14:sldId id="427"/>
            <p14:sldId id="426"/>
            <p14:sldId id="431"/>
            <p14:sldId id="433"/>
            <p14:sldId id="432"/>
            <p14:sldId id="447"/>
            <p14:sldId id="448"/>
            <p14:sldId id="449"/>
            <p14:sldId id="450"/>
            <p14:sldId id="434"/>
            <p14:sldId id="435"/>
            <p14:sldId id="446"/>
            <p14:sldId id="445"/>
            <p14:sldId id="444"/>
            <p14:sldId id="443"/>
            <p14:sldId id="451"/>
            <p14:sldId id="442"/>
            <p14:sldId id="441"/>
            <p14:sldId id="440"/>
            <p14:sldId id="439"/>
            <p14:sldId id="438"/>
            <p14:sldId id="437"/>
            <p14:sldId id="454"/>
            <p14:sldId id="471"/>
            <p14:sldId id="455"/>
            <p14:sldId id="452"/>
            <p14:sldId id="436"/>
            <p14:sldId id="460"/>
            <p14:sldId id="459"/>
            <p14:sldId id="473"/>
            <p14:sldId id="472"/>
            <p14:sldId id="458"/>
            <p14:sldId id="457"/>
            <p14:sldId id="456"/>
            <p14:sldId id="461"/>
            <p14:sldId id="465"/>
            <p14:sldId id="464"/>
            <p14:sldId id="463"/>
            <p14:sldId id="462"/>
            <p14:sldId id="466"/>
            <p14:sldId id="467"/>
            <p14:sldId id="468"/>
            <p14:sldId id="469"/>
            <p14:sldId id="4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FD81"/>
    <a:srgbClr val="FF66FF"/>
    <a:srgbClr val="FE82EF"/>
    <a:srgbClr val="FFFFCC"/>
    <a:srgbClr val="FF3399"/>
    <a:srgbClr val="C9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5" autoAdjust="0"/>
    <p:restoredTop sz="94719" autoAdjust="0"/>
  </p:normalViewPr>
  <p:slideViewPr>
    <p:cSldViewPr snapToGrid="0">
      <p:cViewPr varScale="1">
        <p:scale>
          <a:sx n="84" d="100"/>
          <a:sy n="84" d="100"/>
        </p:scale>
        <p:origin x="93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8B904-F152-43CB-AC8F-B2652B7DA88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3C4D7-D057-441E-8251-317E87FC1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7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5099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0200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85299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80399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75499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70599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65698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60799" algn="l" defTabSz="990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3C4D7-D057-441E-8251-317E87FC1B6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218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53B00-6F35-4D3B-8A1F-FF441BD3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 Structures--&gt; Unit-I:  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F16C6-C122-4C31-A799-CA62CF63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DC19B-DA1B-4D06-9327-67B5B66F56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 smtClean="0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‹#›</a:t>
            </a:fld>
            <a:endParaRPr lang="en-IN" sz="1058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38228" y="1250169"/>
            <a:ext cx="9243444" cy="37059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385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9243444" cy="370598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endParaRPr lang="en-IN" sz="1481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4214F-D29B-47FB-9054-36F6F486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83516"/>
            <a:ext cx="2089016" cy="174414"/>
          </a:xfrm>
          <a:pattFill prst="pct50">
            <a:fgClr>
              <a:srgbClr val="FE82EF"/>
            </a:fgClr>
            <a:bgClr>
              <a:schemeClr val="bg1"/>
            </a:bgClr>
          </a:pattFill>
        </p:spPr>
        <p:txBody>
          <a:bodyPr/>
          <a:lstStyle>
            <a:lvl1pPr>
              <a:defRPr sz="984" b="1" baseline="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Data Structures--&gt; Unit-I:  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26317-52C9-474E-AFBB-2A784444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3982" y="5383516"/>
            <a:ext cx="1280275" cy="167104"/>
          </a:xfrm>
          <a:pattFill prst="pct50">
            <a:fgClr>
              <a:srgbClr val="FE82EF"/>
            </a:fgClr>
            <a:bgClr>
              <a:schemeClr val="bg1"/>
            </a:bgClr>
          </a:pattFill>
        </p:spPr>
        <p:txBody>
          <a:bodyPr/>
          <a:lstStyle>
            <a:lvl1pPr>
              <a:defRPr sz="984" b="1" baseline="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en-IN"/>
              <a:t>Pandu Sowkuntla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818E9-3200-49F2-B692-A8D3AAA446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84257" y="5270508"/>
            <a:ext cx="594827" cy="296864"/>
          </a:xfrm>
        </p:spPr>
        <p:txBody>
          <a:bodyPr/>
          <a:lstStyle>
            <a:lvl1pPr>
              <a:defRPr sz="1181" b="1" i="0" baseline="0">
                <a:solidFill>
                  <a:srgbClr val="002060"/>
                </a:solidFill>
                <a:latin typeface="Comic Sans MS" panose="030F0702030302020204" pitchFamily="66" charset="0"/>
              </a:defRPr>
            </a:lvl1pPr>
          </a:lstStyle>
          <a:p>
            <a:pPr algn="r">
              <a:tabLst>
                <a:tab pos="0" algn="l"/>
              </a:tabLst>
            </a:pPr>
            <a:fld id="{8102FD01-B328-4375-925A-2628011DBD89}" type="slidenum">
              <a:rPr lang="en" spc="-1" smtClean="0">
                <a:ea typeface="Arial"/>
              </a:rPr>
              <a:pPr algn="r">
                <a:tabLst>
                  <a:tab pos="0" algn="l"/>
                </a:tabLst>
              </a:pPr>
              <a:t>‹#›</a:t>
            </a:fld>
            <a:endParaRPr lang="en-IN" spc="-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4510608" cy="37059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074970" y="1250169"/>
            <a:ext cx="4510608" cy="37059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38228" y="482726"/>
            <a:ext cx="9243444" cy="287995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385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74970" y="1250169"/>
            <a:ext cx="4510608" cy="37059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38228" y="3186153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4510608" cy="37059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074970" y="1250169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074970" y="3186153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074970" y="1250169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38228" y="3186153"/>
            <a:ext cx="9243444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9243444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38228" y="3186153"/>
            <a:ext cx="9243444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74970" y="1250169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38228" y="3186153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074970" y="3186153"/>
            <a:ext cx="4510608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38228" y="482727"/>
            <a:ext cx="9243444" cy="62098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38229" y="1250169"/>
            <a:ext cx="2976087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463510" y="1250169"/>
            <a:ext cx="2976087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588791" y="1250169"/>
            <a:ext cx="2976087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38229" y="3186153"/>
            <a:ext cx="2976087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463510" y="3186153"/>
            <a:ext cx="2976087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588791" y="3186153"/>
            <a:ext cx="2976087" cy="176765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C399-B25A-492C-9398-BB66E921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419B4-F700-4902-B60E-ADD79FFA6F3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 smtClean="0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‹#›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67894-85E2-4F71-B4EF-5F03CF4716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Data Structures--&gt; Unit-I:  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5B50B-0ECC-49D9-8262-67F9C7873E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</p:spTree>
    <p:extLst>
      <p:ext uri="{BB962C8B-B14F-4D97-AF65-F5344CB8AC3E}">
        <p14:creationId xmlns:p14="http://schemas.microsoft.com/office/powerpoint/2010/main" val="1983332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38228" y="1250169"/>
            <a:ext cx="9243444" cy="37059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81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A95762-C257-4ED2-B57A-A4D5F522BDA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tabLst>
                <a:tab pos="0" algn="l"/>
              </a:tabLst>
            </a:pPr>
            <a:fld id="{0EE32BCD-FCDB-4CAB-9C2C-561CD960EA2A}" type="slidenum">
              <a:rPr lang="en" sz="1058" spc="-1" smtClean="0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‹#›</a:t>
            </a:fld>
            <a:endParaRPr lang="en-IN" sz="1058" spc="-1">
              <a:latin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060516-6FB4-4179-B320-4D307938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521F16-2103-4717-907F-6BD95BF4187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tabLst>
                <a:tab pos="0" algn="l"/>
              </a:tabLst>
            </a:pPr>
            <a:fld id="{0EE32BCD-FCDB-4CAB-9C2C-561CD960EA2A}" type="slidenum">
              <a:rPr lang="en" sz="1058" spc="-1" smtClean="0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‹#›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2069EC-2C53-4549-81A7-AE8959A9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1A3F89-1247-4B82-9B7C-D4B53D74DD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42355" y="1903980"/>
            <a:ext cx="4599487" cy="91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302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28DB2-38E3-49FF-A67D-666BA1A9632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tabLst>
                <a:tab pos="0" algn="l"/>
              </a:tabLst>
            </a:pPr>
            <a:fld id="{0EE32BCD-FCDB-4CAB-9C2C-561CD960EA2A}" type="slidenum">
              <a:rPr lang="en" sz="1058" spc="-1" smtClean="0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‹#›</a:t>
            </a:fld>
            <a:endParaRPr lang="en-IN" sz="1058" spc="-1">
              <a:latin typeface="Times New Roman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78AD19-A3B4-4A32-9C54-F09DF2D9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0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/>
          </p:nvPr>
        </p:nvSpPr>
        <p:spPr>
          <a:xfrm>
            <a:off x="9227410" y="5209014"/>
            <a:ext cx="594827" cy="296864"/>
          </a:xfrm>
          <a:prstGeom prst="rect">
            <a:avLst/>
          </a:prstGeom>
        </p:spPr>
        <p:txBody>
          <a:bodyPr tIns="91440" bIns="91440" anchor="ctr">
            <a:normAutofit/>
          </a:bodyPr>
          <a:lstStyle>
            <a:lvl1pPr>
              <a:defRPr baseline="0">
                <a:solidFill>
                  <a:srgbClr val="002060"/>
                </a:solidFill>
              </a:defRPr>
            </a:lvl1pPr>
          </a:lstStyle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 smtClean="0">
                <a:ea typeface="Arial"/>
              </a:rPr>
              <a:pPr algn="r">
                <a:tabLst>
                  <a:tab pos="0" algn="l"/>
                </a:tabLst>
              </a:pPr>
              <a:t>‹#›</a:t>
            </a:fld>
            <a:endParaRPr lang="en-IN" sz="1058" spc="-1" dirty="0"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96015" y="222618"/>
            <a:ext cx="8927869" cy="9314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IN" sz="1481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96015" y="1305627"/>
            <a:ext cx="8927869" cy="323614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81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913819" lvl="1" indent="-342681">
              <a:spcBef>
                <a:spcPts val="12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81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370728" lvl="2" indent="-304607">
              <a:spcBef>
                <a:spcPts val="89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81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827636" lvl="3" indent="-228455">
              <a:spcBef>
                <a:spcPts val="5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81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284545" lvl="4" indent="-228455">
              <a:spcBef>
                <a:spcPts val="2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16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741455" lvl="5" indent="-228455">
              <a:spcBef>
                <a:spcPts val="2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16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198363" lvl="6" indent="-228455">
              <a:spcBef>
                <a:spcPts val="2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16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5C231-A640-4065-82F2-8739C2760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6016" y="5283200"/>
            <a:ext cx="1386578" cy="222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Structures--&gt; Unit-I:  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41340-AD04-4138-BA85-7ECB4CA3C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2800" y="5283200"/>
            <a:ext cx="4541162" cy="222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Pandu Sowkuntla</a:t>
            </a:r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5" r:id="rId13"/>
    <p:sldLayoutId id="2147483664" r:id="rId14"/>
    <p:sldLayoutId id="2147483676" r:id="rId15"/>
    <p:sldLayoutId id="2147483674" r:id="rId16"/>
  </p:sldLayoutIdLst>
  <p:hf hdr="0"/>
  <p:txStyles>
    <p:titleStyle>
      <a:lvl1pPr algn="l" defTabSz="967124" rtl="0" eaLnBrk="1" latinLnBrk="0" hangingPunct="1">
        <a:lnSpc>
          <a:spcPct val="90000"/>
        </a:lnSpc>
        <a:spcBef>
          <a:spcPct val="0"/>
        </a:spcBef>
        <a:buNone/>
        <a:defRPr sz="46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5131" indent="-318848" algn="l" defTabSz="967124" rtl="0" eaLnBrk="1" latinLnBrk="0" hangingPunct="1">
        <a:lnSpc>
          <a:spcPct val="90000"/>
        </a:lnSpc>
        <a:spcBef>
          <a:spcPts val="1394"/>
        </a:spcBef>
        <a:buClr>
          <a:srgbClr val="000000"/>
        </a:buClr>
        <a:buSzPct val="45000"/>
        <a:buFont typeface="Wingdings" charset="2"/>
        <a:buChar char=""/>
        <a:defRPr sz="2961" kern="1200">
          <a:solidFill>
            <a:schemeClr val="tx1"/>
          </a:solidFill>
          <a:latin typeface="+mn-lt"/>
          <a:ea typeface="+mn-ea"/>
          <a:cs typeface="+mn-cs"/>
        </a:defRPr>
      </a:lvl1pPr>
      <a:lvl2pPr marL="725344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38" kern="1200">
          <a:solidFill>
            <a:schemeClr val="tx1"/>
          </a:solidFill>
          <a:latin typeface="+mn-lt"/>
          <a:ea typeface="+mn-ea"/>
          <a:cs typeface="+mn-cs"/>
        </a:defRPr>
      </a:lvl2pPr>
      <a:lvl3pPr marL="1208905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3pPr>
      <a:lvl4pPr marL="1692468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3" kern="1200">
          <a:solidFill>
            <a:schemeClr val="tx1"/>
          </a:solidFill>
          <a:latin typeface="+mn-lt"/>
          <a:ea typeface="+mn-ea"/>
          <a:cs typeface="+mn-cs"/>
        </a:defRPr>
      </a:lvl4pPr>
      <a:lvl5pPr marL="2176030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3" kern="1200">
          <a:solidFill>
            <a:schemeClr val="tx1"/>
          </a:solidFill>
          <a:latin typeface="+mn-lt"/>
          <a:ea typeface="+mn-ea"/>
          <a:cs typeface="+mn-cs"/>
        </a:defRPr>
      </a:lvl5pPr>
      <a:lvl6pPr marL="2659592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3" kern="1200">
          <a:solidFill>
            <a:schemeClr val="tx1"/>
          </a:solidFill>
          <a:latin typeface="+mn-lt"/>
          <a:ea typeface="+mn-ea"/>
          <a:cs typeface="+mn-cs"/>
        </a:defRPr>
      </a:lvl6pPr>
      <a:lvl7pPr marL="3143153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3" kern="1200">
          <a:solidFill>
            <a:schemeClr val="tx1"/>
          </a:solidFill>
          <a:latin typeface="+mn-lt"/>
          <a:ea typeface="+mn-ea"/>
          <a:cs typeface="+mn-cs"/>
        </a:defRPr>
      </a:lvl7pPr>
      <a:lvl8pPr marL="3626716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3" kern="1200">
          <a:solidFill>
            <a:schemeClr val="tx1"/>
          </a:solidFill>
          <a:latin typeface="+mn-lt"/>
          <a:ea typeface="+mn-ea"/>
          <a:cs typeface="+mn-cs"/>
        </a:defRPr>
      </a:lvl8pPr>
      <a:lvl9pPr marL="4110278" indent="-241781" algn="l" defTabSz="967124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1pPr>
      <a:lvl2pPr marL="483562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2pPr>
      <a:lvl3pPr marL="967124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3pPr>
      <a:lvl4pPr marL="1450686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4pPr>
      <a:lvl5pPr marL="1934249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5pPr>
      <a:lvl6pPr marL="2417811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6pPr>
      <a:lvl7pPr marL="2901373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7pPr>
      <a:lvl8pPr marL="3384934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8pPr>
      <a:lvl9pPr marL="3868496" algn="l" defTabSz="967124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crucks.com/what-is-crisp-se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0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10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image" Target="../media/image1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11" Type="http://schemas.openxmlformats.org/officeDocument/2006/relationships/image" Target="../media/image590.png"/><Relationship Id="rId5" Type="http://schemas.openxmlformats.org/officeDocument/2006/relationships/image" Target="../media/image57.png"/><Relationship Id="rId15" Type="http://schemas.openxmlformats.org/officeDocument/2006/relationships/image" Target="../media/image66.png"/><Relationship Id="rId10" Type="http://schemas.openxmlformats.org/officeDocument/2006/relationships/image" Target="../media/image62.png"/><Relationship Id="rId19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crucks.com/what-is-crisp-se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crucks.com/what-and-why-fuzzy-set/?relatedposts_hit=1&amp;relatedposts_origin=460&amp;relatedposts_position=2&amp;relatedposts_hit=1&amp;relatedposts_origin=460&amp;relatedposts_position=2&amp;relatedposts_hit=1&amp;relatedposts_origin=460&amp;relatedposts_position=2&amp;relatedposts_hit=1&amp;relatedposts_origin=460&amp;relatedposts_position=2&amp;relatedposts_hit=1&amp;relatedposts_origin=460&amp;relatedposts_position=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5" Type="http://schemas.openxmlformats.org/officeDocument/2006/relationships/image" Target="../media/image760.png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7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40.png"/><Relationship Id="rId7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png"/><Relationship Id="rId11" Type="http://schemas.openxmlformats.org/officeDocument/2006/relationships/image" Target="../media/image90.png"/><Relationship Id="rId5" Type="http://schemas.openxmlformats.org/officeDocument/2006/relationships/image" Target="../media/image82.png"/><Relationship Id="rId10" Type="http://schemas.openxmlformats.org/officeDocument/2006/relationships/image" Target="../media/image89.png"/><Relationship Id="rId4" Type="http://schemas.openxmlformats.org/officeDocument/2006/relationships/image" Target="../media/image86.png"/><Relationship Id="rId9" Type="http://schemas.openxmlformats.org/officeDocument/2006/relationships/image" Target="../media/image8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crucks.com/max-min-composition-for-crisp-relatio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2.png"/><Relationship Id="rId7" Type="http://schemas.openxmlformats.org/officeDocument/2006/relationships/image" Target="../media/image10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crucks.com/max-min-composition-for-crisp-relatio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7" Type="http://schemas.openxmlformats.org/officeDocument/2006/relationships/image" Target="../media/image1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8.png"/><Relationship Id="rId5" Type="http://schemas.openxmlformats.org/officeDocument/2006/relationships/image" Target="../media/image136.png"/><Relationship Id="rId4" Type="http://schemas.openxmlformats.org/officeDocument/2006/relationships/image" Target="../media/image1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6.png"/><Relationship Id="rId5" Type="http://schemas.openxmlformats.org/officeDocument/2006/relationships/image" Target="../media/image1450.png"/><Relationship Id="rId4" Type="http://schemas.openxmlformats.org/officeDocument/2006/relationships/image" Target="../media/image1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6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55.png"/><Relationship Id="rId7" Type="http://schemas.openxmlformats.org/officeDocument/2006/relationships/image" Target="../media/image15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70.png"/><Relationship Id="rId5" Type="http://schemas.openxmlformats.org/officeDocument/2006/relationships/image" Target="../media/image1560.png"/><Relationship Id="rId4" Type="http://schemas.openxmlformats.org/officeDocument/2006/relationships/image" Target="../media/image15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61.png"/><Relationship Id="rId7" Type="http://schemas.openxmlformats.org/officeDocument/2006/relationships/image" Target="../media/image1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8.png"/><Relationship Id="rId5" Type="http://schemas.openxmlformats.org/officeDocument/2006/relationships/image" Target="../media/image1561.png"/><Relationship Id="rId4" Type="http://schemas.openxmlformats.org/officeDocument/2006/relationships/image" Target="../media/image15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8.png"/><Relationship Id="rId4" Type="http://schemas.openxmlformats.org/officeDocument/2006/relationships/image" Target="../media/image16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7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7" Type="http://schemas.openxmlformats.org/officeDocument/2006/relationships/image" Target="../media/image1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1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60.png"/><Relationship Id="rId4" Type="http://schemas.openxmlformats.org/officeDocument/2006/relationships/image" Target="../media/image18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7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4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7" Type="http://schemas.openxmlformats.org/officeDocument/2006/relationships/image" Target="../media/image19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70.png"/><Relationship Id="rId5" Type="http://schemas.openxmlformats.org/officeDocument/2006/relationships/image" Target="../media/image1960.png"/><Relationship Id="rId4" Type="http://schemas.openxmlformats.org/officeDocument/2006/relationships/image" Target="../media/image195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10.png"/><Relationship Id="rId4" Type="http://schemas.openxmlformats.org/officeDocument/2006/relationships/image" Target="../media/image201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4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8.png"/><Relationship Id="rId5" Type="http://schemas.openxmlformats.org/officeDocument/2006/relationships/image" Target="../media/image219.png"/><Relationship Id="rId4" Type="http://schemas.openxmlformats.org/officeDocument/2006/relationships/image" Target="../media/image21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2.png"/><Relationship Id="rId5" Type="http://schemas.openxmlformats.org/officeDocument/2006/relationships/image" Target="../media/image223.png"/><Relationship Id="rId4" Type="http://schemas.openxmlformats.org/officeDocument/2006/relationships/image" Target="../media/image22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335687" y="1666652"/>
            <a:ext cx="5094958" cy="112337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lIns="73218" tIns="36608" rIns="73218" bIns="36608" rtlCol="0" anchor="ctr">
            <a:noAutofit/>
          </a:bodyPr>
          <a:lstStyle>
            <a:defPPr>
              <a:defRPr lang="en-US"/>
            </a:defPPr>
            <a:lvl1pPr marL="0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2238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4479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6718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8957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1197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13437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5675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7916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32217">
              <a:lnSpc>
                <a:spcPct val="90000"/>
              </a:lnSpc>
              <a:spcBef>
                <a:spcPct val="0"/>
              </a:spcBef>
              <a:spcAft>
                <a:spcPts val="480"/>
              </a:spcAft>
              <a:tabLst>
                <a:tab pos="0" algn="l"/>
              </a:tabLst>
            </a:pPr>
            <a:r>
              <a:rPr lang="en-US" sz="4724" b="1" dirty="0">
                <a:ln w="0"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Principles</a:t>
            </a:r>
          </a:p>
          <a:p>
            <a:pPr algn="ctr" defTabSz="732217">
              <a:lnSpc>
                <a:spcPct val="90000"/>
              </a:lnSpc>
              <a:spcBef>
                <a:spcPct val="0"/>
              </a:spcBef>
              <a:spcAft>
                <a:spcPts val="480"/>
              </a:spcAft>
              <a:tabLst>
                <a:tab pos="0" algn="l"/>
              </a:tabLst>
            </a:pPr>
            <a:r>
              <a:rPr lang="en-US" sz="4724" b="1" dirty="0">
                <a:ln w="0"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of</a:t>
            </a:r>
          </a:p>
          <a:p>
            <a:pPr algn="ctr" defTabSz="732217">
              <a:lnSpc>
                <a:spcPct val="90000"/>
              </a:lnSpc>
              <a:spcBef>
                <a:spcPct val="0"/>
              </a:spcBef>
              <a:spcAft>
                <a:spcPts val="480"/>
              </a:spcAft>
              <a:tabLst>
                <a:tab pos="0" algn="l"/>
              </a:tabLst>
            </a:pPr>
            <a:r>
              <a:rPr lang="en-US" sz="4724" b="1" dirty="0">
                <a:ln w="0"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Soft Computing</a:t>
            </a:r>
          </a:p>
          <a:p>
            <a:pPr algn="ctr" defTabSz="732217">
              <a:lnSpc>
                <a:spcPct val="90000"/>
              </a:lnSpc>
              <a:spcBef>
                <a:spcPct val="0"/>
              </a:spcBef>
              <a:spcAft>
                <a:spcPts val="480"/>
              </a:spcAft>
              <a:tabLst>
                <a:tab pos="0" algn="l"/>
              </a:tabLst>
            </a:pPr>
            <a:endParaRPr lang="en-US" sz="4724" b="1" dirty="0">
              <a:ln w="0"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335687" y="3346500"/>
            <a:ext cx="3887598" cy="148218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lIns="73218" tIns="36608" rIns="73218" bIns="36608" rtlCol="0" anchor="ctr">
            <a:normAutofit/>
          </a:bodyPr>
          <a:lstStyle>
            <a:defPPr>
              <a:defRPr lang="en-US"/>
            </a:defPPr>
            <a:lvl1pPr marL="0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2238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4479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6718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8957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1197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13437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5675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7916" algn="l" defTabSz="1204479" rtl="0" eaLnBrk="1" latinLnBrk="0" hangingPunct="1">
              <a:defRPr sz="23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32217">
              <a:lnSpc>
                <a:spcPct val="90000"/>
              </a:lnSpc>
              <a:spcAft>
                <a:spcPts val="480"/>
              </a:spcAft>
              <a:tabLst>
                <a:tab pos="0" algn="l"/>
              </a:tabLst>
            </a:pPr>
            <a:r>
              <a:rPr lang="en-US" sz="1442" b="1" spc="-1" dirty="0">
                <a:solidFill>
                  <a:srgbClr val="FF006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Dr. Pandu Sowkuntla</a:t>
            </a:r>
            <a:endParaRPr lang="en-US" sz="1442" spc="-1" dirty="0">
              <a:solidFill>
                <a:srgbClr val="FF0066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+mj-lt"/>
            </a:endParaRPr>
          </a:p>
          <a:p>
            <a:pPr defTabSz="732217">
              <a:lnSpc>
                <a:spcPct val="90000"/>
              </a:lnSpc>
              <a:spcAft>
                <a:spcPts val="480"/>
              </a:spcAft>
              <a:tabLst>
                <a:tab pos="0" algn="l"/>
              </a:tabLst>
            </a:pPr>
            <a:r>
              <a:rPr lang="en-US" sz="1442" b="1" spc="-1" dirty="0">
                <a:solidFill>
                  <a:srgbClr val="FF006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Asst. Professor,</a:t>
            </a:r>
            <a:endParaRPr lang="en-US" sz="1442" spc="-1" dirty="0">
              <a:solidFill>
                <a:srgbClr val="FF0066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+mj-lt"/>
            </a:endParaRPr>
          </a:p>
          <a:p>
            <a:pPr defTabSz="732217">
              <a:lnSpc>
                <a:spcPct val="90000"/>
              </a:lnSpc>
              <a:spcAft>
                <a:spcPts val="480"/>
              </a:spcAft>
              <a:tabLst>
                <a:tab pos="0" algn="l"/>
              </a:tabLst>
            </a:pPr>
            <a:r>
              <a:rPr lang="en-US" sz="1442" b="1" spc="-1" dirty="0">
                <a:solidFill>
                  <a:srgbClr val="FF006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Dept. of CSE, SRM University AP</a:t>
            </a:r>
            <a:endParaRPr lang="en-US" sz="1442" spc="-1" dirty="0">
              <a:solidFill>
                <a:srgbClr val="FF0066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+mj-lt"/>
            </a:endParaRPr>
          </a:p>
        </p:txBody>
      </p:sp>
      <p:pic>
        <p:nvPicPr>
          <p:cNvPr id="80" name="Google Shape;56;p13"/>
          <p:cNvPicPr/>
          <p:nvPr/>
        </p:nvPicPr>
        <p:blipFill>
          <a:blip r:embed="rId2"/>
          <a:stretch/>
        </p:blipFill>
        <p:spPr>
          <a:xfrm>
            <a:off x="8426906" y="0"/>
            <a:ext cx="1493382" cy="64394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55390-6323-4DA2-A584-ED8361F3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140" y="5242816"/>
            <a:ext cx="3205633" cy="292362"/>
          </a:xfrm>
        </p:spPr>
        <p:txBody>
          <a:bodyPr vert="horz" lIns="73218" tIns="36608" rIns="73218" bIns="36608" rtlCol="0" anchor="ctr">
            <a:normAutofit/>
          </a:bodyPr>
          <a:lstStyle/>
          <a:p>
            <a:pPr>
              <a:spcAft>
                <a:spcPts val="480"/>
              </a:spcAft>
            </a:pPr>
            <a:r>
              <a:rPr lang="en-US" sz="960" dirty="0"/>
              <a:t>Principles of Soft Computing--&gt; Unit-III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E6E44-D807-4B2F-AA07-CD6BD089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12751" y="5242816"/>
            <a:ext cx="3294786" cy="292362"/>
          </a:xfrm>
        </p:spPr>
        <p:txBody>
          <a:bodyPr vert="horz" lIns="73218" tIns="36608" rIns="73218" bIns="36608" rtlCol="0" anchor="ctr">
            <a:normAutofit/>
          </a:bodyPr>
          <a:lstStyle/>
          <a:p>
            <a:pPr>
              <a:spcAft>
                <a:spcPts val="480"/>
              </a:spcAft>
            </a:pPr>
            <a:r>
              <a:rPr lang="en-US" sz="960" dirty="0"/>
              <a:t>Pandu Sowkuntla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96918-F676-4E13-A518-EBCC23EA67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973624" y="5242816"/>
            <a:ext cx="2196524" cy="292362"/>
          </a:xfrm>
        </p:spPr>
        <p:txBody>
          <a:bodyPr vert="horz" lIns="73218" tIns="36608" rIns="73218" bIns="36608" rtlCol="0" anchor="ctr">
            <a:normAutofit/>
          </a:bodyPr>
          <a:lstStyle/>
          <a:p>
            <a:pPr algn="r">
              <a:spcAft>
                <a:spcPts val="480"/>
              </a:spcAft>
              <a:tabLst>
                <a:tab pos="0" algn="l"/>
              </a:tabLst>
            </a:pPr>
            <a:fld id="{8102FD01-B328-4375-925A-2628011DBD89}" type="slidenum">
              <a:rPr lang="en-US" sz="960" spc="-1">
                <a:solidFill>
                  <a:schemeClr val="tx1">
                    <a:tint val="75000"/>
                  </a:schemeClr>
                </a:solidFill>
              </a:rPr>
              <a:pPr algn="r">
                <a:spcAft>
                  <a:spcPts val="480"/>
                </a:spcAft>
                <a:tabLst>
                  <a:tab pos="0" algn="l"/>
                </a:tabLst>
              </a:pPr>
              <a:t>1</a:t>
            </a:fld>
            <a:endParaRPr lang="en-US" sz="960" spc="-1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AutoShape 2" descr="SOCCER - Soft Computing Applications for Complex Environments">
            <a:extLst>
              <a:ext uri="{FF2B5EF4-FFF2-40B4-BE49-F238E27FC236}">
                <a16:creationId xmlns:a16="http://schemas.microsoft.com/office/drawing/2014/main" id="{38A41A3F-ACEF-F36F-D3A4-EDAD10EE0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10169" y="2639275"/>
            <a:ext cx="299952" cy="2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9986" tIns="44993" rIns="89986" bIns="44993" numCol="1" anchor="t" anchorCtr="0" compatLnSpc="1">
            <a:prstTxWarp prst="textNoShape">
              <a:avLst/>
            </a:prstTxWarp>
          </a:bodyPr>
          <a:lstStyle/>
          <a:p>
            <a:endParaRPr lang="en-IN" sz="1919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D9CB5-BA29-6A4F-9E92-8F3008812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217" y="645925"/>
            <a:ext cx="4611910" cy="22520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055E1A-62CE-31E9-A811-5BC1DB1DF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217" y="2901876"/>
            <a:ext cx="4611910" cy="225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84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4DCC2-7D04-4E8F-BCB8-7F672AFD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F93D2-CFAA-4603-9CF1-242C7C2D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5CC53-4C19-4B80-AD47-F6CF585DCA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</a:t>
            </a:fld>
            <a:endParaRPr lang="en-IN" sz="1058" spc="-1">
              <a:latin typeface="Times New Roman"/>
            </a:endParaRPr>
          </a:p>
        </p:txBody>
      </p:sp>
      <p:pic>
        <p:nvPicPr>
          <p:cNvPr id="10" name="Google Shape;86;p17">
            <a:extLst>
              <a:ext uri="{FF2B5EF4-FFF2-40B4-BE49-F238E27FC236}">
                <a16:creationId xmlns:a16="http://schemas.microsoft.com/office/drawing/2014/main" id="{8B96AA9D-9DCC-471E-B3E1-3911C1DB39F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29021" y="95597"/>
            <a:ext cx="1791267" cy="605387"/>
          </a:xfrm>
          <a:prstGeom prst="rect">
            <a:avLst/>
          </a:prstGeom>
          <a:ln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2C64004-35DE-40C6-B48F-E5C947D7B766}"/>
              </a:ext>
            </a:extLst>
          </p:cNvPr>
          <p:cNvGrpSpPr/>
          <p:nvPr/>
        </p:nvGrpSpPr>
        <p:grpSpPr>
          <a:xfrm>
            <a:off x="555122" y="4633938"/>
            <a:ext cx="4038788" cy="949972"/>
            <a:chOff x="1445702" y="4347966"/>
            <a:chExt cx="4104065" cy="9653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743F24-4C4F-4BDD-96C0-686AFFC56A9C}"/>
                </a:ext>
              </a:extLst>
            </p:cNvPr>
            <p:cNvSpPr/>
            <p:nvPr/>
          </p:nvSpPr>
          <p:spPr>
            <a:xfrm>
              <a:off x="1445702" y="4593292"/>
              <a:ext cx="36000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F8BF9D-A3C6-4EEA-AE99-4A7FC4A4366E}"/>
                </a:ext>
              </a:extLst>
            </p:cNvPr>
            <p:cNvSpPr txBox="1"/>
            <p:nvPr/>
          </p:nvSpPr>
          <p:spPr>
            <a:xfrm>
              <a:off x="1949767" y="4347966"/>
              <a:ext cx="36000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7497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3936" b="1" dirty="0">
                  <a:solidFill>
                    <a:srgbClr val="FF0000"/>
                  </a:solidFill>
                  <a:latin typeface="+mj-lt"/>
                </a:rPr>
                <a:t>Unit-III</a:t>
              </a:r>
            </a:p>
          </p:txBody>
        </p:sp>
      </p:grpSp>
      <p:sp>
        <p:nvSpPr>
          <p:cNvPr id="13" name="Rectangle 12" descr="Checkmark">
            <a:extLst>
              <a:ext uri="{FF2B5EF4-FFF2-40B4-BE49-F238E27FC236}">
                <a16:creationId xmlns:a16="http://schemas.microsoft.com/office/drawing/2014/main" id="{13E54DC3-A44E-4EA3-A9B8-3DFE6896C6B2}"/>
              </a:ext>
            </a:extLst>
          </p:cNvPr>
          <p:cNvSpPr/>
          <p:nvPr/>
        </p:nvSpPr>
        <p:spPr>
          <a:xfrm>
            <a:off x="6976735" y="1111545"/>
            <a:ext cx="1239959" cy="1239959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6124C0C-0254-4FBC-9AA7-902E5F22D0CD}"/>
              </a:ext>
            </a:extLst>
          </p:cNvPr>
          <p:cNvSpPr/>
          <p:nvPr/>
        </p:nvSpPr>
        <p:spPr>
          <a:xfrm>
            <a:off x="6700623" y="1768369"/>
            <a:ext cx="2161071" cy="2161071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0" name="Rectangle 19" descr="Checkmark">
            <a:extLst>
              <a:ext uri="{FF2B5EF4-FFF2-40B4-BE49-F238E27FC236}">
                <a16:creationId xmlns:a16="http://schemas.microsoft.com/office/drawing/2014/main" id="{387C521F-399C-4BE3-9855-BE28D5778269}"/>
              </a:ext>
            </a:extLst>
          </p:cNvPr>
          <p:cNvSpPr/>
          <p:nvPr/>
        </p:nvSpPr>
        <p:spPr>
          <a:xfrm>
            <a:off x="7186937" y="2228925"/>
            <a:ext cx="1239959" cy="1239959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4EC697-2E09-4F7B-932D-701DBABCED3F}"/>
              </a:ext>
            </a:extLst>
          </p:cNvPr>
          <p:cNvGrpSpPr/>
          <p:nvPr/>
        </p:nvGrpSpPr>
        <p:grpSpPr>
          <a:xfrm>
            <a:off x="5584619" y="3963888"/>
            <a:ext cx="4393078" cy="1052128"/>
            <a:chOff x="6370504" y="2762030"/>
            <a:chExt cx="4311439" cy="211118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1E0E230-857E-469C-BE32-9ECACE0A5023}"/>
                </a:ext>
              </a:extLst>
            </p:cNvPr>
            <p:cNvSpPr/>
            <p:nvPr/>
          </p:nvSpPr>
          <p:spPr>
            <a:xfrm>
              <a:off x="6370504" y="2762030"/>
              <a:ext cx="4166620" cy="21111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8B8828-7C41-40C5-9162-329172A3C071}"/>
                </a:ext>
              </a:extLst>
            </p:cNvPr>
            <p:cNvSpPr txBox="1"/>
            <p:nvPr/>
          </p:nvSpPr>
          <p:spPr>
            <a:xfrm>
              <a:off x="6515322" y="2875038"/>
              <a:ext cx="4166621" cy="7270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749730">
                <a:spcBef>
                  <a:spcPct val="0"/>
                </a:spcBef>
                <a:defRPr cap="all"/>
              </a:pPr>
              <a:r>
                <a:rPr lang="en-US" sz="3200" b="1" dirty="0">
                  <a:solidFill>
                    <a:srgbClr val="0070C0"/>
                  </a:solidFill>
                  <a:latin typeface="+mj-lt"/>
                </a:rPr>
                <a:t>Fuzzy logic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D364CDB-BA9D-8E62-0B1E-267FDFA2A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80" y="475191"/>
            <a:ext cx="5368599" cy="39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</a:t>
            </a:fld>
            <a:endParaRPr lang="en-IN" sz="1058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5B0E2-7DE7-F168-A3FD-F16DEAEE3541}"/>
              </a:ext>
            </a:extLst>
          </p:cNvPr>
          <p:cNvSpPr txBox="1"/>
          <p:nvPr/>
        </p:nvSpPr>
        <p:spPr>
          <a:xfrm>
            <a:off x="1448606" y="2057294"/>
            <a:ext cx="7023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Introduction to Fuzzy Logic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57CE497-DAC2-8A46-2F67-FAFCACBB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52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</a:t>
            </a:fld>
            <a:endParaRPr lang="en-IN" sz="1058" spc="-1"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38057-BBC1-D407-5904-7D12BF280AE0}"/>
              </a:ext>
            </a:extLst>
          </p:cNvPr>
          <p:cNvSpPr txBox="1"/>
          <p:nvPr/>
        </p:nvSpPr>
        <p:spPr>
          <a:xfrm>
            <a:off x="302706" y="2795950"/>
            <a:ext cx="41381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solidFill>
                  <a:srgbClr val="C00000"/>
                </a:solidFill>
                <a:effectLst/>
              </a:rPr>
              <a:t>Precision</a:t>
            </a:r>
            <a:r>
              <a:rPr lang="en-US" sz="1800" b="0" i="0" dirty="0">
                <a:effectLst/>
              </a:rPr>
              <a:t> is not everything. 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Most of the times, we are looking for the 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significance</a:t>
            </a:r>
            <a:r>
              <a:rPr lang="en-US" sz="1800" b="0" i="0" dirty="0">
                <a:effectLst/>
              </a:rPr>
              <a:t> rather than precision.</a:t>
            </a:r>
            <a:endParaRPr lang="en-IN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C59097-2CEB-746C-FC82-C56418464E49}"/>
              </a:ext>
            </a:extLst>
          </p:cNvPr>
          <p:cNvSpPr txBox="1"/>
          <p:nvPr/>
        </p:nvSpPr>
        <p:spPr>
          <a:xfrm>
            <a:off x="300063" y="487626"/>
            <a:ext cx="9476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Knowledge in real world can be </a:t>
            </a:r>
            <a:r>
              <a:rPr lang="en-US" sz="1800" b="0" i="0" dirty="0">
                <a:solidFill>
                  <a:srgbClr val="7030A0"/>
                </a:solidFill>
                <a:effectLst/>
              </a:rPr>
              <a:t>inaccurate, unclear, imprecise, indecisive, probabilistic, approximate</a:t>
            </a:r>
            <a:r>
              <a:rPr lang="en-US" sz="1800" b="0" i="0" dirty="0">
                <a:effectLst/>
              </a:rPr>
              <a:t>. 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solidFill>
                  <a:srgbClr val="00B050"/>
                </a:solidFill>
                <a:effectLst/>
              </a:rPr>
              <a:t>Crisp set </a:t>
            </a:r>
            <a:r>
              <a:rPr lang="en-US" sz="1800" b="0" i="0" dirty="0">
                <a:effectLst/>
              </a:rPr>
              <a:t>can not tolerate the </a:t>
            </a:r>
            <a:r>
              <a:rPr lang="en-US" sz="1800" b="0" i="0" dirty="0">
                <a:solidFill>
                  <a:srgbClr val="7030A0"/>
                </a:solidFill>
                <a:effectLst/>
              </a:rPr>
              <a:t>imprecision</a:t>
            </a:r>
            <a:r>
              <a:rPr lang="en-US" sz="1800" b="0" i="0" dirty="0">
                <a:effectLst/>
              </a:rPr>
              <a:t> in the data.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solidFill>
                  <a:srgbClr val="0070C0"/>
                </a:solidFill>
                <a:effectLst/>
              </a:rPr>
              <a:t>Example: </a:t>
            </a:r>
            <a:r>
              <a:rPr lang="en-US" sz="1800" b="0" i="0" dirty="0">
                <a:effectLst/>
              </a:rPr>
              <a:t>If we touch something, instead of measuring exact temperature, we think whether the object is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cold, warm, hot </a:t>
            </a:r>
            <a:r>
              <a:rPr lang="en-US" sz="1800" b="0" i="0" dirty="0">
                <a:effectLst/>
              </a:rPr>
              <a:t>or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very hot </a:t>
            </a:r>
            <a:r>
              <a:rPr lang="en-US" sz="1800" b="0" i="0" dirty="0">
                <a:effectLst/>
              </a:rPr>
              <a:t>etc.</a:t>
            </a:r>
            <a:endParaRPr lang="en-IN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b="0" i="0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A0F0C8-6B48-EF37-6EA1-8C251FE6C67A}"/>
              </a:ext>
            </a:extLst>
          </p:cNvPr>
          <p:cNvSpPr txBox="1"/>
          <p:nvPr/>
        </p:nvSpPr>
        <p:spPr>
          <a:xfrm>
            <a:off x="3867948" y="-71563"/>
            <a:ext cx="2672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Why Fuzzy Logic?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DAD8782F-24AB-F567-314F-1B8E443E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Why Fuzzy Logic?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F7E3DD-5078-E3DE-5874-474DCD2F2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211" y="2737829"/>
            <a:ext cx="2105025" cy="259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CD954D-8A04-321B-0C1D-7FC15808B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152" y="2794979"/>
            <a:ext cx="21336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1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</a:t>
            </a:fld>
            <a:endParaRPr lang="en-IN" sz="1058" spc="-1">
              <a:latin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D1F1C4-E58A-E7CC-B4A7-DE05394B7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860" y="2850655"/>
            <a:ext cx="3613770" cy="1292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DDEDC9-A6E7-E9AE-4341-792EA0F7D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808" y="4251747"/>
            <a:ext cx="3742700" cy="11417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839DF4-359E-54A1-A055-273B23A66B62}"/>
              </a:ext>
            </a:extLst>
          </p:cNvPr>
          <p:cNvSpPr txBox="1"/>
          <p:nvPr/>
        </p:nvSpPr>
        <p:spPr>
          <a:xfrm>
            <a:off x="-395246" y="3160232"/>
            <a:ext cx="5949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    If we ask: </a:t>
            </a:r>
          </a:p>
          <a:p>
            <a:r>
              <a:rPr lang="en-US" sz="1800" b="0" i="1" dirty="0">
                <a:effectLst/>
              </a:rPr>
              <a:t>	</a:t>
            </a:r>
            <a:r>
              <a:rPr lang="en-US" sz="1800" b="0" i="1" dirty="0">
                <a:solidFill>
                  <a:srgbClr val="FF0000"/>
                </a:solidFill>
                <a:effectLst/>
              </a:rPr>
              <a:t>“who does have a driving license?” </a:t>
            </a:r>
            <a:r>
              <a:rPr lang="en-US" sz="1800" b="0" i="1" dirty="0">
                <a:effectLst/>
              </a:rPr>
              <a:t>	</a:t>
            </a:r>
            <a:endParaRPr lang="en-IN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2FABC2-7593-9191-88A4-47624D9736D0}"/>
              </a:ext>
            </a:extLst>
          </p:cNvPr>
          <p:cNvSpPr txBox="1"/>
          <p:nvPr/>
        </p:nvSpPr>
        <p:spPr>
          <a:xfrm>
            <a:off x="0" y="4336244"/>
            <a:ext cx="6369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 But if we ask:</a:t>
            </a:r>
          </a:p>
          <a:p>
            <a:r>
              <a:rPr lang="en-US" sz="1800" b="0" i="0" dirty="0">
                <a:effectLst/>
              </a:rPr>
              <a:t> </a:t>
            </a:r>
            <a:r>
              <a:rPr lang="en-US" sz="1800" b="0" i="1" dirty="0">
                <a:effectLst/>
              </a:rPr>
              <a:t>	</a:t>
            </a:r>
            <a:r>
              <a:rPr lang="en-US" sz="1800" b="0" i="1" dirty="0">
                <a:solidFill>
                  <a:srgbClr val="FF0000"/>
                </a:solidFill>
                <a:effectLst/>
              </a:rPr>
              <a:t>“who can drive well?” </a:t>
            </a:r>
            <a:r>
              <a:rPr lang="en-US" sz="1800" b="0" i="1" dirty="0">
                <a:effectLst/>
              </a:rPr>
              <a:t>(</a:t>
            </a:r>
            <a:r>
              <a:rPr lang="en-US" sz="1800" b="0" dirty="0">
                <a:solidFill>
                  <a:srgbClr val="00B050"/>
                </a:solidFill>
                <a:effectLst/>
              </a:rPr>
              <a:t>vague statement</a:t>
            </a:r>
            <a:r>
              <a:rPr lang="en-US" sz="1800" b="0" i="1" dirty="0">
                <a:effectLst/>
              </a:rPr>
              <a:t>)</a:t>
            </a:r>
            <a:r>
              <a:rPr lang="en-US" sz="1800" b="0" i="0" dirty="0">
                <a:effectLst/>
              </a:rPr>
              <a:t> </a:t>
            </a:r>
            <a:endParaRPr lang="en-IN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928180-1B1B-C5A1-8C61-F34F9CC8A6BB}"/>
              </a:ext>
            </a:extLst>
          </p:cNvPr>
          <p:cNvSpPr txBox="1"/>
          <p:nvPr/>
        </p:nvSpPr>
        <p:spPr>
          <a:xfrm>
            <a:off x="3867948" y="-71563"/>
            <a:ext cx="2672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Why Fuzzy Logic?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FB90F18-60DD-89DF-DAD0-F7383052B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708" y="517666"/>
            <a:ext cx="2780922" cy="23622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3797AE1-EDF4-FB01-715A-3ACC17B3CAC7}"/>
              </a:ext>
            </a:extLst>
          </p:cNvPr>
          <p:cNvSpPr txBox="1"/>
          <p:nvPr/>
        </p:nvSpPr>
        <p:spPr>
          <a:xfrm>
            <a:off x="-188843" y="445882"/>
            <a:ext cx="71362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  I</a:t>
            </a:r>
            <a:r>
              <a:rPr lang="en-US" sz="1800" b="0" i="0" dirty="0">
                <a:effectLst/>
              </a:rPr>
              <a:t>f we ask:  </a:t>
            </a:r>
            <a:r>
              <a:rPr lang="en-US" sz="1800" b="0" i="1" dirty="0">
                <a:solidFill>
                  <a:srgbClr val="FF0000"/>
                </a:solidFill>
                <a:effectLst/>
              </a:rPr>
              <a:t>Are Alex and John good friends? </a:t>
            </a:r>
          </a:p>
          <a:p>
            <a:r>
              <a:rPr lang="en-US" sz="1800" i="1" dirty="0"/>
              <a:t>		</a:t>
            </a:r>
            <a:r>
              <a:rPr lang="en-US" sz="1800" b="0" i="1" dirty="0">
                <a:effectLst/>
              </a:rPr>
              <a:t>(</a:t>
            </a:r>
            <a:r>
              <a:rPr lang="en-US" sz="1800" b="0" dirty="0">
                <a:solidFill>
                  <a:srgbClr val="00B050"/>
                </a:solidFill>
                <a:effectLst/>
              </a:rPr>
              <a:t>vague statement</a:t>
            </a:r>
            <a:r>
              <a:rPr lang="en-US" sz="1800" b="0" i="1" dirty="0">
                <a:effectLst/>
              </a:rPr>
              <a:t>)</a:t>
            </a:r>
          </a:p>
          <a:p>
            <a:endParaRPr lang="en-US" sz="1800" i="1" dirty="0"/>
          </a:p>
          <a:p>
            <a:r>
              <a:rPr lang="en-US" sz="1800" b="0" i="0" dirty="0">
                <a:effectLst/>
              </a:rPr>
              <a:t>	Using </a:t>
            </a:r>
            <a:r>
              <a:rPr lang="en-US" sz="1800" b="0" i="0" dirty="0">
                <a:solidFill>
                  <a:srgbClr val="00B050"/>
                </a:solidFill>
                <a:effectLst/>
              </a:rPr>
              <a:t>crisp representation</a:t>
            </a:r>
            <a:r>
              <a:rPr lang="en-US" sz="1800" b="0" i="0" dirty="0">
                <a:effectLst/>
              </a:rPr>
              <a:t>, the possible 	outcome is either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0</a:t>
            </a:r>
            <a:r>
              <a:rPr lang="en-US" sz="1800" b="0" i="0" dirty="0">
                <a:effectLst/>
              </a:rPr>
              <a:t> or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1</a:t>
            </a:r>
            <a:r>
              <a:rPr lang="en-US" sz="1800" b="0" i="0" dirty="0">
                <a:effectLst/>
              </a:rPr>
              <a:t>. </a:t>
            </a:r>
          </a:p>
          <a:p>
            <a:endParaRPr lang="en-US" sz="1800" b="0" i="0" dirty="0">
              <a:effectLst/>
            </a:endParaRPr>
          </a:p>
          <a:p>
            <a:r>
              <a:rPr lang="en-US" sz="1800" b="0" i="0" dirty="0">
                <a:effectLst/>
              </a:rPr>
              <a:t>	But the possible outcomes could be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extremely 	good friends</a:t>
            </a:r>
            <a:r>
              <a:rPr lang="en-US" sz="1800" b="0" i="0" dirty="0">
                <a:effectLst/>
              </a:rPr>
              <a:t>, </a:t>
            </a:r>
            <a:r>
              <a:rPr lang="en-US" sz="1800" dirty="0"/>
              <a:t>or</a:t>
            </a:r>
            <a:r>
              <a:rPr lang="en-US" sz="1800" b="0" i="0" dirty="0">
                <a:effectLst/>
              </a:rPr>
              <a:t>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good friends</a:t>
            </a:r>
            <a:r>
              <a:rPr lang="en-US" sz="1800" b="0" i="0" dirty="0">
                <a:effectLst/>
              </a:rPr>
              <a:t>, or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not so good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   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friends</a:t>
            </a:r>
            <a:r>
              <a:rPr lang="en-US" sz="1800" b="0" i="0" dirty="0">
                <a:effectLst/>
              </a:rPr>
              <a:t>, or they are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not friends at all</a:t>
            </a:r>
            <a:r>
              <a:rPr lang="en-US" sz="1800" b="0" i="0" dirty="0">
                <a:effectLst/>
              </a:rPr>
              <a:t>.</a:t>
            </a:r>
            <a:endParaRPr lang="en-IN" sz="1800" dirty="0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4425FF87-7ACD-AF37-CD2C-7A3AFA75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Why Fuzzy Logic?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69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</a:t>
            </a:fld>
            <a:endParaRPr lang="en-IN" sz="1058" spc="-1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55BD25-EFAF-27BE-7FAD-29594DE3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53" y="3516206"/>
            <a:ext cx="4302532" cy="15033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789BED-FA7B-1654-9728-CBEE6FD86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009" y="560461"/>
            <a:ext cx="4410075" cy="2409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3E576-AF08-2A1C-5A47-39F36B30287B}"/>
              </a:ext>
            </a:extLst>
          </p:cNvPr>
          <p:cNvSpPr txBox="1"/>
          <p:nvPr/>
        </p:nvSpPr>
        <p:spPr>
          <a:xfrm>
            <a:off x="181132" y="543804"/>
            <a:ext cx="66271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1" i="0" dirty="0">
                <a:solidFill>
                  <a:srgbClr val="0070C0"/>
                </a:solidFill>
                <a:effectLst/>
              </a:rPr>
              <a:t>Fuzzy logic </a:t>
            </a:r>
            <a:r>
              <a:rPr lang="en-US" sz="1800" b="0" i="0" dirty="0">
                <a:effectLst/>
              </a:rPr>
              <a:t>is an approach to computing based on </a:t>
            </a:r>
            <a:r>
              <a:rPr lang="en-US" sz="1800" b="0" i="0" dirty="0">
                <a:solidFill>
                  <a:srgbClr val="00B050"/>
                </a:solidFill>
                <a:effectLst/>
              </a:rPr>
              <a:t>“degree of truth” </a:t>
            </a:r>
            <a:r>
              <a:rPr lang="en-US" sz="1800" b="0" i="0" dirty="0">
                <a:effectLst/>
              </a:rPr>
              <a:t>rather than the usual “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true (1)</a:t>
            </a:r>
            <a:r>
              <a:rPr lang="en-US" sz="1800" b="0" i="0" dirty="0">
                <a:effectLst/>
              </a:rPr>
              <a:t> or 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false (0)</a:t>
            </a:r>
            <a:r>
              <a:rPr lang="en-US" sz="1800" b="0" i="0" dirty="0">
                <a:effectLst/>
              </a:rPr>
              <a:t> value”.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F02714-707C-4146-F9C6-B9C20384A0A4}"/>
              </a:ext>
            </a:extLst>
          </p:cNvPr>
          <p:cNvSpPr txBox="1"/>
          <p:nvPr/>
        </p:nvSpPr>
        <p:spPr>
          <a:xfrm>
            <a:off x="181132" y="1601762"/>
            <a:ext cx="528787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1" i="0" dirty="0">
                <a:solidFill>
                  <a:schemeClr val="accent4">
                    <a:lumMod val="75000"/>
                  </a:schemeClr>
                </a:solidFill>
                <a:effectLst/>
              </a:rPr>
              <a:t>Crisp logic </a:t>
            </a:r>
            <a:r>
              <a:rPr lang="en-US" sz="1800" b="0" i="0" dirty="0">
                <a:effectLst/>
              </a:rPr>
              <a:t>is binary valued logic.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Any element in </a:t>
            </a:r>
            <a:r>
              <a:rPr lang="en-US" sz="1800" dirty="0"/>
              <a:t>c</a:t>
            </a:r>
            <a:r>
              <a:rPr lang="en-US" sz="1800" b="0" i="0" dirty="0">
                <a:effectLst/>
              </a:rPr>
              <a:t>risp set has membership value either 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0 or 1</a:t>
            </a:r>
            <a:r>
              <a:rPr lang="en-US" sz="1800" b="0" i="0" dirty="0">
                <a:effectLst/>
              </a:rPr>
              <a:t>. 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solidFill>
                  <a:srgbClr val="0070C0"/>
                </a:solidFill>
                <a:effectLst/>
              </a:rPr>
              <a:t>Fuzzy Logic </a:t>
            </a:r>
            <a:r>
              <a:rPr lang="en-US" sz="1800" b="0" i="0" dirty="0">
                <a:effectLst/>
              </a:rPr>
              <a:t>which is also known as multi-valued logic has </a:t>
            </a:r>
            <a:r>
              <a:rPr lang="en-US" sz="1800" b="0" i="0" dirty="0">
                <a:solidFill>
                  <a:srgbClr val="00B050"/>
                </a:solidFill>
                <a:effectLst/>
              </a:rPr>
              <a:t>multiple membership values possible</a:t>
            </a:r>
            <a:r>
              <a:rPr lang="en-US" sz="1800" b="0" i="0" dirty="0">
                <a:effectLst/>
              </a:rPr>
              <a:t>. 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For multi-valued logic, element can take any </a:t>
            </a:r>
            <a:r>
              <a:rPr lang="en-US" sz="1800" b="0" i="0" dirty="0">
                <a:solidFill>
                  <a:srgbClr val="00B050"/>
                </a:solidFill>
                <a:effectLst/>
              </a:rPr>
              <a:t>real value between 0 and 1.</a:t>
            </a:r>
            <a:endParaRPr lang="en-IN" sz="1800" dirty="0">
              <a:solidFill>
                <a:srgbClr val="00B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8E7447-6ECE-9E03-2A64-37E9B7B9C955}"/>
              </a:ext>
            </a:extLst>
          </p:cNvPr>
          <p:cNvSpPr txBox="1"/>
          <p:nvPr/>
        </p:nvSpPr>
        <p:spPr>
          <a:xfrm>
            <a:off x="3867948" y="-71563"/>
            <a:ext cx="2672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Why Fuzzy Logic?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F85610-0744-A4E8-856C-81B47DC652A3}"/>
              </a:ext>
            </a:extLst>
          </p:cNvPr>
          <p:cNvSpPr txBox="1"/>
          <p:nvPr/>
        </p:nvSpPr>
        <p:spPr>
          <a:xfrm>
            <a:off x="6756042" y="4991167"/>
            <a:ext cx="2397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effectLst/>
              </a:rPr>
              <a:t>“who can drive well?” </a:t>
            </a:r>
            <a:endParaRPr lang="en-IN" sz="1400" b="1" dirty="0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BB2B5E90-4439-D5A7-3D82-B89FDE29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Why Fuzzy Logic?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02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</a:t>
            </a:fld>
            <a:endParaRPr lang="en-IN" sz="1058" spc="-1">
              <a:latin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54A7E-285A-A568-7148-B0E99F6EFF07}"/>
              </a:ext>
            </a:extLst>
          </p:cNvPr>
          <p:cNvSpPr txBox="1"/>
          <p:nvPr/>
        </p:nvSpPr>
        <p:spPr>
          <a:xfrm>
            <a:off x="3462199" y="-48"/>
            <a:ext cx="29835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What is Fuzzy Set?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5E297-5482-1E34-2261-BF495A8FAFA1}"/>
              </a:ext>
            </a:extLst>
          </p:cNvPr>
          <p:cNvSpPr txBox="1"/>
          <p:nvPr/>
        </p:nvSpPr>
        <p:spPr>
          <a:xfrm>
            <a:off x="278897" y="783074"/>
            <a:ext cx="93084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solidFill>
                  <a:srgbClr val="0070C0"/>
                </a:solidFill>
                <a:effectLst/>
              </a:rPr>
              <a:t>Fuzzy set </a:t>
            </a:r>
            <a:r>
              <a:rPr lang="en-US" sz="1800" b="0" i="0" dirty="0">
                <a:effectLst/>
              </a:rPr>
              <a:t>is a natural way to deal with the imprecision. 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Fuzzy set is an extension of </a:t>
            </a:r>
            <a:r>
              <a:rPr lang="en-US" sz="1800" b="0" i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crisp set</a:t>
            </a:r>
            <a:r>
              <a:rPr lang="en-US" sz="1800" b="0" i="0" dirty="0">
                <a:effectLst/>
              </a:rPr>
              <a:t>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Fuzzy logic deals with the range, rather than individual elements, so its easy-to-handle vague information.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Fuzzy logic allows decision making with estimated values under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incomplete or uncertain information</a:t>
            </a:r>
            <a:r>
              <a:rPr lang="en-US" sz="1800" b="0" i="0" dirty="0">
                <a:effectLst/>
              </a:rPr>
              <a:t>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Convenient way to express expert and common-sense knowledge based on linguistic terms.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IN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IN" sz="1800" dirty="0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47C91522-D484-1BA2-8384-A5CBD465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What is Fuzzy Set?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92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</a:t>
            </a:fld>
            <a:endParaRPr lang="en-IN" sz="1058" spc="-1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BA27F-75A4-2110-9945-86D7A2B8B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540" y="783074"/>
            <a:ext cx="2040089" cy="2602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55FF97-67D3-1C67-4684-755CEC1D2225}"/>
              </a:ext>
            </a:extLst>
          </p:cNvPr>
          <p:cNvSpPr txBox="1"/>
          <p:nvPr/>
        </p:nvSpPr>
        <p:spPr>
          <a:xfrm>
            <a:off x="388880" y="643289"/>
            <a:ext cx="72998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1" i="0" dirty="0" err="1">
                <a:solidFill>
                  <a:srgbClr val="0070C0"/>
                </a:solidFill>
                <a:effectLst/>
              </a:rPr>
              <a:t>Lofti</a:t>
            </a:r>
            <a:r>
              <a:rPr lang="en-US" sz="1800" b="1" i="0" dirty="0">
                <a:solidFill>
                  <a:srgbClr val="0070C0"/>
                </a:solidFill>
                <a:effectLst/>
              </a:rPr>
              <a:t> Zadeh </a:t>
            </a:r>
            <a:r>
              <a:rPr lang="en-US" sz="1800" b="0" i="0" dirty="0">
                <a:effectLst/>
              </a:rPr>
              <a:t>introduced the notion of an infinite-valued logic in his seminal work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”Fuzzy Sets”. 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He described the mathematics of fuzzy set theory, and by extension fuzzy logic. 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He is being referred as the </a:t>
            </a:r>
            <a:r>
              <a:rPr lang="en-US" sz="1800" b="1" i="0" dirty="0">
                <a:solidFill>
                  <a:srgbClr val="0070C0"/>
                </a:solidFill>
                <a:effectLst/>
              </a:rPr>
              <a:t>father of fuzzy logic</a:t>
            </a:r>
            <a:r>
              <a:rPr lang="en-US" sz="1800" b="0" i="0" dirty="0">
                <a:effectLst/>
              </a:rPr>
              <a:t>. 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b="0" i="0" dirty="0">
              <a:effectLst/>
            </a:endParaRP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dirty="0"/>
              <a:t>P</a:t>
            </a:r>
            <a:r>
              <a:rPr lang="en-US" sz="1800" b="0" i="0" dirty="0">
                <a:effectLst/>
              </a:rPr>
              <a:t>roposed systematic way of modeling imprecision of the data using fuzzy sets. 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Also proposed strong mathematical background to support his claim.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33E1A-B06E-BE98-43A8-AD97859ACA6B}"/>
              </a:ext>
            </a:extLst>
          </p:cNvPr>
          <p:cNvSpPr txBox="1"/>
          <p:nvPr/>
        </p:nvSpPr>
        <p:spPr>
          <a:xfrm>
            <a:off x="8262846" y="3385104"/>
            <a:ext cx="1466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0070C0"/>
                </a:solidFill>
                <a:effectLst/>
              </a:rPr>
              <a:t>1921-2017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32A0F-9118-58A3-C4DA-B6745C057222}"/>
              </a:ext>
            </a:extLst>
          </p:cNvPr>
          <p:cNvSpPr txBox="1"/>
          <p:nvPr/>
        </p:nvSpPr>
        <p:spPr>
          <a:xfrm>
            <a:off x="3462199" y="-48"/>
            <a:ext cx="29835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What is Fuzzy Set?</a:t>
            </a:r>
          </a:p>
        </p:txBody>
      </p:sp>
      <p:sp>
        <p:nvSpPr>
          <p:cNvPr id="16" name="Date Placeholder 2">
            <a:extLst>
              <a:ext uri="{FF2B5EF4-FFF2-40B4-BE49-F238E27FC236}">
                <a16:creationId xmlns:a16="http://schemas.microsoft.com/office/drawing/2014/main" id="{0CEBB593-D6B6-EBD1-F297-53263D4C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What is Fuzzy Set?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95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9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5D2B29-29AF-D5CA-353C-799B018FBCE6}"/>
                  </a:ext>
                </a:extLst>
              </p:cNvPr>
              <p:cNvSpPr txBox="1"/>
              <p:nvPr/>
            </p:nvSpPr>
            <p:spPr>
              <a:xfrm>
                <a:off x="284315" y="403111"/>
                <a:ext cx="9351657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To distinguish fuzzy set from the crisp set,</a:t>
                </a:r>
              </a:p>
              <a:p>
                <a:pPr>
                  <a:buClr>
                    <a:srgbClr val="0070C0"/>
                  </a:buClr>
                </a:pPr>
                <a:r>
                  <a:rPr lang="en-US" sz="1800" dirty="0">
                    <a:solidFill>
                      <a:schemeClr val="tx1"/>
                    </a:solidFill>
                  </a:rPr>
                  <a:t>	</a:t>
                </a:r>
              </a:p>
              <a:p>
                <a:pPr algn="l" fontAlgn="base">
                  <a:buClr>
                    <a:srgbClr val="0070C0"/>
                  </a:buClr>
                </a:pPr>
                <a:r>
                  <a:rPr lang="en-US" sz="1800" dirty="0">
                    <a:solidFill>
                      <a:schemeClr val="tx1"/>
                    </a:solidFill>
                  </a:rPr>
                  <a:t>	</a:t>
                </a:r>
                <a:r>
                  <a:rPr lang="en-US" sz="1800" i="1" dirty="0">
                    <a:solidFill>
                      <a:srgbClr val="00B050"/>
                    </a:solidFill>
                    <a:effectLst/>
                  </a:rPr>
                  <a:t>A</a:t>
                </a:r>
                <a:r>
                  <a:rPr lang="en-US" sz="1800" i="0" dirty="0">
                    <a:solidFill>
                      <a:schemeClr val="tx1"/>
                    </a:solidFill>
                    <a:effectLst/>
                  </a:rPr>
                  <a:t> : Crisp set</a:t>
                </a:r>
              </a:p>
              <a:p>
                <a:pPr algn="l" fontAlgn="base">
                  <a:buClr>
                    <a:srgbClr val="0070C0"/>
                  </a:buClr>
                </a:pPr>
                <a:r>
                  <a:rPr lang="en-US" sz="1800" dirty="0">
                    <a:solidFill>
                      <a:schemeClr val="tx1"/>
                    </a:solidFill>
                  </a:rPr>
                  <a:t>	</a:t>
                </a:r>
                <a:r>
                  <a:rPr lang="en-US" sz="1800" b="1" i="1" u="sng" dirty="0">
                    <a:solidFill>
                      <a:srgbClr val="FF0000"/>
                    </a:solidFill>
                    <a:effectLst/>
                  </a:rPr>
                  <a:t>A</a:t>
                </a:r>
                <a:r>
                  <a:rPr lang="en-US" sz="1800" i="0" dirty="0">
                    <a:solidFill>
                      <a:schemeClr val="tx1"/>
                    </a:solidFill>
                    <a:effectLst/>
                  </a:rPr>
                  <a:t> : Fuzzy set</a:t>
                </a: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>
                  <a:solidFill>
                    <a:schemeClr val="tx1"/>
                  </a:solidFill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Membership value of element in crisp set is defined by the </a:t>
                </a:r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characteristic function χ (chi)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IN" sz="1800" i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IN" sz="18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i="0" dirty="0">
                  <a:solidFill>
                    <a:schemeClr val="tx1"/>
                  </a:solidFill>
                  <a:effectLst/>
                </a:endParaRPr>
              </a:p>
              <a:p>
                <a:pPr marL="285750" indent="-285750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Membership value of elements in fuzzy set is defined by the </a:t>
                </a: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membership function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 (mu)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(i.e.,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)</a:t>
                </a:r>
                <a:endParaRPr lang="en-IN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5D2B29-29AF-D5CA-353C-799B018FB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15" y="403111"/>
                <a:ext cx="9351657" cy="2862322"/>
              </a:xfrm>
              <a:prstGeom prst="rect">
                <a:avLst/>
              </a:prstGeom>
              <a:blipFill>
                <a:blip r:embed="rId3"/>
                <a:stretch>
                  <a:fillRect l="-522" t="-1064" r="-782" b="-23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6FE05EF-7FBE-0981-6E41-037A8BD1B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669" y="3001616"/>
            <a:ext cx="4294907" cy="23562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4708EE-9C41-45ED-4DB2-1D560893E6E4}"/>
                  </a:ext>
                </a:extLst>
              </p:cNvPr>
              <p:cNvSpPr txBox="1"/>
              <p:nvPr/>
            </p:nvSpPr>
            <p:spPr>
              <a:xfrm>
                <a:off x="284315" y="3461705"/>
                <a:ext cx="5500259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The </a:t>
                </a: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support</a:t>
                </a:r>
                <a:r>
                  <a:rPr lang="en-US" sz="1800" b="1" i="0" dirty="0">
                    <a:solidFill>
                      <a:schemeClr val="tx1"/>
                    </a:solidFill>
                    <a:effectLst/>
                  </a:rPr>
                  <a:t> 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of a fuzzy set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 is given as: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i="1" dirty="0" smtClean="0">
                        <a:solidFill>
                          <a:srgbClr val="0070C0"/>
                        </a:solidFill>
                      </a:rPr>
                      <m:t>Support</m:t>
                    </m:r>
                    <m:r>
                      <m:rPr>
                        <m:nor/>
                      </m:rPr>
                      <a:rPr lang="en-IN" sz="1800" i="1" dirty="0" smtClean="0">
                        <a:solidFill>
                          <a:srgbClr val="0070C0"/>
                        </a:solidFill>
                      </a:rPr>
                      <m:t>( </m:t>
                    </m:r>
                    <m:r>
                      <m:rPr>
                        <m:nor/>
                      </m:rPr>
                      <a:rPr lang="en-IN" sz="1800" i="1" u="sng" dirty="0" smtClean="0">
                        <a:solidFill>
                          <a:srgbClr val="0070C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IN" sz="1800" i="1" dirty="0" smtClean="0">
                        <a:solidFill>
                          <a:srgbClr val="0070C0"/>
                        </a:solidFill>
                      </a:rPr>
                      <m:t> )</m:t>
                    </m:r>
                    <m:r>
                      <a:rPr lang="en-IN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&gt;0,</m:t>
                        </m:r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IN" sz="1800" dirty="0"/>
              </a:p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The </a:t>
                </a: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core</a:t>
                </a:r>
                <a:r>
                  <a:rPr lang="en-US" sz="1800" b="1" i="0" dirty="0">
                    <a:solidFill>
                      <a:schemeClr val="tx1"/>
                    </a:solidFill>
                    <a:effectLst/>
                  </a:rPr>
                  <a:t> 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of a fuzzy set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 is given as: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i="1" dirty="0" smtClean="0">
                        <a:solidFill>
                          <a:srgbClr val="0070C0"/>
                        </a:solidFill>
                      </a:rPr>
                      <m:t>C</m:t>
                    </m:r>
                    <m:r>
                      <m:rPr>
                        <m:nor/>
                      </m:rPr>
                      <a:rPr lang="en-IN" sz="1800" b="0" i="1" dirty="0" smtClean="0">
                        <a:solidFill>
                          <a:srgbClr val="0070C0"/>
                        </a:solidFill>
                      </a:rPr>
                      <m:t>ore</m:t>
                    </m:r>
                    <m:r>
                      <m:rPr>
                        <m:nor/>
                      </m:rPr>
                      <a:rPr lang="en-IN" sz="1800" i="1" dirty="0" smtClean="0">
                        <a:solidFill>
                          <a:srgbClr val="0070C0"/>
                        </a:solidFill>
                      </a:rPr>
                      <m:t>( </m:t>
                    </m:r>
                    <m:r>
                      <m:rPr>
                        <m:nor/>
                      </m:rPr>
                      <a:rPr lang="en-IN" sz="1800" i="1" u="sng" dirty="0" smtClean="0">
                        <a:solidFill>
                          <a:srgbClr val="0070C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IN" sz="1800" i="1" dirty="0" smtClean="0">
                        <a:solidFill>
                          <a:srgbClr val="0070C0"/>
                        </a:solidFill>
                      </a:rPr>
                      <m:t> )</m:t>
                    </m:r>
                    <m:r>
                      <a:rPr lang="en-IN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18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4708EE-9C41-45ED-4DB2-1D560893E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15" y="3461705"/>
                <a:ext cx="5500259" cy="1477328"/>
              </a:xfrm>
              <a:prstGeom prst="rect">
                <a:avLst/>
              </a:prstGeom>
              <a:blipFill>
                <a:blip r:embed="rId5"/>
                <a:stretch>
                  <a:fillRect l="-887" t="-11570" b="-458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8A63254-50AF-39CB-5741-B0CEA2BCB978}"/>
              </a:ext>
            </a:extLst>
          </p:cNvPr>
          <p:cNvSpPr txBox="1"/>
          <p:nvPr/>
        </p:nvSpPr>
        <p:spPr>
          <a:xfrm>
            <a:off x="7446785" y="338429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Core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9F4323-2F92-C45D-EE58-1680E289E614}"/>
              </a:ext>
            </a:extLst>
          </p:cNvPr>
          <p:cNvCxnSpPr>
            <a:cxnSpLocks/>
          </p:cNvCxnSpPr>
          <p:nvPr/>
        </p:nvCxnSpPr>
        <p:spPr>
          <a:xfrm>
            <a:off x="8128061" y="3568963"/>
            <a:ext cx="515051" cy="11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E10EAA-313E-4F6D-086C-78C29584FF9D}"/>
              </a:ext>
            </a:extLst>
          </p:cNvPr>
          <p:cNvCxnSpPr>
            <a:cxnSpLocks/>
          </p:cNvCxnSpPr>
          <p:nvPr/>
        </p:nvCxnSpPr>
        <p:spPr>
          <a:xfrm flipH="1">
            <a:off x="7016330" y="3568963"/>
            <a:ext cx="420516" cy="11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71AC32-6969-FBEF-9B94-44DC31942EA8}"/>
              </a:ext>
            </a:extLst>
          </p:cNvPr>
          <p:cNvSpPr txBox="1"/>
          <p:nvPr/>
        </p:nvSpPr>
        <p:spPr>
          <a:xfrm>
            <a:off x="2908168" y="-48845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Terminology of Fuzzy Sets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B80ECE6E-97FC-4CB0-CF9B-4FD6D524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36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10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6AE49F3-813A-7B99-A270-7324300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B99CB-8168-0575-88A8-DD71AC0609A3}"/>
              </a:ext>
            </a:extLst>
          </p:cNvPr>
          <p:cNvSpPr txBox="1"/>
          <p:nvPr/>
        </p:nvSpPr>
        <p:spPr>
          <a:xfrm>
            <a:off x="302705" y="557247"/>
            <a:ext cx="94794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i="0" dirty="0">
                <a:effectLst/>
              </a:rPr>
              <a:t>The</a:t>
            </a:r>
            <a:r>
              <a:rPr lang="en-US" sz="1800" b="1" i="0" dirty="0">
                <a:effectLst/>
              </a:rPr>
              <a:t> </a:t>
            </a:r>
            <a:r>
              <a:rPr lang="en-US" sz="1800" b="1" i="0" dirty="0">
                <a:solidFill>
                  <a:srgbClr val="C00000"/>
                </a:solidFill>
                <a:effectLst/>
              </a:rPr>
              <a:t>Height of Fuzzy Set</a:t>
            </a:r>
            <a:r>
              <a:rPr lang="en-US" sz="1800" b="0" i="0" dirty="0">
                <a:effectLst/>
              </a:rPr>
              <a:t> is defined as the largest membership value of the elements contained in that set.</a:t>
            </a:r>
          </a:p>
          <a:p>
            <a:pPr algn="just">
              <a:buClr>
                <a:srgbClr val="0070C0"/>
              </a:buClr>
            </a:pPr>
            <a:endParaRPr lang="en-US" sz="1800" b="0" i="0" dirty="0">
              <a:effectLst/>
            </a:endParaRP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It may not be 1 always. If core of fuzzy set is non-empty, then height of fuzzy set is 1.</a:t>
            </a:r>
            <a:endParaRPr lang="en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15834-86CE-25AC-E234-F1C4409AB497}"/>
              </a:ext>
            </a:extLst>
          </p:cNvPr>
          <p:cNvSpPr txBox="1"/>
          <p:nvPr/>
        </p:nvSpPr>
        <p:spPr>
          <a:xfrm>
            <a:off x="2908168" y="-48845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Terminology of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7544F9-4D49-CFBA-174D-489BE2F6A1F0}"/>
                  </a:ext>
                </a:extLst>
              </p:cNvPr>
              <p:cNvSpPr txBox="1"/>
              <p:nvPr/>
            </p:nvSpPr>
            <p:spPr>
              <a:xfrm>
                <a:off x="302705" y="2394308"/>
                <a:ext cx="535266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Boundary of Fuzzy Set </a:t>
                </a:r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 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comprises those elements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of the universe such that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 &lt;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&lt; 1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just" fontAlgn="base">
                  <a:buClr>
                    <a:srgbClr val="0070C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𝐵𝑜𝑢𝑛𝑑𝑎𝑟𝑦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sz="18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{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 0 &lt;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&lt; 1 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We can treat boundary as the difference of support and core.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7544F9-4D49-CFBA-174D-489BE2F6A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5" y="2394308"/>
                <a:ext cx="5352660" cy="2308324"/>
              </a:xfrm>
              <a:prstGeom prst="rect">
                <a:avLst/>
              </a:prstGeom>
              <a:blipFill>
                <a:blip r:embed="rId3"/>
                <a:stretch>
                  <a:fillRect l="-911" t="-1587" r="-911" b="-3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8A3847F-3946-A086-C19C-079CB8CC5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365" y="2173678"/>
            <a:ext cx="4243596" cy="282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3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11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6AE49F3-813A-7B99-A270-7324300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4F24F-1EA5-1345-822B-2F26833EB98E}"/>
              </a:ext>
            </a:extLst>
          </p:cNvPr>
          <p:cNvSpPr txBox="1"/>
          <p:nvPr/>
        </p:nvSpPr>
        <p:spPr>
          <a:xfrm>
            <a:off x="2908168" y="-48845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Terminology of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4F41D-1934-41C1-4A73-8A7AF50C4462}"/>
                  </a:ext>
                </a:extLst>
              </p:cNvPr>
              <p:cNvSpPr txBox="1"/>
              <p:nvPr/>
            </p:nvSpPr>
            <p:spPr>
              <a:xfrm>
                <a:off x="269965" y="509133"/>
                <a:ext cx="8754766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A fuzzy set </a:t>
                </a:r>
                <a:r>
                  <a:rPr lang="en-US" sz="1800" b="0" i="0" u="sng" dirty="0">
                    <a:effectLst/>
                  </a:rPr>
                  <a:t>A</a:t>
                </a:r>
                <a:r>
                  <a:rPr lang="en-US" sz="1800" b="0" i="0" dirty="0">
                    <a:effectLst/>
                  </a:rPr>
                  <a:t> is </a:t>
                </a: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normal</a:t>
                </a:r>
                <a:r>
                  <a:rPr lang="en-US" sz="1800" b="0" i="0" dirty="0">
                    <a:effectLst/>
                  </a:rPr>
                  <a:t> if its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core is non-empty</a:t>
                </a:r>
                <a:r>
                  <a:rPr lang="en-US" sz="1800" b="0" i="0" dirty="0">
                    <a:effectLst/>
                  </a:rPr>
                  <a:t>.</a:t>
                </a:r>
              </a:p>
              <a:p>
                <a:pPr algn="just" fontAlgn="base">
                  <a:buClr>
                    <a:srgbClr val="0070C0"/>
                  </a:buClr>
                </a:pPr>
                <a:r>
                  <a:rPr lang="en-US" sz="1800" b="0" i="0" dirty="0">
                    <a:effectLst/>
                  </a:rPr>
                  <a:t>In other words, fuzzy set is normal if its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height is 1</a:t>
                </a:r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For a </a:t>
                </a: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sub-normal fuzzy set</a:t>
                </a:r>
                <a:r>
                  <a:rPr lang="en-US" sz="1800" b="0" i="0" dirty="0">
                    <a:effectLst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 &lt;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b="0" i="0" dirty="0">
                    <a:effectLst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</a:t>
                </a:r>
                <a:r>
                  <a:rPr lang="en-US" sz="1800" b="0" i="0" dirty="0">
                    <a:effectLst/>
                  </a:rPr>
                  <a:t>represents the height of fuzzy set or highest membership value in the fuzzy set.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4F41D-1934-41C1-4A73-8A7AF50C4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65" y="509133"/>
                <a:ext cx="8754766" cy="1511119"/>
              </a:xfrm>
              <a:prstGeom prst="rect">
                <a:avLst/>
              </a:prstGeom>
              <a:blipFill>
                <a:blip r:embed="rId3"/>
                <a:stretch>
                  <a:fillRect l="-557" t="-2429" r="-627" b="-3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190073-DD5B-D232-AC48-CD94E8BA3AA0}"/>
                  </a:ext>
                </a:extLst>
              </p:cNvPr>
              <p:cNvSpPr txBox="1"/>
              <p:nvPr/>
            </p:nvSpPr>
            <p:spPr>
              <a:xfrm>
                <a:off x="250088" y="2707317"/>
                <a:ext cx="5087226" cy="1234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Crossover points</a:t>
                </a:r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 </a:t>
                </a:r>
                <a:r>
                  <a:rPr lang="en-US" sz="1800" b="0" i="0" dirty="0">
                    <a:effectLst/>
                  </a:rPr>
                  <a:t>of a fuzzy set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 is a point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at which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b="0" i="0" dirty="0">
                    <a:effectLst/>
                  </a:rPr>
                  <a:t>.</a:t>
                </a:r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effectLst/>
                </a:endParaRPr>
              </a:p>
              <a:p>
                <a:pPr algn="just" fontAlgn="base">
                  <a:buClr>
                    <a:srgbClr val="0070C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𝐶𝑟𝑜𝑠𝑠𝑜𝑣𝑒𝑟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sz="18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{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190073-DD5B-D232-AC48-CD94E8BA3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88" y="2707317"/>
                <a:ext cx="5087226" cy="1234120"/>
              </a:xfrm>
              <a:prstGeom prst="rect">
                <a:avLst/>
              </a:prstGeom>
              <a:blipFill>
                <a:blip r:embed="rId4"/>
                <a:stretch>
                  <a:fillRect l="-958" t="-2463" r="-958" b="-59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247FCF2B-68EC-2914-5B79-D0204A287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734" y="2209118"/>
            <a:ext cx="4578981" cy="295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7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12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6AE49F3-813A-7B99-A270-7324300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6471B-244F-6A6F-5623-815C73259810}"/>
              </a:ext>
            </a:extLst>
          </p:cNvPr>
          <p:cNvSpPr txBox="1"/>
          <p:nvPr/>
        </p:nvSpPr>
        <p:spPr>
          <a:xfrm>
            <a:off x="2908168" y="-48845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Terminology of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3B65F0-9FA3-D800-0D6D-01D1ACCD4851}"/>
                  </a:ext>
                </a:extLst>
              </p:cNvPr>
              <p:cNvSpPr txBox="1"/>
              <p:nvPr/>
            </p:nvSpPr>
            <p:spPr>
              <a:xfrm>
                <a:off x="295580" y="525523"/>
                <a:ext cx="5187254" cy="2065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For a fuzzy set, the </a:t>
                </a: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bandwidth (or width)</a:t>
                </a:r>
                <a:r>
                  <a:rPr lang="en-US" sz="1800" b="0" i="0" dirty="0">
                    <a:effectLst/>
                  </a:rPr>
                  <a:t> is defined as the distance between the two unique crossover points.</a:t>
                </a:r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effectLst/>
                </a:endParaRPr>
              </a:p>
              <a:p>
                <a:pPr algn="just" fontAlgn="base">
                  <a:buClr>
                    <a:srgbClr val="0070C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𝐵𝑎𝑛𝑑𝑤𝑖𝑑𝑡h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sz="18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|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just" fontAlgn="base">
                  <a:buClr>
                    <a:srgbClr val="0070C0"/>
                  </a:buClr>
                </a:pPr>
                <a:r>
                  <a:rPr lang="en-US" sz="1800" b="0" i="0" dirty="0">
                    <a:effectLst/>
                  </a:rPr>
                  <a:t>	Where,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0.5</m:t>
                    </m:r>
                  </m:oMath>
                </a14:m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3B65F0-9FA3-D800-0D6D-01D1ACCD4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80" y="525523"/>
                <a:ext cx="5187254" cy="2065117"/>
              </a:xfrm>
              <a:prstGeom prst="rect">
                <a:avLst/>
              </a:prstGeom>
              <a:blipFill>
                <a:blip r:embed="rId3"/>
                <a:stretch>
                  <a:fillRect l="-940" t="-1475" r="-1058" b="-3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76C18C3-4925-54DF-C0BE-879B8FD9F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310" y="564856"/>
            <a:ext cx="4407648" cy="23771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D7952D-F215-8839-A2BF-FC69FC0E7699}"/>
                  </a:ext>
                </a:extLst>
              </p:cNvPr>
              <p:cNvSpPr txBox="1"/>
              <p:nvPr/>
            </p:nvSpPr>
            <p:spPr>
              <a:xfrm>
                <a:off x="295580" y="2941984"/>
                <a:ext cx="5922749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A fuzzy set whose core is single point in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1</m:t>
                    </m:r>
                  </m:oMath>
                </a14:m>
                <a:r>
                  <a:rPr lang="en-US" sz="1800" b="0" i="0" dirty="0">
                    <a:effectLst/>
                  </a:rPr>
                  <a:t> is called a </a:t>
                </a: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fuzzy singleton</a:t>
                </a:r>
                <a:r>
                  <a:rPr lang="en-US" sz="1800" b="0" i="0" dirty="0">
                    <a:effectLst/>
                  </a:rPr>
                  <a:t>. </a:t>
                </a:r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just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In other words, if fuzzy set is having only one element with membership value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b="0" i="0" dirty="0">
                    <a:effectLst/>
                  </a:rPr>
                  <a:t>, then it is called fuzzy singleton.</a:t>
                </a:r>
              </a:p>
              <a:p>
                <a:pPr algn="just" fontAlgn="base">
                  <a:buClr>
                    <a:srgbClr val="0070C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 = {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1 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D7952D-F215-8839-A2BF-FC69FC0E7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80" y="2941984"/>
                <a:ext cx="5922749" cy="2031325"/>
              </a:xfrm>
              <a:prstGeom prst="rect">
                <a:avLst/>
              </a:prstGeom>
              <a:blipFill>
                <a:blip r:embed="rId5"/>
                <a:stretch>
                  <a:fillRect l="-823" t="-1802" r="-823" b="-21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A326BB1C-3BA2-E4A1-B558-1BA79DE1D4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04" y="2986756"/>
            <a:ext cx="3266477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13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6AE49F3-813A-7B99-A270-7324300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69FCF0-F134-8B4A-393C-40A1084B3EE6}"/>
                  </a:ext>
                </a:extLst>
              </p:cNvPr>
              <p:cNvSpPr txBox="1"/>
              <p:nvPr/>
            </p:nvSpPr>
            <p:spPr>
              <a:xfrm>
                <a:off x="344899" y="445814"/>
                <a:ext cx="5802121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The 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18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cut </a:t>
                </a:r>
                <a:r>
                  <a:rPr lang="en-US" sz="1800" b="0" i="0" dirty="0">
                    <a:effectLst/>
                  </a:rPr>
                  <a:t>of a fuzzy set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 is a crisp set defined by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≥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}.</m:t>
                    </m:r>
                  </m:oMath>
                </a14:m>
                <a:endParaRPr lang="en-US" sz="1800" b="0" i="0" dirty="0">
                  <a:effectLst/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effectLst/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Strong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18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cut </a:t>
                </a:r>
                <a:r>
                  <a:rPr lang="en-US" sz="1800" b="0" i="0" dirty="0">
                    <a:effectLst/>
                  </a:rPr>
                  <a:t>of a fuzzy set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 is a crisp set 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p>
                          <m:sSupPr>
                            <m:ctrlPr>
                              <a:rPr lang="en-US" sz="1800" b="0" i="1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sz="1800" b="0" i="1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 {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&gt;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}.</m:t>
                    </m:r>
                  </m:oMath>
                </a14:m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69FCF0-F134-8B4A-393C-40A1084B3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99" y="445814"/>
                <a:ext cx="5802121" cy="1511119"/>
              </a:xfrm>
              <a:prstGeom prst="rect">
                <a:avLst/>
              </a:prstGeom>
              <a:blipFill>
                <a:blip r:embed="rId3"/>
                <a:stretch>
                  <a:fillRect l="-841" t="-2016" r="-2313" b="-36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7DA0392-7203-B875-CEC1-4DC3122E245A}"/>
              </a:ext>
            </a:extLst>
          </p:cNvPr>
          <p:cNvSpPr txBox="1"/>
          <p:nvPr/>
        </p:nvSpPr>
        <p:spPr>
          <a:xfrm>
            <a:off x="2908168" y="-48845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Terminology of Fuzzy 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8D144F-739C-8D21-751C-D12CCB338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021" y="426474"/>
            <a:ext cx="3733800" cy="2131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815970-6E3D-DB0F-F7FC-9B5C9EE233A7}"/>
                  </a:ext>
                </a:extLst>
              </p:cNvPr>
              <p:cNvSpPr txBox="1"/>
              <p:nvPr/>
            </p:nvSpPr>
            <p:spPr>
              <a:xfrm>
                <a:off x="3662878" y="2726181"/>
                <a:ext cx="6257410" cy="2609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contains all the elements from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b="0" i="0" dirty="0">
                    <a:effectLst/>
                  </a:rPr>
                  <a:t> 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i="0" dirty="0">
                    <a:effectLst/>
                  </a:rPr>
                  <a:t>, including both end values.</a:t>
                </a: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effectLst/>
                </a:endParaRPr>
              </a:p>
              <a:p>
                <a:pPr marL="285750" indent="-285750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1800" b="0" i="0" dirty="0">
                    <a:effectLst/>
                  </a:rPr>
                  <a:t> contains all the elements from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b="0" i="0" dirty="0">
                    <a:effectLst/>
                  </a:rPr>
                  <a:t> 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b="0" i="0" dirty="0">
                    <a:effectLst/>
                  </a:rPr>
                  <a:t>, including both end values.</a:t>
                </a:r>
              </a:p>
              <a:p>
                <a:pPr marL="285750" indent="-285750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The set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</a:t>
                </a:r>
                <a:r>
                  <a:rPr lang="en-US" sz="1800" b="0" i="0" dirty="0">
                    <a:effectLst/>
                  </a:rPr>
                  <a:t>contains all the elements from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800" b="0" i="0" dirty="0">
                    <a:effectLst/>
                  </a:rPr>
                  <a:t> 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b="0" i="0" dirty="0">
                    <a:effectLst/>
                  </a:rPr>
                  <a:t>, including both end values.</a:t>
                </a:r>
              </a:p>
              <a:p>
                <a:pPr marL="285750" indent="-285750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For different values of</a:t>
                </a:r>
                <a14:m>
                  <m:oMath xmlns:m="http://schemas.openxmlformats.org/officeDocument/2006/math">
                    <m:r>
                      <a:rPr lang="en-IN" sz="1800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b="0" i="0" dirty="0">
                    <a:effectLst/>
                  </a:rPr>
                  <a:t>, we get different crisp sets. If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8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815970-6E3D-DB0F-F7FC-9B5C9EE23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878" y="2726181"/>
                <a:ext cx="6257410" cy="2609112"/>
              </a:xfrm>
              <a:prstGeom prst="rect">
                <a:avLst/>
              </a:prstGeom>
              <a:blipFill>
                <a:blip r:embed="rId5"/>
                <a:stretch>
                  <a:fillRect l="-780" t="-1168" r="-390" b="-2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911A9D2-19CB-7225-25B2-627EBCE82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82" y="2175395"/>
            <a:ext cx="3436913" cy="317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3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14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6AE49F3-813A-7B99-A270-7324300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9CA460-41E6-ACAB-3FFA-FC980FE2B846}"/>
                  </a:ext>
                </a:extLst>
              </p:cNvPr>
              <p:cNvSpPr txBox="1"/>
              <p:nvPr/>
            </p:nvSpPr>
            <p:spPr>
              <a:xfrm>
                <a:off x="338618" y="560464"/>
                <a:ext cx="6293957" cy="2065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Scalar cardinality </a:t>
                </a:r>
                <a:r>
                  <a:rPr lang="en-US" sz="1800" b="0" i="0" dirty="0">
                    <a:effectLst/>
                  </a:rPr>
                  <a:t>is defined by the summation of membership values of all elements in the set. 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lvl="1" fontAlgn="base"/>
                <a:r>
                  <a:rPr lang="en-US" sz="1800" b="0" i="0" dirty="0">
                    <a:effectLst/>
                  </a:rPr>
                  <a:t>For the data given in the table,</a:t>
                </a:r>
              </a:p>
              <a:p>
                <a:pPr lvl="1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sz="18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 = 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0" dirty="0" err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sz="1800" b="0" i="0" dirty="0" err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0" dirty="0" err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1800" b="0" i="0" dirty="0" err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{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lvl="1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𝑆𝑒𝑛𝑖𝑜𝑟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 = 0.3 + 0.9 + 1 + 1 = 3.2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9CA460-41E6-ACAB-3FFA-FC980FE2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18" y="560464"/>
                <a:ext cx="6293957" cy="2065117"/>
              </a:xfrm>
              <a:prstGeom prst="rect">
                <a:avLst/>
              </a:prstGeom>
              <a:blipFill>
                <a:blip r:embed="rId3"/>
                <a:stretch>
                  <a:fillRect l="-775" t="-1770" r="-1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DF94C85-685C-61B6-3DF1-DE717258A5C5}"/>
              </a:ext>
            </a:extLst>
          </p:cNvPr>
          <p:cNvSpPr txBox="1"/>
          <p:nvPr/>
        </p:nvSpPr>
        <p:spPr>
          <a:xfrm>
            <a:off x="2908168" y="-48845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Terminology of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03453F-C9A1-E526-68B4-91A4B04DDF5F}"/>
                  </a:ext>
                </a:extLst>
              </p:cNvPr>
              <p:cNvSpPr txBox="1"/>
              <p:nvPr/>
            </p:nvSpPr>
            <p:spPr>
              <a:xfrm>
                <a:off x="338618" y="3041895"/>
                <a:ext cx="6051839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IN" sz="1800" b="1" i="0" dirty="0">
                    <a:solidFill>
                      <a:srgbClr val="C00000"/>
                    </a:solidFill>
                    <a:effectLst/>
                  </a:rPr>
                  <a:t>Relative cardinality </a:t>
                </a:r>
                <a:r>
                  <a:rPr lang="en-IN" sz="1800" i="0" dirty="0">
                    <a:effectLst/>
                  </a:rPr>
                  <a:t>is given as, </a:t>
                </a:r>
              </a:p>
              <a:p>
                <a:pPr lvl="1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|| </m:t>
                      </m:r>
                      <m:r>
                        <a:rPr lang="en-IN" sz="18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|| = | </m:t>
                      </m:r>
                      <m:r>
                        <a:rPr lang="en-IN" sz="18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 / |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  <a:p>
                <a:pPr lvl="1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|| 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𝑆𝑒𝑛𝑖𝑜𝑟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|| = 3.2 / 9 = 0.356</m:t>
                      </m:r>
                    </m:oMath>
                  </m:oMathPara>
                </a14:m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IN" sz="1800" b="0" i="0" dirty="0">
                  <a:effectLst/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IN" sz="1800" b="1" i="0" dirty="0">
                    <a:solidFill>
                      <a:srgbClr val="C00000"/>
                    </a:solidFill>
                    <a:effectLst/>
                  </a:rPr>
                  <a:t>Fuzzy cardinality </a:t>
                </a:r>
                <a:r>
                  <a:rPr lang="en-IN" sz="1800" i="0" dirty="0">
                    <a:effectLst/>
                  </a:rPr>
                  <a:t>is given as, </a:t>
                </a:r>
              </a:p>
              <a:p>
                <a:pPr lvl="1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IN" sz="18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</m:t>
                      </m:r>
                      <m:d>
                        <m:dPr>
                          <m:ctrlPr>
                            <a:rPr lang="en-IN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sz="1800" b="0" i="1" dirty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800" b="0" i="1" dirty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dirty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sz="1800" b="0" i="1" dirty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800" b="0" i="1" dirty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800" b="0" i="1" dirty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  <a:p>
                <a:pPr lvl="1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𝑆𝑒𝑛𝑖𝑜𝑟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(4, 0.3), (3, 0.9), (2, 1.0) }</m:t>
                      </m:r>
                    </m:oMath>
                  </m:oMathPara>
                </a14:m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03453F-C9A1-E526-68B4-91A4B04DD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18" y="3041895"/>
                <a:ext cx="6051839" cy="2031325"/>
              </a:xfrm>
              <a:prstGeom prst="rect">
                <a:avLst/>
              </a:prstGeom>
              <a:blipFill>
                <a:blip r:embed="rId4"/>
                <a:stretch>
                  <a:fillRect l="-806" t="-1802" b="-21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5C10159-9CA5-0603-C8B0-401B4DEBC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958" y="670066"/>
            <a:ext cx="3198967" cy="3114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A7E81C-8340-1FB4-F2FF-D11C12E1DE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809" y="3841758"/>
            <a:ext cx="2365861" cy="14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8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15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6AE49F3-813A-7B99-A270-7324300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ABA975-5FB0-045C-78D2-8EC160250943}"/>
                  </a:ext>
                </a:extLst>
              </p:cNvPr>
              <p:cNvSpPr txBox="1"/>
              <p:nvPr/>
            </p:nvSpPr>
            <p:spPr>
              <a:xfrm>
                <a:off x="372717" y="670066"/>
                <a:ext cx="9132645" cy="1234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1. Let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 = {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) }</m:t>
                    </m:r>
                  </m:oMath>
                </a14:m>
                <a:endParaRPr lang="en-US" sz="1800" b="0" i="0" dirty="0">
                  <a:solidFill>
                    <a:srgbClr val="C00000"/>
                  </a:solidFill>
                  <a:effectLst/>
                </a:endParaRPr>
              </a:p>
              <a:p>
                <a:pPr algn="just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Find support, core, crossover points, alpha cut and strong alpha cut for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, boundary, bandwidth, normality, scalar and relative cardinality of given fuzzy set.</a:t>
                </a:r>
                <a:endParaRPr lang="en-IN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ABA975-5FB0-045C-78D2-8EC160250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17" y="670066"/>
                <a:ext cx="9132645" cy="1234120"/>
              </a:xfrm>
              <a:prstGeom prst="rect">
                <a:avLst/>
              </a:prstGeom>
              <a:blipFill>
                <a:blip r:embed="rId3"/>
                <a:stretch>
                  <a:fillRect l="-534" t="-2970" r="-601" b="-4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30860C1-4CAF-F429-8BCD-3848245FBAE2}"/>
              </a:ext>
            </a:extLst>
          </p:cNvPr>
          <p:cNvSpPr txBox="1"/>
          <p:nvPr/>
        </p:nvSpPr>
        <p:spPr>
          <a:xfrm>
            <a:off x="2908168" y="-48845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</a:rPr>
              <a:t>Terminology of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A5BC39-C220-2C5A-7A10-A7DBA274037A}"/>
                  </a:ext>
                </a:extLst>
              </p:cNvPr>
              <p:cNvSpPr txBox="1"/>
              <p:nvPr/>
            </p:nvSpPr>
            <p:spPr>
              <a:xfrm>
                <a:off x="372717" y="2002951"/>
                <a:ext cx="5791778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2. For the fuzzy set 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u="sng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en-US" sz="1800" b="0" i="1" dirty="0">
                  <a:solidFill>
                    <a:srgbClr val="C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baseline="-25000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baseline="-25000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baseline="-25000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baseline="-25000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baseline="-25000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b="0" i="1" dirty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) }.</m:t>
                      </m:r>
                    </m:oMath>
                  </m:oMathPara>
                </a14:m>
                <a:endParaRPr lang="en-US" sz="1800" b="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endParaRPr lang="en-US" sz="1800" dirty="0">
                  <a:solidFill>
                    <a:srgbClr val="C00000"/>
                  </a:solidFill>
                </a:endParaRPr>
              </a:p>
              <a:p>
                <a:pPr algn="l" fontAlgn="base"/>
                <a:r>
                  <a:rPr lang="en-US" sz="1800" dirty="0">
                    <a:solidFill>
                      <a:srgbClr val="C00000"/>
                    </a:solidFill>
                  </a:rPr>
                  <a:t>F</a:t>
                </a:r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ind following.</a:t>
                </a:r>
              </a:p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Support, Core, Crossover points</a:t>
                </a:r>
              </a:p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Alpha cut for α = 0.3, </a:t>
                </a:r>
              </a:p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Strong Alpha cut for α = 0.4, </a:t>
                </a:r>
              </a:p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Boundary, Normality</a:t>
                </a:r>
              </a:p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Scalar Cardinality</a:t>
                </a:r>
              </a:p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Relative Cardinality</a:t>
                </a:r>
              </a:p>
              <a:p>
                <a:pPr fontAlgn="base"/>
                <a:r>
                  <a:rPr lang="en-US" sz="1800" dirty="0">
                    <a:solidFill>
                      <a:srgbClr val="C00000"/>
                    </a:solidFill>
                  </a:rPr>
                  <a:t>Fuzzy Cardinality for α = 0, 0.3, 1.0</a:t>
                </a:r>
                <a:endParaRPr lang="en-US" sz="1800" b="0" i="0" dirty="0">
                  <a:solidFill>
                    <a:srgbClr val="C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A5BC39-C220-2C5A-7A10-A7DBA2740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17" y="2002951"/>
                <a:ext cx="5791778" cy="3416320"/>
              </a:xfrm>
              <a:prstGeom prst="rect">
                <a:avLst/>
              </a:prstGeom>
              <a:blipFill>
                <a:blip r:embed="rId4"/>
                <a:stretch>
                  <a:fillRect l="-842" t="-1071" r="-4316" b="-19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79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16</a:t>
            </a:fld>
            <a:endParaRPr lang="en-IN" sz="1058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82E7A-EF97-4B43-AAC0-BF19EB5EE469}"/>
              </a:ext>
            </a:extLst>
          </p:cNvPr>
          <p:cNvSpPr txBox="1"/>
          <p:nvPr/>
        </p:nvSpPr>
        <p:spPr>
          <a:xfrm>
            <a:off x="3001915" y="-79416"/>
            <a:ext cx="3916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8390CB-BDBC-090F-1125-7E4D0CD5C43D}"/>
                  </a:ext>
                </a:extLst>
              </p:cNvPr>
              <p:cNvSpPr txBox="1"/>
              <p:nvPr/>
            </p:nvSpPr>
            <p:spPr>
              <a:xfrm>
                <a:off x="344431" y="474198"/>
                <a:ext cx="876975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dirty="0">
                    <a:effectLst/>
                  </a:rPr>
                  <a:t>Consider following data to execute various operations on crisp sets:</a:t>
                </a:r>
              </a:p>
              <a:p>
                <a:pPr algn="l" fontAlgn="base"/>
                <a:r>
                  <a:rPr lang="en-US" sz="1800" b="0" i="1" dirty="0">
                    <a:solidFill>
                      <a:srgbClr val="0070C0"/>
                    </a:solidFill>
                    <a:effectLst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= {1, 2, 3, 4, 5, 6, 7, 8, 9}</m:t>
                    </m:r>
                  </m:oMath>
                </a14:m>
                <a:endParaRPr lang="en-US" sz="1800" b="0" i="1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 fontAlgn="base"/>
                <a:r>
                  <a:rPr lang="en-US" sz="1800" b="0" i="1" dirty="0">
                    <a:solidFill>
                      <a:srgbClr val="0070C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{1, 2, 3, 4, 5}, 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{3, 4, 5, 6}, 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{6, 7, 8, 9}</m:t>
                    </m:r>
                  </m:oMath>
                </a14:m>
                <a:endParaRPr lang="en-US" sz="1800" b="0" i="1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8390CB-BDBC-090F-1125-7E4D0CD5C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31" y="474198"/>
                <a:ext cx="8769752" cy="923330"/>
              </a:xfrm>
              <a:prstGeom prst="rect">
                <a:avLst/>
              </a:prstGeom>
              <a:blipFill>
                <a:blip r:embed="rId4"/>
                <a:stretch>
                  <a:fillRect l="-626" t="-3974" b="-66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21D160-525C-3045-BA8C-BE4CBA773E4F}"/>
                  </a:ext>
                </a:extLst>
              </p:cNvPr>
              <p:cNvSpPr txBox="1"/>
              <p:nvPr/>
            </p:nvSpPr>
            <p:spPr>
              <a:xfrm>
                <a:off x="311175" y="1680301"/>
                <a:ext cx="6740810" cy="2065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Crisp Union</a:t>
                </a:r>
              </a:p>
              <a:p>
                <a:pPr algn="l" fontAlgn="base"/>
                <a:endParaRPr lang="en-US" sz="1800" b="1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Union of sets is the collection of all the elements which are either in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𝒐𝒓</m:t>
                    </m:r>
                  </m:oMath>
                </a14:m>
                <a:r>
                  <a:rPr lang="en-US" sz="1800" b="0" i="0" dirty="0">
                    <a:effectLst/>
                  </a:rPr>
                  <a:t> in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effectLst/>
                  </a:rPr>
                  <a:t>. 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Common elements from both the sets are considered only once.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21D160-525C-3045-BA8C-BE4CBA773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75" y="1680301"/>
                <a:ext cx="6740810" cy="2065117"/>
              </a:xfrm>
              <a:prstGeom prst="rect">
                <a:avLst/>
              </a:prstGeom>
              <a:blipFill>
                <a:blip r:embed="rId5"/>
                <a:stretch>
                  <a:fillRect l="-723" t="-1775" r="-271" b="-2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61B44D-CFAF-9D4F-6E9F-40D0E7A09BAB}"/>
                  </a:ext>
                </a:extLst>
              </p:cNvPr>
              <p:cNvSpPr txBox="1"/>
              <p:nvPr/>
            </p:nvSpPr>
            <p:spPr>
              <a:xfrm>
                <a:off x="2382718" y="3528748"/>
                <a:ext cx="492575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∪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{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𝒐𝒓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1800" b="0" i="1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sz="1800" b="0" i="1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pt-B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∪ </m:t>
                      </m:r>
                      <m:r>
                        <a:rPr lang="pt-B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pt-B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{1, 2, 3, 4, 5, 6}</m:t>
                      </m:r>
                    </m:oMath>
                  </m:oMathPara>
                </a14:m>
                <a:endParaRPr lang="en-IN" sz="18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61B44D-CFAF-9D4F-6E9F-40D0E7A09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18" y="3528748"/>
                <a:ext cx="4925758" cy="923330"/>
              </a:xfrm>
              <a:prstGeom prst="rect">
                <a:avLst/>
              </a:prstGeom>
              <a:blipFill>
                <a:blip r:embed="rId6"/>
                <a:stretch>
                  <a:fillRect b="-66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C1E99C45-E850-6B67-8AE6-0E66F0E28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983" y="1862081"/>
            <a:ext cx="2787599" cy="20096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60F47-F040-CAAA-B708-B21B594E504F}"/>
                  </a:ext>
                </a:extLst>
              </p:cNvPr>
              <p:cNvSpPr txBox="1"/>
              <p:nvPr/>
            </p:nvSpPr>
            <p:spPr>
              <a:xfrm>
                <a:off x="2382718" y="4532919"/>
                <a:ext cx="36403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IN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8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60F47-F040-CAAA-B708-B21B594E5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18" y="4532919"/>
                <a:ext cx="36403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9E1DCB-0426-E036-771A-128CD3B9F9C6}"/>
                  </a:ext>
                </a:extLst>
              </p:cNvPr>
              <p:cNvSpPr txBox="1"/>
              <p:nvPr/>
            </p:nvSpPr>
            <p:spPr>
              <a:xfrm>
                <a:off x="5060758" y="4593133"/>
                <a:ext cx="1179661" cy="7606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limLoc m:val="undOvr"/>
                          <m:grow m:val="on"/>
                          <m:ctrlPr>
                            <a:rPr lang="en-IN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sz="1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1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I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8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9E1DCB-0426-E036-771A-128CD3B9F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758" y="4593133"/>
                <a:ext cx="1179661" cy="7606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F2E05936-CA46-736C-F31C-EA79F149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Operations on Fuzzy Sets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0" grpId="0"/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17</a:t>
            </a:fld>
            <a:endParaRPr lang="en-IN" sz="1058" spc="-1">
              <a:latin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0C43B9-DAA5-2F4A-746E-30D9F1682504}"/>
              </a:ext>
            </a:extLst>
          </p:cNvPr>
          <p:cNvSpPr txBox="1"/>
          <p:nvPr/>
        </p:nvSpPr>
        <p:spPr>
          <a:xfrm>
            <a:off x="358418" y="577059"/>
            <a:ext cx="9322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If there are common elements in both the fuzzy sets, we should select the element with the </a:t>
            </a:r>
            <a:r>
              <a:rPr lang="en-US" sz="1800" b="1" i="0" dirty="0">
                <a:solidFill>
                  <a:srgbClr val="0070C0"/>
                </a:solidFill>
                <a:effectLst/>
              </a:rPr>
              <a:t>maximum membership value</a:t>
            </a:r>
            <a:r>
              <a:rPr lang="en-US" sz="1800" b="0" i="0" dirty="0">
                <a:effectLst/>
              </a:rPr>
              <a:t>.</a:t>
            </a:r>
            <a:endParaRPr lang="en-I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E1DD4E-1F65-5346-D026-210740399E7A}"/>
                  </a:ext>
                </a:extLst>
              </p:cNvPr>
              <p:cNvSpPr txBox="1"/>
              <p:nvPr/>
            </p:nvSpPr>
            <p:spPr>
              <a:xfrm>
                <a:off x="302706" y="1245121"/>
                <a:ext cx="5939068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j-lt"/>
                  </a:rPr>
                  <a:t>The </a:t>
                </a:r>
                <a:r>
                  <a:rPr lang="en-IN" sz="1800" b="1" i="0" dirty="0">
                    <a:solidFill>
                      <a:srgbClr val="0070C0"/>
                    </a:solidFill>
                    <a:effectLst/>
                    <a:latin typeface="+mj-lt"/>
                  </a:rPr>
                  <a:t>union</a:t>
                </a:r>
                <a:r>
                  <a:rPr lang="en-IN" sz="1800" b="1" i="0" dirty="0">
                    <a:solidFill>
                      <a:schemeClr val="tx1"/>
                    </a:solidFill>
                    <a:effectLst/>
                    <a:latin typeface="+mj-lt"/>
                  </a:rPr>
                  <a:t> </a:t>
                </a:r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j-lt"/>
                  </a:rPr>
                  <a:t>of two fuzzy sets </a:t>
                </a:r>
                <a14:m>
                  <m:oMath xmlns:m="http://schemas.openxmlformats.org/officeDocument/2006/math">
                    <m:r>
                      <a:rPr lang="en-IN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j-lt"/>
                  </a:rPr>
                  <a:t> and </a:t>
                </a:r>
                <a14:m>
                  <m:oMath xmlns:m="http://schemas.openxmlformats.org/officeDocument/2006/math">
                    <m:r>
                      <a:rPr lang="en-IN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IN" sz="1800" b="0" i="0" u="sng" dirty="0">
                  <a:solidFill>
                    <a:srgbClr val="0070C0"/>
                  </a:solidFill>
                  <a:effectLst/>
                  <a:latin typeface="+mj-lt"/>
                </a:endParaRPr>
              </a:p>
              <a:p>
                <a:pPr algn="l" fontAlgn="base"/>
                <a:endParaRPr lang="en-IN" sz="1600" b="0" i="1" u="sng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)) | ∀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  <a:p>
                <a:pPr algn="l" fontAlgn="base"/>
                <a:endParaRPr lang="en-IN" sz="160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∨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), ∀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E1DD4E-1F65-5346-D026-210740399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1245121"/>
                <a:ext cx="5939068" cy="1600438"/>
              </a:xfrm>
              <a:prstGeom prst="rect">
                <a:avLst/>
              </a:prstGeom>
              <a:blipFill>
                <a:blip r:embed="rId3"/>
                <a:stretch>
                  <a:fillRect l="-821" t="-1901" b="-1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D16EE1A-8209-723C-1EC1-2052387B3FFD}"/>
              </a:ext>
            </a:extLst>
          </p:cNvPr>
          <p:cNvSpPr txBox="1"/>
          <p:nvPr/>
        </p:nvSpPr>
        <p:spPr>
          <a:xfrm>
            <a:off x="3001915" y="-43663"/>
            <a:ext cx="3916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0734A-6470-5BC1-9A7A-55442B013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271" y="1405613"/>
            <a:ext cx="3200400" cy="1590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EEC46B-CCC8-6EA4-7631-C301E6AEB2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384" y="3357110"/>
            <a:ext cx="3314700" cy="1552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1C7941-3445-FAE5-EF52-A73699250BF0}"/>
                  </a:ext>
                </a:extLst>
              </p:cNvPr>
              <p:cNvSpPr txBox="1"/>
              <p:nvPr/>
            </p:nvSpPr>
            <p:spPr>
              <a:xfrm>
                <a:off x="253181" y="3049742"/>
                <a:ext cx="6205447" cy="2302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 {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 {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 {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 {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 {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  <a:p>
                <a:pPr algn="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IN" sz="160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1C7941-3445-FAE5-EF52-A73699250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81" y="3049742"/>
                <a:ext cx="6205447" cy="2302682"/>
              </a:xfrm>
              <a:prstGeom prst="rect">
                <a:avLst/>
              </a:prstGeom>
              <a:blipFill>
                <a:blip r:embed="rId6"/>
                <a:stretch>
                  <a:fillRect b="-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Down 1">
            <a:extLst>
              <a:ext uri="{FF2B5EF4-FFF2-40B4-BE49-F238E27FC236}">
                <a16:creationId xmlns:a16="http://schemas.microsoft.com/office/drawing/2014/main" id="{A8B24E17-51D0-3596-5D0D-A93C2CE784E6}"/>
              </a:ext>
            </a:extLst>
          </p:cNvPr>
          <p:cNvSpPr/>
          <p:nvPr/>
        </p:nvSpPr>
        <p:spPr>
          <a:xfrm>
            <a:off x="8204162" y="3090760"/>
            <a:ext cx="161521" cy="4709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2682B7B9-66B5-2204-3866-D5AD3D5A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Operations on Fuzzy Sets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6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18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B1490C-1363-6F90-E6EB-7A2CA7708780}"/>
                  </a:ext>
                </a:extLst>
              </p:cNvPr>
              <p:cNvSpPr txBox="1"/>
              <p:nvPr/>
            </p:nvSpPr>
            <p:spPr>
              <a:xfrm>
                <a:off x="124658" y="443157"/>
                <a:ext cx="6942063" cy="3011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1" i="0" dirty="0">
                    <a:solidFill>
                      <a:srgbClr val="C00000"/>
                    </a:solidFill>
                    <a:effectLst/>
                  </a:rPr>
                  <a:t>Crisp Intersection</a:t>
                </a:r>
              </a:p>
              <a:p>
                <a:pPr algn="l" fontAlgn="base"/>
                <a:endParaRPr lang="en-US" sz="1800" b="1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Intersection of sets is the collection of all the common elements from set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. </a:t>
                </a:r>
              </a:p>
              <a:p>
                <a:pPr algn="l" fontAlgn="base"/>
                <a:endParaRPr lang="en-US" dirty="0">
                  <a:solidFill>
                    <a:schemeClr val="tx1"/>
                  </a:solidFill>
                  <a:latin typeface="Roboto Condensed" panose="02000000000000000000" pitchFamily="2" charset="0"/>
                </a:endParaRPr>
              </a:p>
              <a:p>
                <a:pPr algn="l" fontAlgn="base"/>
                <a:r>
                  <a:rPr lang="en-US" b="0" dirty="0">
                    <a:solidFill>
                      <a:schemeClr val="tx1"/>
                    </a:solidFill>
                    <a:effectLst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  <a:p>
                <a:pPr algn="l" fontAlgn="base"/>
                <a:endParaRPr lang="en-US" sz="1800" b="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  <a:p>
                <a:pPr algn="l" fontAlgn="base"/>
                <a:r>
                  <a:rPr lang="en-US" sz="1800" b="0" dirty="0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{1, 2, 3, 4, 5}, 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{3, 4, 5, 6}, 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{6, 7, 8, 9}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  <a:p>
                <a:pPr algn="l" fontAlgn="base"/>
                <a:endParaRPr lang="en-US" sz="1800" dirty="0">
                  <a:solidFill>
                    <a:srgbClr val="0070C0"/>
                  </a:solidFill>
                  <a:latin typeface="Roboto Condensed" panose="02000000000000000000" pitchFamily="2" charset="0"/>
                </a:endParaRPr>
              </a:p>
              <a:p>
                <a:pPr algn="l" fontAlgn="base"/>
                <a:r>
                  <a:rPr lang="en-US" sz="1800" b="0" dirty="0">
                    <a:solidFill>
                      <a:srgbClr val="0070C0"/>
                    </a:solidFill>
                    <a:effectLst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{3, 4, 5}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  <a:latin typeface="Roboto Condensed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B1490C-1363-6F90-E6EB-7A2CA7708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58" y="443157"/>
                <a:ext cx="6942063" cy="3011530"/>
              </a:xfrm>
              <a:prstGeom prst="rect">
                <a:avLst/>
              </a:prstGeom>
              <a:blipFill>
                <a:blip r:embed="rId3"/>
                <a:stretch>
                  <a:fillRect l="-702" t="-12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591109C-44E0-6D76-8FE0-6523D6E32296}"/>
              </a:ext>
            </a:extLst>
          </p:cNvPr>
          <p:cNvSpPr txBox="1"/>
          <p:nvPr/>
        </p:nvSpPr>
        <p:spPr>
          <a:xfrm>
            <a:off x="3001915" y="-79416"/>
            <a:ext cx="3916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BD60F7-20AC-48B0-B947-9D06FBD2F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930" y="670066"/>
            <a:ext cx="2599699" cy="1913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942C89-B4C9-FF22-D734-2FAA425D2134}"/>
                  </a:ext>
                </a:extLst>
              </p:cNvPr>
              <p:cNvSpPr txBox="1"/>
              <p:nvPr/>
            </p:nvSpPr>
            <p:spPr>
              <a:xfrm>
                <a:off x="1094263" y="3612596"/>
                <a:ext cx="4959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… ∩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𝐴𝑛</m:t>
                      </m:r>
                    </m:oMath>
                  </m:oMathPara>
                </a14:m>
                <a:endParaRPr lang="en-IN" sz="1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942C89-B4C9-FF22-D734-2FAA425D2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63" y="3612596"/>
                <a:ext cx="49596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0199DF-269B-C8BB-661B-208CF66CD483}"/>
                  </a:ext>
                </a:extLst>
              </p:cNvPr>
              <p:cNvSpPr txBox="1"/>
              <p:nvPr/>
            </p:nvSpPr>
            <p:spPr>
              <a:xfrm>
                <a:off x="3574076" y="4094463"/>
                <a:ext cx="1254639" cy="823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⋂"/>
                          <m:limLoc m:val="undOvr"/>
                          <m:grow m:val="on"/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0199DF-269B-C8BB-661B-208CF66CD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076" y="4094463"/>
                <a:ext cx="1254639" cy="8238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7D4ECF21-5237-7FD9-809B-AFCE6F47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Operations on Fuzzy Sets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30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19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09A86F-74DC-11F4-078F-66F50E8DD3B0}"/>
                  </a:ext>
                </a:extLst>
              </p:cNvPr>
              <p:cNvSpPr txBox="1"/>
              <p:nvPr/>
            </p:nvSpPr>
            <p:spPr>
              <a:xfrm>
                <a:off x="302706" y="506914"/>
                <a:ext cx="9338251" cy="2154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i="0" dirty="0">
                    <a:effectLst/>
                  </a:rPr>
                  <a:t>In </a:t>
                </a: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intersection</a:t>
                </a:r>
                <a:r>
                  <a:rPr lang="en-US" sz="1800" b="1" i="0" dirty="0">
                    <a:effectLst/>
                  </a:rPr>
                  <a:t> </a:t>
                </a:r>
                <a:r>
                  <a:rPr lang="en-US" sz="1800" b="0" i="0" dirty="0">
                    <a:effectLst/>
                  </a:rPr>
                  <a:t>of two fuzzy sets, when there are common elements, we should select the element with 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</a:rPr>
                  <a:t>minimum membership value</a:t>
                </a:r>
                <a:r>
                  <a:rPr lang="en-US" sz="1800" b="0" i="0" dirty="0">
                    <a:effectLst/>
                  </a:rPr>
                  <a:t>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US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US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)) | ∀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6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US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6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⋀ </m:t>
                      </m:r>
                      <m:r>
                        <a:rPr lang="en-US" sz="16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n-US" sz="16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16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), ∀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09A86F-74DC-11F4-078F-66F50E8DD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506914"/>
                <a:ext cx="9338251" cy="2154436"/>
              </a:xfrm>
              <a:prstGeom prst="rect">
                <a:avLst/>
              </a:prstGeom>
              <a:blipFill>
                <a:blip r:embed="rId3"/>
                <a:stretch>
                  <a:fillRect l="-587" t="-1412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B1E76E3-81AE-0E21-DD30-20B0F91CD8DD}"/>
              </a:ext>
            </a:extLst>
          </p:cNvPr>
          <p:cNvSpPr txBox="1"/>
          <p:nvPr/>
        </p:nvSpPr>
        <p:spPr>
          <a:xfrm>
            <a:off x="3001915" y="-79416"/>
            <a:ext cx="3916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466EBC-16E6-E428-99EE-B30EB928A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684" y="1063568"/>
            <a:ext cx="3200400" cy="1552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2CD20A-80C3-FBB5-ADB2-10280F03D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016" y="3327680"/>
            <a:ext cx="3371850" cy="158115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E731676E-9775-944D-3B24-0C86F1553E4F}"/>
              </a:ext>
            </a:extLst>
          </p:cNvPr>
          <p:cNvSpPr/>
          <p:nvPr/>
        </p:nvSpPr>
        <p:spPr>
          <a:xfrm>
            <a:off x="8142181" y="2822451"/>
            <a:ext cx="161521" cy="4709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43BB03-02E4-3449-E1A1-5F29224B46A0}"/>
                  </a:ext>
                </a:extLst>
              </p:cNvPr>
              <p:cNvSpPr txBox="1"/>
              <p:nvPr/>
            </p:nvSpPr>
            <p:spPr>
              <a:xfrm>
                <a:off x="247029" y="2790031"/>
                <a:ext cx="6289987" cy="2548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⁡{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⁡{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⁡{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⁡{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l-G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6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 =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 {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 =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IN" sz="1600" b="0" i="1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43BB03-02E4-3449-E1A1-5F29224B4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29" y="2790031"/>
                <a:ext cx="6289987" cy="2548903"/>
              </a:xfrm>
              <a:prstGeom prst="rect">
                <a:avLst/>
              </a:prstGeom>
              <a:blipFill>
                <a:blip r:embed="rId6"/>
                <a:stretch>
                  <a:fillRect b="-7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5FB65B4-C942-DEC4-6B3E-A16CBB5F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Operations on Fuzzy Sets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05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20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6AE49F3-813A-7B99-A270-7324300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Terminology of Fuzzy Sets</a:t>
            </a: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BD661B-0020-9EB4-6B9F-9E19A7994E9E}"/>
                  </a:ext>
                </a:extLst>
              </p:cNvPr>
              <p:cNvSpPr txBox="1"/>
              <p:nvPr/>
            </p:nvSpPr>
            <p:spPr>
              <a:xfrm>
                <a:off x="640080" y="951855"/>
                <a:ext cx="8644177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/>
                </a:pPr>
                <a:r>
                  <a:rPr lang="en-IN" sz="1800" b="1" dirty="0">
                    <a:solidFill>
                      <a:srgbClr val="0070C0"/>
                    </a:solidFill>
                  </a:rPr>
                  <a:t>T-norms (for Intersection)</a:t>
                </a:r>
              </a:p>
              <a:p>
                <a:pPr>
                  <a:defRPr sz="2000"/>
                </a:pPr>
                <a:endParaRPr lang="en-IN" sz="1800" dirty="0">
                  <a:solidFill>
                    <a:srgbClr val="0070C0"/>
                  </a:solidFill>
                </a:endParaRPr>
              </a:p>
              <a:p>
                <a:pPr marL="837999" lvl="1" indent="-342900">
                  <a:buFont typeface="Arial" panose="020B0604020202020204" pitchFamily="34" charset="0"/>
                  <a:buChar char="•"/>
                  <a:defRPr sz="2000"/>
                </a:pPr>
                <a:r>
                  <a:rPr lang="en-IN" sz="1800" dirty="0"/>
                  <a:t>Minimum (Godel):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1800" i="1" baseline="-25000" dirty="0" err="1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IN" sz="1800" i="1" dirty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/>
              </a:p>
              <a:p>
                <a:pPr marL="837999" lvl="1" indent="-342900">
                  <a:buFont typeface="Arial" panose="020B0604020202020204" pitchFamily="34" charset="0"/>
                  <a:buChar char="•"/>
                  <a:defRPr sz="2000"/>
                </a:pPr>
                <a:r>
                  <a:rPr lang="en-IN" sz="1800" dirty="0"/>
                  <a:t>Product (Algebraic):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1800" i="1" baseline="-25000" dirty="0" err="1">
                        <a:latin typeface="Cambria Math" panose="02040503050406030204" pitchFamily="18" charset="0"/>
                      </a:rPr>
                      <m:t>𝑝𝑟𝑜𝑑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1800" dirty="0"/>
              </a:p>
              <a:p>
                <a:pPr marL="837999" lvl="1" indent="-342900">
                  <a:buFont typeface="Arial" panose="020B0604020202020204" pitchFamily="34" charset="0"/>
                  <a:buChar char="•"/>
                  <a:defRPr sz="2000"/>
                </a:pPr>
                <a:r>
                  <a:rPr lang="en-IN" sz="1800" dirty="0"/>
                  <a:t>Lukasiewicz (Bounded diff):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1800" i="1" baseline="-25000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IN" sz="18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⁡(0,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 − 1)</m:t>
                    </m:r>
                  </m:oMath>
                </a14:m>
                <a:endParaRPr lang="en-IN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BD661B-0020-9EB4-6B9F-9E19A7994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951855"/>
                <a:ext cx="8644177" cy="1477328"/>
              </a:xfrm>
              <a:prstGeom prst="rect">
                <a:avLst/>
              </a:prstGeom>
              <a:blipFill>
                <a:blip r:embed="rId3"/>
                <a:stretch>
                  <a:fillRect l="-564" t="-2066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57B788-A378-94B3-CBC8-2F2CAAEA8DD4}"/>
                  </a:ext>
                </a:extLst>
              </p:cNvPr>
              <p:cNvSpPr txBox="1"/>
              <p:nvPr/>
            </p:nvSpPr>
            <p:spPr>
              <a:xfrm>
                <a:off x="631517" y="2973299"/>
                <a:ext cx="869846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/>
                </a:pPr>
                <a:r>
                  <a:rPr lang="en-IN" sz="1800" b="1" dirty="0">
                    <a:solidFill>
                      <a:srgbClr val="0070C0"/>
                    </a:solidFill>
                  </a:rPr>
                  <a:t>T-conorms or S-norms (for Union)</a:t>
                </a:r>
              </a:p>
              <a:p>
                <a:pPr>
                  <a:defRPr sz="2000"/>
                </a:pPr>
                <a:endParaRPr lang="en-IN" sz="1800" b="1" dirty="0">
                  <a:solidFill>
                    <a:srgbClr val="0070C0"/>
                  </a:solidFill>
                </a:endParaRPr>
              </a:p>
              <a:p>
                <a:pPr marL="837999" lvl="1" indent="-342900">
                  <a:buFont typeface="Arial" panose="020B0604020202020204" pitchFamily="34" charset="0"/>
                  <a:buChar char="•"/>
                  <a:defRPr sz="2000"/>
                </a:pPr>
                <a:r>
                  <a:rPr lang="en-IN" sz="1800" dirty="0"/>
                  <a:t>Maximum (Godel):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1800" i="1" baseline="-25000" dirty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IN" sz="18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/>
              </a:p>
              <a:p>
                <a:pPr marL="837999" lvl="1" indent="-342900">
                  <a:buFont typeface="Arial" panose="020B0604020202020204" pitchFamily="34" charset="0"/>
                  <a:buChar char="•"/>
                  <a:defRPr sz="2000"/>
                </a:pPr>
                <a:r>
                  <a:rPr lang="en-IN" sz="1800" dirty="0"/>
                  <a:t>Probabilistic sum (Algebraic):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1800" i="1" baseline="-25000" dirty="0" err="1">
                        <a:latin typeface="Cambria Math" panose="02040503050406030204" pitchFamily="18" charset="0"/>
                      </a:rPr>
                      <m:t>𝑝𝑠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·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1800" dirty="0"/>
              </a:p>
              <a:p>
                <a:pPr marL="837999" lvl="1" indent="-342900">
                  <a:buFont typeface="Arial" panose="020B0604020202020204" pitchFamily="34" charset="0"/>
                  <a:buChar char="•"/>
                  <a:defRPr sz="2000"/>
                </a:pPr>
                <a:r>
                  <a:rPr lang="en-IN" sz="1800" dirty="0"/>
                  <a:t>Lukasiewicz (Bounded sum):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1800" i="1" baseline="-25000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IN" sz="1800" i="1" dirty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⁡(1,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57B788-A378-94B3-CBC8-2F2CAAEA8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17" y="2973299"/>
                <a:ext cx="8698460" cy="1477328"/>
              </a:xfrm>
              <a:prstGeom prst="rect">
                <a:avLst/>
              </a:prstGeom>
              <a:blipFill>
                <a:blip r:embed="rId4"/>
                <a:stretch>
                  <a:fillRect l="-631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B4537FC-D6BE-EFD1-2DF6-8A459B60FE0C}"/>
              </a:ext>
            </a:extLst>
          </p:cNvPr>
          <p:cNvSpPr txBox="1"/>
          <p:nvPr/>
        </p:nvSpPr>
        <p:spPr>
          <a:xfrm>
            <a:off x="3001915" y="-79416"/>
            <a:ext cx="3916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sets</a:t>
            </a:r>
          </a:p>
        </p:txBody>
      </p:sp>
    </p:spTree>
    <p:extLst>
      <p:ext uri="{BB962C8B-B14F-4D97-AF65-F5344CB8AC3E}">
        <p14:creationId xmlns:p14="http://schemas.microsoft.com/office/powerpoint/2010/main" val="3160306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21</a:t>
            </a:fld>
            <a:endParaRPr lang="en-IN" sz="1058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F0369-470D-6E4E-34B3-7F0BA47DFD7C}"/>
              </a:ext>
            </a:extLst>
          </p:cNvPr>
          <p:cNvSpPr txBox="1"/>
          <p:nvPr/>
        </p:nvSpPr>
        <p:spPr>
          <a:xfrm>
            <a:off x="3001915" y="-79416"/>
            <a:ext cx="3916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119140-AE1A-38E0-9242-CE5652C450E0}"/>
                  </a:ext>
                </a:extLst>
              </p:cNvPr>
              <p:cNvSpPr txBox="1"/>
              <p:nvPr/>
            </p:nvSpPr>
            <p:spPr>
              <a:xfrm>
                <a:off x="302706" y="518137"/>
                <a:ext cx="7701276" cy="3538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Crisp Complement</a:t>
                </a:r>
              </a:p>
              <a:p>
                <a:pPr algn="l" fontAlgn="base"/>
                <a:endParaRPr lang="en-US" sz="1800" b="1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Complement of Crisp set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is collection of all the elements which are 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𝒏𝒐𝒕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but are in the universal set.</a:t>
                </a: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Mathematically,</a:t>
                </a: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baseline="30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∉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ctr" fontAlgn="base"/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= {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600" b="0" i="1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{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}, 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{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}, 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{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600" b="0" i="1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 fontAlgn="base"/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={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119140-AE1A-38E0-9242-CE5652C45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518137"/>
                <a:ext cx="7701276" cy="3538726"/>
              </a:xfrm>
              <a:prstGeom prst="rect">
                <a:avLst/>
              </a:prstGeom>
              <a:blipFill>
                <a:blip r:embed="rId3"/>
                <a:stretch>
                  <a:fillRect l="-713" t="-1034" r="-10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AA80B06-6C45-685F-3B10-E3BBA368A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170" y="1422474"/>
            <a:ext cx="2309459" cy="1679607"/>
          </a:xfrm>
          <a:prstGeom prst="rect">
            <a:avLst/>
          </a:prstGeom>
        </p:spPr>
      </p:pic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AB127177-5D9A-53E5-FD1E-5E387A3B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Operations on Fuzzy Sets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30CDA0-CCB7-2948-89E1-8B895EB22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362" y="3846894"/>
            <a:ext cx="4005470" cy="110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7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22</a:t>
            </a:fld>
            <a:endParaRPr lang="en-IN" sz="1058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979EB-845A-5355-295E-713A39190B74}"/>
              </a:ext>
            </a:extLst>
          </p:cNvPr>
          <p:cNvSpPr txBox="1"/>
          <p:nvPr/>
        </p:nvSpPr>
        <p:spPr>
          <a:xfrm>
            <a:off x="3001915" y="-79416"/>
            <a:ext cx="3916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25547A-8F03-E1CC-557B-54DDA2B99FFD}"/>
                  </a:ext>
                </a:extLst>
              </p:cNvPr>
              <p:cNvSpPr txBox="1"/>
              <p:nvPr/>
            </p:nvSpPr>
            <p:spPr>
              <a:xfrm>
                <a:off x="177692" y="352752"/>
                <a:ext cx="6590856" cy="2815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Complement on Fuzzy set</a:t>
                </a:r>
              </a:p>
              <a:p>
                <a:pPr algn="l" fontAlgn="base"/>
                <a:endParaRPr lang="en-US" sz="1600" b="0" i="0" dirty="0">
                  <a:solidFill>
                    <a:srgbClr val="666666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Membership value of every element in the fuzzy set is complemented with respect to 1, i.e., it is subtracted from 1.</a:t>
                </a:r>
              </a:p>
              <a:p>
                <a:pPr algn="l" fontAlgn="base"/>
                <a:endParaRPr lang="en-US" sz="1800" b="0" i="0" dirty="0">
                  <a:solidFill>
                    <a:srgbClr val="666666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The </a:t>
                </a:r>
                <a:r>
                  <a:rPr lang="en-US" sz="1800" b="1" i="0" dirty="0">
                    <a:effectLst/>
                  </a:rPr>
                  <a:t>complement </a:t>
                </a:r>
                <a:r>
                  <a:rPr lang="en-US" sz="1800" b="0" i="0" dirty="0">
                    <a:effectLst/>
                  </a:rPr>
                  <a:t>of fuzzy set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, is denoted by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baseline="30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, </a:t>
                </a:r>
                <a:r>
                  <a:rPr lang="en-US" sz="1800" b="0" i="0" dirty="0">
                    <a:effectLst/>
                  </a:rPr>
                  <a:t>is defined as,</a:t>
                </a:r>
              </a:p>
              <a:p>
                <a:pPr algn="l" fontAlgn="base"/>
                <a:endParaRPr lang="en-US" sz="1600" b="0" i="0" dirty="0">
                  <a:solidFill>
                    <a:srgbClr val="666666"/>
                  </a:solidFill>
                  <a:effectLst/>
                </a:endParaRPr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6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baseline="30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{(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600" b="0" i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| ∀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b="0" i="0" dirty="0">
                    <a:solidFill>
                      <a:srgbClr val="0070C0"/>
                    </a:solidFill>
                    <a:effectLst/>
                  </a:rPr>
                  <a:t>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600" b="0" i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1 – </m:t>
                    </m:r>
                    <m:r>
                      <a:rPr lang="en-US" sz="16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25547A-8F03-E1CC-557B-54DDA2B99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92" y="352752"/>
                <a:ext cx="6590856" cy="2815514"/>
              </a:xfrm>
              <a:prstGeom prst="rect">
                <a:avLst/>
              </a:prstGeom>
              <a:blipFill>
                <a:blip r:embed="rId3"/>
                <a:stretch>
                  <a:fillRect l="-740" t="-1299" r="-648" b="-2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A60732-4931-2C5A-1F09-55286B5D5C74}"/>
                  </a:ext>
                </a:extLst>
              </p:cNvPr>
              <p:cNvSpPr txBox="1"/>
              <p:nvPr/>
            </p:nvSpPr>
            <p:spPr>
              <a:xfrm>
                <a:off x="177692" y="3315261"/>
                <a:ext cx="5765909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0.2),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0.5),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0.6),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0.8),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1.0) }</m:t>
                      </m:r>
                    </m:oMath>
                  </m:oMathPara>
                </a14:m>
                <a:endParaRPr lang="en-IN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IN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0.8),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0.5),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0.4),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0.2),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0.0) }</m:t>
                      </m:r>
                    </m:oMath>
                  </m:oMathPara>
                </a14:m>
                <a:endParaRPr lang="en-IN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IN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0.8),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0.5),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0.6),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0.8),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1.0) } ≠ 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IN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0.2),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0.5),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0.4),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0.2), (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0.0) } ≠ </m:t>
                      </m:r>
                      <m:r>
                        <a:rPr lang="el-GR" sz="1600" b="0" i="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l-G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A60732-4931-2C5A-1F09-55286B5D5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92" y="3315261"/>
                <a:ext cx="5765909" cy="1815882"/>
              </a:xfrm>
              <a:prstGeom prst="rect">
                <a:avLst/>
              </a:prstGeom>
              <a:blipFill>
                <a:blip r:embed="rId4"/>
                <a:stretch>
                  <a:fillRect b="-10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CEBCA56-728E-84BC-9924-B9079F376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584" y="704825"/>
            <a:ext cx="3371850" cy="31432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D5D5E3-E45E-EDF2-E838-2A80CBF03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1680" y="4151230"/>
            <a:ext cx="4054754" cy="1161450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AFAA7EE0-8335-F027-E0D4-9354364D204D}"/>
              </a:ext>
            </a:extLst>
          </p:cNvPr>
          <p:cNvSpPr/>
          <p:nvPr/>
        </p:nvSpPr>
        <p:spPr>
          <a:xfrm>
            <a:off x="8184190" y="2316596"/>
            <a:ext cx="154739" cy="3769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69035A3B-0BF6-F74C-DCFB-72955203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52424"/>
            <a:ext cx="4657438" cy="208135"/>
          </a:xfrm>
        </p:spPr>
        <p:txBody>
          <a:bodyPr/>
          <a:lstStyle/>
          <a:p>
            <a:r>
              <a:rPr lang="en-US" sz="1000" dirty="0"/>
              <a:t>Principles of Soft Computing--&gt; Unit-III: </a:t>
            </a:r>
            <a:r>
              <a:rPr lang="en-US" sz="1000" dirty="0">
                <a:solidFill>
                  <a:srgbClr val="FF0000"/>
                </a:solidFill>
              </a:rPr>
              <a:t>Operations on Fuzzy Sets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41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F62F2-15B8-45A7-8C46-364189CA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309052" cy="21484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Unit-I: </a:t>
            </a:r>
            <a:r>
              <a:rPr lang="en-US" dirty="0">
                <a:solidFill>
                  <a:srgbClr val="FF0000"/>
                </a:solidFill>
              </a:rPr>
              <a:t>Properties of Fuzzy Sets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23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111A4-D742-8742-BD2F-5FFA991AC90E}"/>
              </a:ext>
            </a:extLst>
          </p:cNvPr>
          <p:cNvSpPr txBox="1"/>
          <p:nvPr/>
        </p:nvSpPr>
        <p:spPr>
          <a:xfrm>
            <a:off x="2924170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sets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7C38E-80E3-C55A-C2BC-AB73CAC09318}"/>
              </a:ext>
            </a:extLst>
          </p:cNvPr>
          <p:cNvCxnSpPr>
            <a:cxnSpLocks/>
          </p:cNvCxnSpPr>
          <p:nvPr/>
        </p:nvCxnSpPr>
        <p:spPr>
          <a:xfrm>
            <a:off x="2124269" y="291037"/>
            <a:ext cx="18076" cy="462688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F8BF9A-732C-EB40-F161-C448336AA608}"/>
              </a:ext>
            </a:extLst>
          </p:cNvPr>
          <p:cNvCxnSpPr>
            <a:cxnSpLocks/>
          </p:cNvCxnSpPr>
          <p:nvPr/>
        </p:nvCxnSpPr>
        <p:spPr>
          <a:xfrm flipH="1">
            <a:off x="5875901" y="369136"/>
            <a:ext cx="23586" cy="45337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B21622F-B96D-31F6-1C64-D1ABF9ACDA66}"/>
              </a:ext>
            </a:extLst>
          </p:cNvPr>
          <p:cNvSpPr txBox="1"/>
          <p:nvPr/>
        </p:nvSpPr>
        <p:spPr>
          <a:xfrm>
            <a:off x="3230365" y="373330"/>
            <a:ext cx="1306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  <a:latin typeface="+mj-lt"/>
              </a:rPr>
              <a:t>Crisp 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7E1CB-7904-AA68-BEB8-C9D07849CE2A}"/>
              </a:ext>
            </a:extLst>
          </p:cNvPr>
          <p:cNvSpPr txBox="1"/>
          <p:nvPr/>
        </p:nvSpPr>
        <p:spPr>
          <a:xfrm>
            <a:off x="6801124" y="395816"/>
            <a:ext cx="1306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  <a:latin typeface="+mj-lt"/>
              </a:rPr>
              <a:t>Fuzzy Sets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5D74D-D2D9-F1A0-438C-0F64535679B6}"/>
              </a:ext>
            </a:extLst>
          </p:cNvPr>
          <p:cNvSpPr txBox="1"/>
          <p:nvPr/>
        </p:nvSpPr>
        <p:spPr>
          <a:xfrm>
            <a:off x="349729" y="351471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  <a:latin typeface="+mj-lt"/>
              </a:rPr>
              <a:t>Property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37B80-75B3-D47B-63C0-3A7A24401CD4}"/>
              </a:ext>
            </a:extLst>
          </p:cNvPr>
          <p:cNvSpPr txBox="1"/>
          <p:nvPr/>
        </p:nvSpPr>
        <p:spPr>
          <a:xfrm>
            <a:off x="145" y="734370"/>
            <a:ext cx="1832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  <a:latin typeface="+mj-lt"/>
              </a:rPr>
              <a:t>Involution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BE958A-998D-F063-98D4-688B848A7E4B}"/>
                  </a:ext>
                </a:extLst>
              </p:cNvPr>
              <p:cNvSpPr txBox="1"/>
              <p:nvPr/>
            </p:nvSpPr>
            <p:spPr>
              <a:xfrm>
                <a:off x="2170388" y="697000"/>
                <a:ext cx="78952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’)’</m:t>
                      </m:r>
                    </m:oMath>
                  </m:oMathPara>
                </a14:m>
                <a:endParaRPr lang="en-IN" sz="1600" dirty="0">
                  <a:solidFill>
                    <a:srgbClr val="0070C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BE958A-998D-F063-98D4-688B848A7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388" y="697000"/>
                <a:ext cx="789528" cy="338554"/>
              </a:xfrm>
              <a:prstGeom prst="rect">
                <a:avLst/>
              </a:prstGeom>
              <a:blipFill>
                <a:blip r:embed="rId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C407766-7808-E306-573C-88216F9F9B8B}"/>
              </a:ext>
            </a:extLst>
          </p:cNvPr>
          <p:cNvSpPr txBox="1"/>
          <p:nvPr/>
        </p:nvSpPr>
        <p:spPr>
          <a:xfrm>
            <a:off x="7531" y="1115715"/>
            <a:ext cx="2099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  <a:latin typeface="+mj-lt"/>
              </a:rPr>
              <a:t>Commutativity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2B148D-3274-F644-C532-BAB18AEB28D9}"/>
                  </a:ext>
                </a:extLst>
              </p:cNvPr>
              <p:cNvSpPr txBox="1"/>
              <p:nvPr/>
            </p:nvSpPr>
            <p:spPr>
              <a:xfrm>
                <a:off x="2210775" y="1056094"/>
                <a:ext cx="390400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600" dirty="0">
                  <a:solidFill>
                    <a:srgbClr val="0070C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2B148D-3274-F644-C532-BAB18AEB2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775" y="1056094"/>
                <a:ext cx="390400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1B57444-D799-5996-B201-AE94F206139F}"/>
              </a:ext>
            </a:extLst>
          </p:cNvPr>
          <p:cNvSpPr txBox="1"/>
          <p:nvPr/>
        </p:nvSpPr>
        <p:spPr>
          <a:xfrm>
            <a:off x="6941" y="1652399"/>
            <a:ext cx="1979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  <a:latin typeface="+mj-lt"/>
              </a:rPr>
              <a:t>Associativity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7258E9-B4A1-EB52-4A5E-C2E481D79A36}"/>
                  </a:ext>
                </a:extLst>
              </p:cNvPr>
              <p:cNvSpPr txBox="1"/>
              <p:nvPr/>
            </p:nvSpPr>
            <p:spPr>
              <a:xfrm>
                <a:off x="2158935" y="1526969"/>
                <a:ext cx="347488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(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),</m:t>
                      </m:r>
                    </m:oMath>
                  </m:oMathPara>
                </a14:m>
                <a:endParaRPr lang="pt-BR" sz="1600" i="0" dirty="0">
                  <a:solidFill>
                    <a:srgbClr val="0070C0"/>
                  </a:solidFill>
                  <a:effectLst/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∩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(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0070C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7258E9-B4A1-EB52-4A5E-C2E481D79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35" y="1526969"/>
                <a:ext cx="3474881" cy="584775"/>
              </a:xfrm>
              <a:prstGeom prst="rect">
                <a:avLst/>
              </a:prstGeom>
              <a:blipFill>
                <a:blip r:embed="rId5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4C21AA0-3BA0-1475-2C21-B741E44FDE88}"/>
              </a:ext>
            </a:extLst>
          </p:cNvPr>
          <p:cNvSpPr txBox="1"/>
          <p:nvPr/>
        </p:nvSpPr>
        <p:spPr>
          <a:xfrm>
            <a:off x="14918" y="2257906"/>
            <a:ext cx="2099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  <a:latin typeface="+mj-lt"/>
              </a:rPr>
              <a:t>Distributivity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9C2464-8870-B18C-0085-F94C47CBA25A}"/>
                  </a:ext>
                </a:extLst>
              </p:cNvPr>
              <p:cNvSpPr txBox="1"/>
              <p:nvPr/>
            </p:nvSpPr>
            <p:spPr>
              <a:xfrm>
                <a:off x="2180475" y="2244011"/>
                <a:ext cx="3825753" cy="614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∩ 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sz="1600" i="0" dirty="0">
                  <a:solidFill>
                    <a:srgbClr val="0070C0"/>
                  </a:solidFill>
                  <a:effectLst/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∪ (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0070C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9C2464-8870-B18C-0085-F94C47CBA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475" y="2244011"/>
                <a:ext cx="3825753" cy="6148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9115C6B-009B-FFFE-9883-234394E9F12B}"/>
              </a:ext>
            </a:extLst>
          </p:cNvPr>
          <p:cNvSpPr txBox="1"/>
          <p:nvPr/>
        </p:nvSpPr>
        <p:spPr>
          <a:xfrm>
            <a:off x="14918" y="2914906"/>
            <a:ext cx="1623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  <a:latin typeface="+mj-lt"/>
              </a:rPr>
              <a:t>Absorption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49023-78AE-9173-9351-BB689A6E59D2}"/>
                  </a:ext>
                </a:extLst>
              </p:cNvPr>
              <p:cNvSpPr txBox="1"/>
              <p:nvPr/>
            </p:nvSpPr>
            <p:spPr>
              <a:xfrm>
                <a:off x="2185024" y="2934981"/>
                <a:ext cx="39297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(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(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1600" dirty="0">
                  <a:solidFill>
                    <a:srgbClr val="0070C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49023-78AE-9173-9351-BB689A6E5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024" y="2934981"/>
                <a:ext cx="3929763" cy="338554"/>
              </a:xfrm>
              <a:prstGeom prst="rect">
                <a:avLst/>
              </a:prstGeom>
              <a:blipFill>
                <a:blip r:embed="rId7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73ED06A-931D-E7F3-0CC6-B209EED5BCAF}"/>
              </a:ext>
            </a:extLst>
          </p:cNvPr>
          <p:cNvSpPr txBox="1"/>
          <p:nvPr/>
        </p:nvSpPr>
        <p:spPr>
          <a:xfrm>
            <a:off x="145" y="3340530"/>
            <a:ext cx="1889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  <a:latin typeface="+mj-lt"/>
              </a:rPr>
              <a:t>Idempotency/Tautology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103D3D-E7B7-A973-6868-DD67254A7ECB}"/>
                  </a:ext>
                </a:extLst>
              </p:cNvPr>
              <p:cNvSpPr txBox="1"/>
              <p:nvPr/>
            </p:nvSpPr>
            <p:spPr>
              <a:xfrm>
                <a:off x="2158935" y="3432702"/>
                <a:ext cx="319236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1600" i="0" dirty="0">
                  <a:solidFill>
                    <a:srgbClr val="0070C0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103D3D-E7B7-A973-6868-DD67254A7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35" y="3432702"/>
                <a:ext cx="319236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017D90F-598F-2EF4-7653-7D5F86A743CE}"/>
              </a:ext>
            </a:extLst>
          </p:cNvPr>
          <p:cNvSpPr txBox="1"/>
          <p:nvPr/>
        </p:nvSpPr>
        <p:spPr>
          <a:xfrm>
            <a:off x="-28526" y="4040763"/>
            <a:ext cx="1759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  <a:latin typeface="+mj-lt"/>
              </a:rPr>
              <a:t>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C6EFFE3-BFB9-AE1F-DBC6-BD7B29ABCDBB}"/>
                  </a:ext>
                </a:extLst>
              </p:cNvPr>
              <p:cNvSpPr txBox="1"/>
              <p:nvPr/>
            </p:nvSpPr>
            <p:spPr>
              <a:xfrm>
                <a:off x="2142345" y="3892363"/>
                <a:ext cx="30258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1600" i="0" dirty="0">
                  <a:solidFill>
                    <a:srgbClr val="0070C0"/>
                  </a:solidFill>
                  <a:effectLst/>
                  <a:latin typeface="+mj-lt"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pt-BR" sz="1600" i="0" dirty="0">
                  <a:solidFill>
                    <a:srgbClr val="0070C0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C6EFFE3-BFB9-AE1F-DBC6-BD7B29ABC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345" y="3892363"/>
                <a:ext cx="3025892" cy="584775"/>
              </a:xfrm>
              <a:prstGeom prst="rect">
                <a:avLst/>
              </a:prstGeom>
              <a:blipFill>
                <a:blip r:embed="rId9"/>
                <a:stretch>
                  <a:fillRect b="-6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5AD904F7-F7AC-8787-1CA2-38B019D11D8C}"/>
              </a:ext>
            </a:extLst>
          </p:cNvPr>
          <p:cNvSpPr txBox="1"/>
          <p:nvPr/>
        </p:nvSpPr>
        <p:spPr>
          <a:xfrm>
            <a:off x="-32953" y="4564332"/>
            <a:ext cx="24592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600" i="0" dirty="0">
                <a:effectLst/>
              </a:rPr>
              <a:t>De Morgan’s Laws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972A2C3-336A-3BF0-0CCF-B7767EFE790F}"/>
                  </a:ext>
                </a:extLst>
              </p:cNvPr>
              <p:cNvSpPr txBox="1"/>
              <p:nvPr/>
            </p:nvSpPr>
            <p:spPr>
              <a:xfrm>
                <a:off x="2055847" y="4591509"/>
                <a:ext cx="410961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∪ </m:t>
                          </m:r>
                          <m:r>
                            <a:rPr lang="en-IN" sz="160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’=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’∩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’, (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)’=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 ∪ 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IN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972A2C3-336A-3BF0-0CCF-B7767EFE7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847" y="4591509"/>
                <a:ext cx="4109619" cy="338554"/>
              </a:xfrm>
              <a:prstGeom prst="rect">
                <a:avLst/>
              </a:prstGeom>
              <a:blipFill>
                <a:blip r:embed="rId1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EEB3BD-7FC8-E4E3-AC0C-9ECD2FD5C63E}"/>
                  </a:ext>
                </a:extLst>
              </p:cNvPr>
              <p:cNvSpPr txBox="1"/>
              <p:nvPr/>
            </p:nvSpPr>
            <p:spPr>
              <a:xfrm>
                <a:off x="5898341" y="652533"/>
                <a:ext cx="1530295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‘ )’ = </m:t>
                      </m:r>
                      <m:r>
                        <a:rPr lang="en-IN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EEB3BD-7FC8-E4E3-AC0C-9ECD2FD5C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341" y="652533"/>
                <a:ext cx="1530295" cy="368627"/>
              </a:xfrm>
              <a:prstGeom prst="rect">
                <a:avLst/>
              </a:prstGeom>
              <a:blipFill>
                <a:blip r:embed="rId11"/>
                <a:stretch>
                  <a:fillRect l="-398" b="-180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20A227-900C-9D11-4B6F-48191FD0A83D}"/>
                  </a:ext>
                </a:extLst>
              </p:cNvPr>
              <p:cNvSpPr txBox="1"/>
              <p:nvPr/>
            </p:nvSpPr>
            <p:spPr>
              <a:xfrm>
                <a:off x="5897903" y="1024683"/>
                <a:ext cx="353116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20A227-900C-9D11-4B6F-48191FD0A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903" y="1024683"/>
                <a:ext cx="3531164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D447F14-7579-9781-E457-2348453F3A09}"/>
                  </a:ext>
                </a:extLst>
              </p:cNvPr>
              <p:cNvSpPr txBox="1"/>
              <p:nvPr/>
            </p:nvSpPr>
            <p:spPr>
              <a:xfrm>
                <a:off x="5884948" y="1468469"/>
                <a:ext cx="3315464" cy="644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∪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D447F14-7579-9781-E457-2348453F3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948" y="1468469"/>
                <a:ext cx="3315464" cy="644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47DDA87-E71E-EB49-6CC9-EB86D1AFA889}"/>
                  </a:ext>
                </a:extLst>
              </p:cNvPr>
              <p:cNvSpPr txBox="1"/>
              <p:nvPr/>
            </p:nvSpPr>
            <p:spPr>
              <a:xfrm>
                <a:off x="5875901" y="2239744"/>
                <a:ext cx="4594632" cy="644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∩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∪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47DDA87-E71E-EB49-6CC9-EB86D1AFA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901" y="2239744"/>
                <a:ext cx="4594632" cy="644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80AF864-D5DF-1064-5870-67EF16CF5F36}"/>
                  </a:ext>
                </a:extLst>
              </p:cNvPr>
              <p:cNvSpPr txBox="1"/>
              <p:nvPr/>
            </p:nvSpPr>
            <p:spPr>
              <a:xfrm>
                <a:off x="5844010" y="2917196"/>
                <a:ext cx="3875359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 =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80AF864-D5DF-1064-5870-67EF16CF5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010" y="2917196"/>
                <a:ext cx="3875359" cy="368627"/>
              </a:xfrm>
              <a:prstGeom prst="rect">
                <a:avLst/>
              </a:prstGeom>
              <a:blipFill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1FF5FB6-6103-6825-B41E-283A1606A743}"/>
                  </a:ext>
                </a:extLst>
              </p:cNvPr>
              <p:cNvSpPr txBox="1"/>
              <p:nvPr/>
            </p:nvSpPr>
            <p:spPr>
              <a:xfrm>
                <a:off x="5884948" y="3388736"/>
                <a:ext cx="2652884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1FF5FB6-6103-6825-B41E-283A1606A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948" y="3388736"/>
                <a:ext cx="2652884" cy="36862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49513E5-2214-C837-03BE-73A80434C87B}"/>
                  </a:ext>
                </a:extLst>
              </p:cNvPr>
              <p:cNvSpPr txBox="1"/>
              <p:nvPr/>
            </p:nvSpPr>
            <p:spPr>
              <a:xfrm>
                <a:off x="5884948" y="3838843"/>
                <a:ext cx="3093577" cy="644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∪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16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49513E5-2214-C837-03BE-73A80434C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948" y="3838843"/>
                <a:ext cx="3093577" cy="6449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7333093-9209-DCC1-A686-AD7B281233D0}"/>
                  </a:ext>
                </a:extLst>
              </p:cNvPr>
              <p:cNvSpPr txBox="1"/>
              <p:nvPr/>
            </p:nvSpPr>
            <p:spPr>
              <a:xfrm>
                <a:off x="5860598" y="4549295"/>
                <a:ext cx="4002595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 =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‘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‘, (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)’=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 ∪ </m:t>
                      </m:r>
                      <m:r>
                        <a:rPr lang="pt-BR" sz="1600" b="0" i="1" u="sng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‘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7333093-9209-DCC1-A686-AD7B28123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98" y="4549295"/>
                <a:ext cx="4002595" cy="36862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ABB9D8A-19D7-9AB0-4C6C-038350EC8AB5}"/>
                  </a:ext>
                </a:extLst>
              </p:cNvPr>
              <p:cNvSpPr txBox="1"/>
              <p:nvPr/>
            </p:nvSpPr>
            <p:spPr>
              <a:xfrm>
                <a:off x="4211446" y="5008885"/>
                <a:ext cx="5804189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IN" sz="1600" b="1" i="0" dirty="0">
                    <a:solidFill>
                      <a:schemeClr val="tx1"/>
                    </a:solidFill>
                    <a:effectLst/>
                  </a:rPr>
                  <a:t>Fuzzy Transitivity: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en-US" sz="16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en-US" sz="16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en-US" sz="16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IN" sz="1600" b="1" i="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ABB9D8A-19D7-9AB0-4C6C-038350EC8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446" y="5008885"/>
                <a:ext cx="5804189" cy="368627"/>
              </a:xfrm>
              <a:prstGeom prst="rect">
                <a:avLst/>
              </a:prstGeom>
              <a:blipFill>
                <a:blip r:embed="rId19"/>
                <a:stretch>
                  <a:fillRect l="-630" t="-6667" b="-1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62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6" grpId="0"/>
      <p:bldP spid="18" grpId="0"/>
      <p:bldP spid="20" grpId="0"/>
      <p:bldP spid="22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42" grpId="0"/>
      <p:bldP spid="44" grpId="0"/>
      <p:bldP spid="46" grpId="0"/>
      <p:bldP spid="48" grpId="0"/>
      <p:bldP spid="50" grpId="0"/>
      <p:bldP spid="59" grpId="0"/>
      <p:bldP spid="61" grpId="0"/>
      <p:bldP spid="63" grpId="0"/>
      <p:bldP spid="65" grpId="0"/>
      <p:bldP spid="67" grpId="0"/>
      <p:bldP spid="69" grpId="0"/>
      <p:bldP spid="71" grpId="0"/>
      <p:bldP spid="73" grpId="0"/>
      <p:bldP spid="7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24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FB45F64F-923F-960A-8765-2324652F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261344" cy="167103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Unit-I: </a:t>
            </a:r>
            <a:r>
              <a:rPr lang="en-US" dirty="0">
                <a:solidFill>
                  <a:srgbClr val="FF0000"/>
                </a:solidFill>
              </a:rPr>
              <a:t>Crisp and Fuzzy relations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3CDE7-07EC-9E83-76B1-7B067367F8A4}"/>
              </a:ext>
            </a:extLst>
          </p:cNvPr>
          <p:cNvSpPr txBox="1"/>
          <p:nvPr/>
        </p:nvSpPr>
        <p:spPr>
          <a:xfrm>
            <a:off x="2924171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Crisp and Fuzzy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1FABB8-A385-C639-33A1-07D332585FC3}"/>
                  </a:ext>
                </a:extLst>
              </p:cNvPr>
              <p:cNvSpPr txBox="1"/>
              <p:nvPr/>
            </p:nvSpPr>
            <p:spPr>
              <a:xfrm>
                <a:off x="302705" y="335009"/>
                <a:ext cx="9492925" cy="5142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Crisp relation</a:t>
                </a:r>
              </a:p>
              <a:p>
                <a:pPr algn="l" fontAlgn="base"/>
                <a:endParaRPr lang="en-US" sz="1800" dirty="0">
                  <a:solidFill>
                    <a:schemeClr val="tx1"/>
                  </a:solidFill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It is defined over the cartesian product of two </a:t>
                </a:r>
                <a:r>
                  <a:rPr lang="en-US" sz="1800" b="0" i="0" u="none" strike="noStrike" dirty="0">
                    <a:solidFill>
                      <a:schemeClr val="tx1"/>
                    </a:solidFill>
                    <a:effectLst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crisp sets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. </a:t>
                </a: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dirty="0"/>
                  <a:t>T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he Cartesian product denoted as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is a collection of order pairs, such that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 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 | 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} </m:t>
                    </m:r>
                  </m:oMath>
                </a14:m>
                <a:endParaRPr lang="en-US" sz="1800" dirty="0"/>
              </a:p>
              <a:p>
                <a:pPr algn="l" fontAlgn="base">
                  <a:buClr>
                    <a:srgbClr val="0070C0"/>
                  </a:buClr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				</a:t>
                </a:r>
                <a:endParaRPr lang="en-US" sz="1800" b="0" i="0" dirty="0">
                  <a:solidFill>
                    <a:srgbClr val="C00000"/>
                  </a:solidFill>
                  <a:effectLst/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Crisp relation is set of order pairs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from Cartesian product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>
                  <a:solidFill>
                    <a:schemeClr val="tx1"/>
                  </a:solidFill>
                </a:endParaRPr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1" i="0" dirty="0">
                    <a:solidFill>
                      <a:schemeClr val="tx1"/>
                    </a:solidFill>
                    <a:effectLst/>
                  </a:rPr>
                  <a:t>Note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× 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1800" b="0" i="1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</a:endParaRPr>
              </a:p>
              <a:p>
                <a:pPr algn="l" fontAlgn="base">
                  <a:buClr>
                    <a:srgbClr val="0070C0"/>
                  </a:buClr>
                </a:pPr>
                <a:r>
                  <a:rPr lang="en-US" sz="1800" b="0" dirty="0">
                    <a:solidFill>
                      <a:srgbClr val="0070C0"/>
                    </a:solidFill>
                    <a:effectLst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provides a mapping from 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fontAlgn="base">
                  <a:buClr>
                    <a:srgbClr val="0070C0"/>
                  </a:buClr>
                </a:pPr>
                <a:r>
                  <a:rPr lang="en-US" sz="1800" dirty="0">
                    <a:solidFill>
                      <a:schemeClr val="tx1"/>
                    </a:solidFill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</a:t>
                </a:r>
                <a:r>
                  <a:rPr lang="en-US" sz="1800" dirty="0"/>
                  <a:t>(cardinality of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/>
                  <a:t>)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denotes no. of elements in set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denotes no. of order pairs in cartesian product.</a:t>
                </a:r>
              </a:p>
              <a:p>
                <a:pPr marL="285750" indent="-285750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>
                  <a:solidFill>
                    <a:schemeClr val="tx1"/>
                  </a:solidFill>
                </a:endParaRPr>
              </a:p>
              <a:p>
                <a:pPr marL="285750" indent="-285750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dirty="0">
                    <a:solidFill>
                      <a:schemeClr val="tx1"/>
                    </a:solidFill>
                  </a:rPr>
                  <a:t>Characteristic function can be given as, 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800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0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800" b="0" i="0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b="0" i="0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sub>
                    </m:sSub>
                    <m:r>
                      <a:rPr lang="en-US" sz="1800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1    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800" b="0" i="1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0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800" b="0" i="0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0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0   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800" b="0" i="1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0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800" b="0" i="0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0" dirty="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800" b="0" i="0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1FABB8-A385-C639-33A1-07D332585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5" y="335009"/>
                <a:ext cx="9492925" cy="5142177"/>
              </a:xfrm>
              <a:prstGeom prst="rect">
                <a:avLst/>
              </a:prstGeom>
              <a:blipFill>
                <a:blip r:embed="rId4"/>
                <a:stretch>
                  <a:fillRect l="-578" t="-712" r="-4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15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25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03FF20-923C-5AAD-94F4-A778DDE035C6}"/>
                  </a:ext>
                </a:extLst>
              </p:cNvPr>
              <p:cNvSpPr txBox="1"/>
              <p:nvPr/>
            </p:nvSpPr>
            <p:spPr>
              <a:xfrm>
                <a:off x="355622" y="528033"/>
                <a:ext cx="9209043" cy="40041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Crisp relation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dirty="0">
                    <a:solidFill>
                      <a:srgbClr val="0070C0"/>
                    </a:solidFill>
                  </a:rPr>
                  <a:t>Example</a:t>
                </a:r>
                <a:r>
                  <a:rPr lang="en-US" sz="1800" dirty="0"/>
                  <a:t>: </a:t>
                </a:r>
                <a:r>
                  <a:rPr lang="en-US" sz="1800" b="0" i="0" dirty="0">
                    <a:effectLst/>
                  </a:rPr>
                  <a:t>Consider two crisp sets: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a) Find Cartesian product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b) Also find relation R over this Cartesian product such that 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| 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>
                  <a:buFont typeface="Arial" panose="020B0604020202020204" pitchFamily="34" charset="0"/>
                  <a:buChar char="•"/>
                </a:pPr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1" i="0" dirty="0">
                    <a:effectLst/>
                  </a:rPr>
                  <a:t>Solution:</a:t>
                </a:r>
              </a:p>
              <a:p>
                <a:pPr fontAlgn="base"/>
                <a:r>
                  <a:rPr lang="en-US" sz="1800" b="0" i="0" dirty="0">
                    <a:effectLst/>
                  </a:rPr>
                  <a:t>a) Cartesian product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dirty="0"/>
                  <a:t>b) R</a:t>
                </a:r>
                <a:r>
                  <a:rPr lang="fr-FR" sz="1800" b="0" i="0" dirty="0" err="1">
                    <a:effectLst/>
                  </a:rPr>
                  <a:t>elation</a:t>
                </a:r>
                <a:r>
                  <a:rPr lang="fr-FR" sz="1800" b="0" i="0" dirty="0"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={(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fr-F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03FF20-923C-5AAD-94F4-A778DDE03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2" y="528033"/>
                <a:ext cx="9209043" cy="4004109"/>
              </a:xfrm>
              <a:prstGeom prst="rect">
                <a:avLst/>
              </a:prstGeom>
              <a:blipFill>
                <a:blip r:embed="rId3"/>
                <a:stretch>
                  <a:fillRect l="-529" t="-915" b="-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8169E9D-7CBB-9B20-A396-45A8669DE79D}"/>
              </a:ext>
            </a:extLst>
          </p:cNvPr>
          <p:cNvSpPr txBox="1"/>
          <p:nvPr/>
        </p:nvSpPr>
        <p:spPr>
          <a:xfrm>
            <a:off x="2924171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Crisp and Fuzzy relations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A47710-ED7A-5C32-2594-1795C10BCC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3643129" cy="167103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Crisp and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483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26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D47765-473E-F037-B34F-30F7F03A72F9}"/>
                  </a:ext>
                </a:extLst>
              </p:cNvPr>
              <p:cNvSpPr txBox="1"/>
              <p:nvPr/>
            </p:nvSpPr>
            <p:spPr>
              <a:xfrm>
                <a:off x="291018" y="548846"/>
                <a:ext cx="9338251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Font typeface="Wingdings" panose="05000000000000000000" pitchFamily="2" charset="2"/>
                  <a:buChar char="§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Representation of crisp relation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§"/>
                </a:pPr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	We can represent crisp relation in various ways. 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§"/>
                </a:pPr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	Consider the relation R defined over set A and B as,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§"/>
                </a:pPr>
                <a:endParaRPr lang="en-US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{1, 2, 3},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{4, 5, 6},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{(2, 4), (3, 5)}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marL="285750" indent="-285750" algn="l" fontAlgn="base">
                  <a:buFont typeface="Wingdings" panose="05000000000000000000" pitchFamily="2" charset="2"/>
                  <a:buChar char="§"/>
                </a:pPr>
                <a:endParaRPr lang="en-US" sz="1800" b="0" i="0" dirty="0">
                  <a:effectLst/>
                </a:endParaRPr>
              </a:p>
              <a:p>
                <a:pPr marL="285750" indent="-285750" algn="l" fontAlgn="base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solidFill>
                      <a:srgbClr val="C00000"/>
                    </a:solidFill>
                  </a:rPr>
                  <a:t>P</a:t>
                </a: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opular representations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D47765-473E-F037-B34F-30F7F03A7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8" y="548846"/>
                <a:ext cx="9338251" cy="2585323"/>
              </a:xfrm>
              <a:prstGeom prst="rect">
                <a:avLst/>
              </a:prstGeom>
              <a:blipFill>
                <a:blip r:embed="rId3"/>
                <a:stretch>
                  <a:fillRect l="-457" t="-1179" b="-2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A58924C-FB90-CFC8-6C7E-0993822EA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437" y="3228068"/>
            <a:ext cx="2656337" cy="21362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8A92E7-792B-3428-9BEB-F9120A459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816" y="3282324"/>
            <a:ext cx="2498426" cy="1627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023EEA-4FD9-D326-05DB-3ABD0921F620}"/>
              </a:ext>
            </a:extLst>
          </p:cNvPr>
          <p:cNvSpPr txBox="1"/>
          <p:nvPr/>
        </p:nvSpPr>
        <p:spPr>
          <a:xfrm>
            <a:off x="2924171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Crisp and Fuzzy relations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19956AB-2930-7F8B-C233-6E92A4AF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3643129" cy="167103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Crisp and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29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27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41554-9EEB-85AD-BA1E-319AB3A3E995}"/>
              </a:ext>
            </a:extLst>
          </p:cNvPr>
          <p:cNvSpPr txBox="1"/>
          <p:nvPr/>
        </p:nvSpPr>
        <p:spPr>
          <a:xfrm>
            <a:off x="2924171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Crisp and Fuzzy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CFF447-E70D-FCDD-E701-F71D857D4C87}"/>
                  </a:ext>
                </a:extLst>
              </p:cNvPr>
              <p:cNvSpPr txBox="1"/>
              <p:nvPr/>
            </p:nvSpPr>
            <p:spPr>
              <a:xfrm>
                <a:off x="317800" y="388755"/>
                <a:ext cx="9338252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0C0"/>
                  </a:buClr>
                </a:pPr>
                <a:r>
                  <a:rPr lang="en-US" sz="1800" b="0" i="0" dirty="0">
                    <a:solidFill>
                      <a:srgbClr val="C00000"/>
                    </a:solidFill>
                    <a:effectLst/>
                  </a:rPr>
                  <a:t>Fuzzy relation</a:t>
                </a:r>
              </a:p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b="0" i="0" dirty="0">
                  <a:effectLst/>
                </a:endParaRPr>
              </a:p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Fuzzy relation defines the mapping of variables from one </a:t>
                </a:r>
                <a:r>
                  <a:rPr lang="en-US" sz="1800" b="0" i="0" u="none" strike="noStrike" dirty="0">
                    <a:effectLst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fuzzy set</a:t>
                </a:r>
                <a:r>
                  <a:rPr lang="en-US" sz="1800" b="0" i="0" dirty="0">
                    <a:effectLst/>
                  </a:rPr>
                  <a:t> to another.</a:t>
                </a:r>
              </a:p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Let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 be a fuzzy set on universe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and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effectLst/>
                  </a:rPr>
                  <a:t> be fuzzy set on universe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b="0" i="0" dirty="0">
                    <a:effectLst/>
                  </a:rPr>
                  <a:t>, </a:t>
                </a:r>
              </a:p>
              <a:p>
                <a:pPr lvl="1">
                  <a:buClr>
                    <a:srgbClr val="0070C0"/>
                  </a:buClr>
                </a:pPr>
                <a:r>
                  <a:rPr lang="en-US" sz="1800" b="0" i="0" dirty="0">
                    <a:effectLst/>
                  </a:rPr>
                  <a:t>Cartesian product between 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effectLst/>
                  </a:rPr>
                  <a:t> will result in a fuzzy relation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which is contained with the full Cartesian product space, or it is subset of cartesian product of fuzzy subsets.</a:t>
                </a:r>
              </a:p>
              <a:p>
                <a:pPr marL="285750" indent="-285750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Formally, we can define fuzzy relation as,</a:t>
                </a: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18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ctr" fontAlgn="base"/>
                <a:r>
                  <a:rPr lang="en-US" sz="1800" b="0" i="0" dirty="0">
                    <a:effectLst/>
                  </a:rPr>
                  <a:t>and</a:t>
                </a: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⊂ 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ctr" fontAlgn="base"/>
                <a:endParaRPr lang="en-US" sz="1800" dirty="0"/>
              </a:p>
              <a:p>
                <a:pPr algn="ctr" fontAlgn="base"/>
                <a:r>
                  <a:rPr lang="en-US" sz="1800" b="0" i="0" dirty="0">
                    <a:effectLst/>
                  </a:rPr>
                  <a:t>where the relation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has membership function,</a:t>
                </a: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u="sng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n-US" sz="1800" b="0" i="1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1800" b="0" i="1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CFF447-E70D-FCDD-E701-F71D857D4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00" y="388755"/>
                <a:ext cx="9338252" cy="4801314"/>
              </a:xfrm>
              <a:prstGeom prst="rect">
                <a:avLst/>
              </a:prstGeom>
              <a:blipFill>
                <a:blip r:embed="rId4"/>
                <a:stretch>
                  <a:fillRect l="-522" t="-762" r="-783" b="-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27ACEF9-3F0B-D0B7-1028-4D15843C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3643129" cy="167103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Crisp and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782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28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E3F1EE-8C58-DD5D-4B0D-E32BA4D14B38}"/>
                  </a:ext>
                </a:extLst>
              </p:cNvPr>
              <p:cNvSpPr txBox="1"/>
              <p:nvPr/>
            </p:nvSpPr>
            <p:spPr>
              <a:xfrm>
                <a:off x="302706" y="436524"/>
                <a:ext cx="9136964" cy="1234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Fuzzy relation</a:t>
                </a:r>
              </a:p>
              <a:p>
                <a:endParaRPr lang="en-US" sz="1800" i="0" dirty="0">
                  <a:effectLst/>
                </a:endParaRPr>
              </a:p>
              <a:p>
                <a:r>
                  <a:rPr lang="en-US" sz="1800" i="0" dirty="0">
                    <a:effectLst/>
                  </a:rPr>
                  <a:t>Let </a:t>
                </a:r>
                <a14:m>
                  <m:oMath xmlns:m="http://schemas.openxmlformats.org/officeDocument/2006/math">
                    <m:r>
                      <a:rPr lang="en-US" sz="180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1800" i="0" dirty="0">
                    <a:effectLst/>
                  </a:rPr>
                  <a:t>and </a:t>
                </a:r>
                <a14:m>
                  <m:oMath xmlns:m="http://schemas.openxmlformats.org/officeDocument/2006/math">
                    <m:r>
                      <a:rPr lang="en-US" sz="180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..,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𝑏𝑚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}, </m:t>
                    </m:r>
                  </m:oMath>
                </a14:m>
                <a:r>
                  <a:rPr lang="en-US" sz="1800" i="0" dirty="0">
                    <a:effectLst/>
                  </a:rPr>
                  <a:t>then fuzzy relation between </a:t>
                </a:r>
                <a14:m>
                  <m:oMath xmlns:m="http://schemas.openxmlformats.org/officeDocument/2006/math">
                    <m:r>
                      <a:rPr lang="en-US" sz="180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i="0" dirty="0">
                    <a:effectLst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180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i="0" dirty="0">
                    <a:effectLst/>
                  </a:rPr>
                  <a:t> is described by the fuzzy relation matrix as,</a:t>
                </a:r>
                <a:endParaRPr lang="en-IN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E3F1EE-8C58-DD5D-4B0D-E32BA4D14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436524"/>
                <a:ext cx="9136964" cy="1234120"/>
              </a:xfrm>
              <a:prstGeom prst="rect">
                <a:avLst/>
              </a:prstGeom>
              <a:blipFill>
                <a:blip r:embed="rId3"/>
                <a:stretch>
                  <a:fillRect l="-600" t="-2970" b="-74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B77CFA7-A84B-ADF7-B1AB-2FF6574AD6F0}"/>
              </a:ext>
            </a:extLst>
          </p:cNvPr>
          <p:cNvSpPr txBox="1"/>
          <p:nvPr/>
        </p:nvSpPr>
        <p:spPr>
          <a:xfrm>
            <a:off x="2924171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Crisp and Fuzzy relations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3CD596-A321-2A94-EB6C-504EA7D4A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73" y="1786120"/>
            <a:ext cx="3493915" cy="1270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7158B2-1794-FC07-CE86-A29C28481764}"/>
                  </a:ext>
                </a:extLst>
              </p:cNvPr>
              <p:cNvSpPr txBox="1"/>
              <p:nvPr/>
            </p:nvSpPr>
            <p:spPr>
              <a:xfrm>
                <a:off x="302706" y="3279247"/>
                <a:ext cx="93879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1" i="0" dirty="0">
                    <a:effectLst/>
                  </a:rPr>
                  <a:t>Example-1</a:t>
                </a:r>
                <a:r>
                  <a:rPr lang="en-US" sz="1800" i="0" dirty="0">
                    <a:effectLst/>
                  </a:rPr>
                  <a:t>:</a:t>
                </a:r>
              </a:p>
              <a:p>
                <a:pPr fontAlgn="base"/>
                <a:r>
                  <a:rPr lang="en-US" sz="1800" i="0" dirty="0">
                    <a:effectLst/>
                  </a:rPr>
                  <a:t>Given </a:t>
                </a:r>
                <a14:m>
                  <m:oMath xmlns:m="http://schemas.openxmlformats.org/officeDocument/2006/math">
                    <m:r>
                      <a:rPr lang="en-US" sz="180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 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}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 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)}, </m:t>
                    </m:r>
                  </m:oMath>
                </a14:m>
                <a:r>
                  <a:rPr lang="en-US" sz="1800" i="0" dirty="0">
                    <a:effectLst/>
                  </a:rPr>
                  <a:t> the fuzzy relation (cartesian product) over </a:t>
                </a:r>
                <a14:m>
                  <m:oMath xmlns:m="http://schemas.openxmlformats.org/officeDocument/2006/math">
                    <m:r>
                      <a:rPr lang="en-US" sz="180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7158B2-1794-FC07-CE86-A29C28481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3279247"/>
                <a:ext cx="9387946" cy="923330"/>
              </a:xfrm>
              <a:prstGeom prst="rect">
                <a:avLst/>
              </a:prstGeom>
              <a:blipFill>
                <a:blip r:embed="rId5"/>
                <a:stretch>
                  <a:fillRect l="-584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693E8C7-5F7B-17F8-FB92-756E8F8FF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061" y="4202577"/>
            <a:ext cx="2749134" cy="1058244"/>
          </a:xfrm>
          <a:prstGeom prst="rect">
            <a:avLst/>
          </a:prstGeom>
        </p:spPr>
      </p:pic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5AC7F7F-185D-64FB-EC40-F0E90224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3643129" cy="167103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Crisp and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4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29</a:t>
            </a:fld>
            <a:endParaRPr lang="en-IN" sz="1058" spc="-1">
              <a:latin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0822E-ABCF-5829-3694-6653DB6A7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626" y="670066"/>
            <a:ext cx="2137343" cy="1353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0F2514-3BB5-2E0F-E4A3-36245405E209}"/>
              </a:ext>
            </a:extLst>
          </p:cNvPr>
          <p:cNvSpPr txBox="1"/>
          <p:nvPr/>
        </p:nvSpPr>
        <p:spPr>
          <a:xfrm>
            <a:off x="2924171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Crisp and Fuzzy relations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CD047-F4E4-8257-CA48-6B72A3FB3301}"/>
              </a:ext>
            </a:extLst>
          </p:cNvPr>
          <p:cNvSpPr txBox="1"/>
          <p:nvPr/>
        </p:nvSpPr>
        <p:spPr>
          <a:xfrm>
            <a:off x="302705" y="403022"/>
            <a:ext cx="274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00B050"/>
                </a:solidFill>
                <a:effectLst/>
              </a:rPr>
              <a:t>Fuzzy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274EAD-5D70-9DAE-D9BA-44927B640A0A}"/>
                  </a:ext>
                </a:extLst>
              </p:cNvPr>
              <p:cNvSpPr txBox="1"/>
              <p:nvPr/>
            </p:nvSpPr>
            <p:spPr>
              <a:xfrm>
                <a:off x="302705" y="898021"/>
                <a:ext cx="69429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C00000"/>
                    </a:solidFill>
                  </a:rPr>
                  <a:t>2. For the given fuzzy sets, find the relation 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by performing cartesian product over the sets </a:t>
                </a:r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274EAD-5D70-9DAE-D9BA-44927B640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5" y="898021"/>
                <a:ext cx="6942921" cy="646331"/>
              </a:xfrm>
              <a:prstGeom prst="rect">
                <a:avLst/>
              </a:prstGeom>
              <a:blipFill>
                <a:blip r:embed="rId4"/>
                <a:stretch>
                  <a:fillRect l="-790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31102C2-B95D-3A42-568C-4C0CFD15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3643129" cy="167103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Crisp and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716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30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E04A7-28A4-CAAA-19DB-B19BAE291105}"/>
                  </a:ext>
                </a:extLst>
              </p:cNvPr>
              <p:cNvSpPr txBox="1"/>
              <p:nvPr/>
            </p:nvSpPr>
            <p:spPr>
              <a:xfrm>
                <a:off x="417964" y="335009"/>
                <a:ext cx="9292566" cy="3887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Fuzzy relation</a:t>
                </a:r>
              </a:p>
              <a:p>
                <a:endParaRPr lang="en-US" sz="1800" dirty="0"/>
              </a:p>
              <a:p>
                <a:pPr algn="l" fontAlgn="base"/>
                <a:r>
                  <a:rPr lang="en-US" sz="1800" b="1" i="0" dirty="0">
                    <a:effectLst/>
                  </a:rPr>
                  <a:t>Example-3:</a:t>
                </a:r>
                <a:r>
                  <a:rPr lang="en-US" sz="1800" b="0" i="0" dirty="0">
                    <a:effectLst/>
                  </a:rPr>
                  <a:t> </a:t>
                </a:r>
              </a:p>
              <a:p>
                <a:pPr algn="l" fontAlgn="base"/>
                <a:r>
                  <a:rPr lang="en-US" sz="1800" dirty="0"/>
                  <a:t>Find</a:t>
                </a:r>
                <a:r>
                  <a:rPr lang="en-US" sz="1800" b="0" i="0" dirty="0">
                    <a:effectLst/>
                  </a:rPr>
                  <a:t> fuzzy relation 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{1, 2, 3}, </m:t>
                    </m:r>
                  </m:oMath>
                </a14:m>
                <a:r>
                  <a:rPr lang="en-US" sz="1800" b="0" i="0" dirty="0">
                    <a:effectLst/>
                  </a:rPr>
                  <a:t>where the membership function of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is given by,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u="sng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800" b="0" i="1" u="sng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dirty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0" i="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sz="1800" b="0" i="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IN" sz="1800" b="0" i="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  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IN" sz="1800" b="0" i="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b="0" i="0" dirty="0" smtClean="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800" b="0" i="1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800" b="0" i="0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IN" sz="1800" b="0" i="0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.7</m:t>
                                    </m:r>
                                    <m:r>
                                      <a:rPr lang="en-US" sz="1800" b="0" i="0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0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sz="1800" b="0" i="0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IN" sz="1800" b="0" i="0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b="0" i="0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en-IN" sz="1800" b="0" i="0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b="0" i="0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</m:d>
                                    <m:r>
                                      <a:rPr lang="en-IN" sz="1800" b="0" i="0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e>
                                  <m:e>
                                    <m:r>
                                      <a:rPr lang="en-IN" sz="1800" b="0" i="1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0.3  </m:t>
                                    </m:r>
                                    <m:r>
                                      <a:rPr lang="en-IN" sz="1800" b="0" i="1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IN" sz="1800" b="0" i="1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IN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1800" b="0" i="1" dirty="0" smtClean="0"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n-IN" sz="1800" b="0" i="1" dirty="0" smtClean="0"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=2 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b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dirty="0"/>
              </a:p>
              <a:p>
                <a:pPr algn="l" fontAlgn="base"/>
                <a:r>
                  <a:rPr lang="en-US" sz="1800" dirty="0"/>
                  <a:t>Solution: </a:t>
                </a:r>
                <a:endParaRPr lang="en-US" sz="1800" b="0" i="0" dirty="0"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(1, 1) = </m:t>
                      </m:r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(2, 2) = </m:t>
                      </m:r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(3, 3) = 1</m:t>
                      </m:r>
                    </m:oMath>
                  </m:oMathPara>
                </a14:m>
                <a:endParaRPr lang="en-US" sz="1800" dirty="0">
                  <a:solidFill>
                    <a:srgbClr val="0070C0"/>
                  </a:solidFill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(1, 2) = </m:t>
                      </m:r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(2, 1) = </m:t>
                      </m:r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(2, 3) = </m:t>
                      </m:r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(3, 2) = 0.7</m:t>
                      </m:r>
                    </m:oMath>
                  </m:oMathPara>
                </a14:m>
                <a:endParaRPr lang="en-US" sz="1800" dirty="0">
                  <a:solidFill>
                    <a:srgbClr val="0070C0"/>
                  </a:solidFill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(1, 3) = </m:t>
                      </m:r>
                      <m:r>
                        <a:rPr lang="en-US" sz="1800" i="1" u="sng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(3, 1) = 0.3</m:t>
                      </m:r>
                    </m:oMath>
                  </m:oMathPara>
                </a14:m>
                <a:endParaRPr lang="en-US" sz="1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E04A7-28A4-CAAA-19DB-B19BAE291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64" y="335009"/>
                <a:ext cx="9292566" cy="3887987"/>
              </a:xfrm>
              <a:prstGeom prst="rect">
                <a:avLst/>
              </a:prstGeom>
              <a:blipFill>
                <a:blip r:embed="rId3"/>
                <a:stretch>
                  <a:fillRect l="-591" t="-940" b="-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2E711E9-FEA3-178D-FA4E-3862AED20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037" y="3745515"/>
            <a:ext cx="2399979" cy="12623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FC372E-5B05-8FA0-AC4C-B151F1B12B8F}"/>
              </a:ext>
            </a:extLst>
          </p:cNvPr>
          <p:cNvSpPr txBox="1"/>
          <p:nvPr/>
        </p:nvSpPr>
        <p:spPr>
          <a:xfrm>
            <a:off x="2924171" y="-79416"/>
            <a:ext cx="4071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Crisp and Fuzzy relations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07681A6A-CA64-522E-E4DB-C2B67FBA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3643129" cy="167103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Crisp and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43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F62F2-15B8-45A7-8C46-364189CA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Operations on Crisp relations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31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C0710F-8384-DFF1-B7C8-E178CCA82B52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Crisp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334B14-9549-443D-EDB7-919D19CAEB9C}"/>
                  </a:ext>
                </a:extLst>
              </p:cNvPr>
              <p:cNvSpPr txBox="1"/>
              <p:nvPr/>
            </p:nvSpPr>
            <p:spPr>
              <a:xfrm>
                <a:off x="302706" y="482235"/>
                <a:ext cx="938794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666666"/>
                    </a:solidFill>
                  </a:rPr>
                  <a:t>Let</a:t>
                </a:r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are the two relations defined over two crisp sets, where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.</a:t>
                </a:r>
              </a:p>
              <a:p>
                <a:endParaRPr lang="en-US" sz="1800" b="0" i="0" dirty="0">
                  <a:solidFill>
                    <a:srgbClr val="666666"/>
                  </a:solidFill>
                  <a:effectLst/>
                </a:endParaRPr>
              </a:p>
              <a:p>
                <a:r>
                  <a:rPr lang="en-IN" sz="1800" dirty="0">
                    <a:solidFill>
                      <a:srgbClr val="666666"/>
                    </a:solidFill>
                  </a:rPr>
                  <a:t>R</a:t>
                </a:r>
                <a:r>
                  <a:rPr lang="en-IN" sz="1800" b="0" i="0" dirty="0">
                    <a:solidFill>
                      <a:srgbClr val="666666"/>
                    </a:solidFill>
                    <a:effectLst/>
                  </a:rPr>
                  <a:t>elations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sz="1800" b="0" i="0" dirty="0">
                    <a:solidFill>
                      <a:srgbClr val="666666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sz="1800" b="0" i="0" dirty="0">
                    <a:solidFill>
                      <a:srgbClr val="666666"/>
                    </a:solidFill>
                    <a:effectLst/>
                  </a:rPr>
                  <a:t> given as, </a:t>
                </a:r>
                <a:endParaRPr lang="en-IN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334B14-9549-443D-EDB7-919D19CAE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482235"/>
                <a:ext cx="9387946" cy="1200329"/>
              </a:xfrm>
              <a:prstGeom prst="rect">
                <a:avLst/>
              </a:prstGeom>
              <a:blipFill>
                <a:blip r:embed="rId3"/>
                <a:stretch>
                  <a:fillRect l="-584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0DA961C-5E84-6DA6-1C6A-B716BD0F2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872" y="1803278"/>
            <a:ext cx="1552575" cy="923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DA705A-8F07-C23E-4C95-5C305E23C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755" y="1792075"/>
            <a:ext cx="1552575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0C2589-FEF5-0328-B642-B62DA13A2A51}"/>
                  </a:ext>
                </a:extLst>
              </p:cNvPr>
              <p:cNvSpPr txBox="1"/>
              <p:nvPr/>
            </p:nvSpPr>
            <p:spPr>
              <a:xfrm>
                <a:off x="302706" y="2944895"/>
                <a:ext cx="614186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Union of crisp relation</a:t>
                </a:r>
              </a:p>
              <a:p>
                <a:pPr algn="l" fontAlgn="base"/>
                <a:endParaRPr lang="en-US" sz="1800" b="1" i="0" dirty="0">
                  <a:solidFill>
                    <a:srgbClr val="777777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rgbClr val="666666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Union of relations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 is given as,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0C2589-FEF5-0328-B642-B62DA13A2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2944895"/>
                <a:ext cx="6141862" cy="1477328"/>
              </a:xfrm>
              <a:prstGeom prst="rect">
                <a:avLst/>
              </a:prstGeom>
              <a:blipFill>
                <a:blip r:embed="rId6"/>
                <a:stretch>
                  <a:fillRect l="-894" t="-2066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F500F41F-3EB6-F05C-103E-D9DA4CD16F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2104" y="4479182"/>
            <a:ext cx="19335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5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F62F2-15B8-45A7-8C46-364189CA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9"/>
            <a:ext cx="3271370" cy="164446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 err="1">
                <a:solidFill>
                  <a:srgbClr val="FF0000"/>
                </a:solidFill>
              </a:rPr>
              <a:t>Algoritm</a:t>
            </a:r>
            <a:r>
              <a:rPr lang="en-US" dirty="0">
                <a:solidFill>
                  <a:srgbClr val="FF0000"/>
                </a:solidFill>
              </a:rPr>
              <a:t> Efficiency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32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D54BBE-5565-81A5-650D-E553A9A5572A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Crisp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4FC837-951E-0E97-E313-086ABE8F005D}"/>
                  </a:ext>
                </a:extLst>
              </p:cNvPr>
              <p:cNvSpPr txBox="1"/>
              <p:nvPr/>
            </p:nvSpPr>
            <p:spPr>
              <a:xfrm>
                <a:off x="194632" y="381987"/>
                <a:ext cx="505017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Intersection of crisp relation</a:t>
                </a:r>
              </a:p>
              <a:p>
                <a:pPr algn="l" fontAlgn="base"/>
                <a:endParaRPr lang="en-US" sz="1800" b="1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 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)= </m:t>
                      </m:r>
                      <m:r>
                        <m:rPr>
                          <m:sty m:val="p"/>
                        </m:rP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Intersection of relations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given as,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4FC837-951E-0E97-E313-086ABE8F0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32" y="381987"/>
                <a:ext cx="5050179" cy="1754326"/>
              </a:xfrm>
              <a:prstGeom prst="rect">
                <a:avLst/>
              </a:prstGeom>
              <a:blipFill>
                <a:blip r:embed="rId3"/>
                <a:stretch>
                  <a:fillRect l="-1087" t="-2091" b="-4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C61BD50-8422-49B0-D26D-067514498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957" y="1834498"/>
            <a:ext cx="2138516" cy="10334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1E88F9-F14E-BB72-7AA7-6502E0DC2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914" y="778807"/>
            <a:ext cx="1552575" cy="923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8C8500-FB4A-B96C-F8BC-443ADA84A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9019" y="768868"/>
            <a:ext cx="1552575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D87B-201B-5350-608D-EFC4163F0D60}"/>
                  </a:ext>
                </a:extLst>
              </p:cNvPr>
              <p:cNvSpPr txBox="1"/>
              <p:nvPr/>
            </p:nvSpPr>
            <p:spPr>
              <a:xfrm>
                <a:off x="223193" y="2874473"/>
                <a:ext cx="4885520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Complement of crisp relation</a:t>
                </a:r>
                <a:endParaRPr lang="en-US" sz="1800" dirty="0">
                  <a:solidFill>
                    <a:srgbClr val="C00000"/>
                  </a:solidFill>
                </a:endParaRPr>
              </a:p>
              <a:p>
                <a:pPr algn="l" fontAlgn="base"/>
                <a:endParaRPr lang="en-US" sz="1800" b="1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baseline="30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dirty="0"/>
                  <a:t>Complement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of given relation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R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,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D87B-201B-5350-608D-EFC4163F0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3" y="2874473"/>
                <a:ext cx="4885520" cy="1511119"/>
              </a:xfrm>
              <a:prstGeom prst="rect">
                <a:avLst/>
              </a:prstGeom>
              <a:blipFill>
                <a:blip r:embed="rId7"/>
                <a:stretch>
                  <a:fillRect l="-1124" t="-2429" b="-3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DE696EE-E4C1-429C-972F-C5F38A5151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6513" y="4371236"/>
            <a:ext cx="1724481" cy="9925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608295-798E-317F-A24E-169656426616}"/>
                  </a:ext>
                </a:extLst>
              </p:cNvPr>
              <p:cNvSpPr txBox="1"/>
              <p:nvPr/>
            </p:nvSpPr>
            <p:spPr>
              <a:xfrm>
                <a:off x="5187046" y="2045774"/>
                <a:ext cx="4449390" cy="2342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Containment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≤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Relation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is not contained within relation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Consider the relation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as given below: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608295-798E-317F-A24E-169656426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046" y="2045774"/>
                <a:ext cx="4449390" cy="2342116"/>
              </a:xfrm>
              <a:prstGeom prst="rect">
                <a:avLst/>
              </a:prstGeom>
              <a:blipFill>
                <a:blip r:embed="rId9"/>
                <a:stretch>
                  <a:fillRect l="-1233" t="-1563" r="-137" b="-3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C14A8450-BF15-213F-8D18-1B21319146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0964" y="4082605"/>
            <a:ext cx="1543050" cy="971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0D68C1-A648-EFE3-3218-AB174B51535B}"/>
                  </a:ext>
                </a:extLst>
              </p:cNvPr>
              <p:cNvSpPr txBox="1"/>
              <p:nvPr/>
            </p:nvSpPr>
            <p:spPr>
              <a:xfrm>
                <a:off x="5156952" y="4936511"/>
                <a:ext cx="441277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≤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is contained within T.</a:t>
                </a:r>
                <a:endParaRPr lang="en-IN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0D68C1-A648-EFE3-3218-AB174B515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952" y="4936511"/>
                <a:ext cx="4412777" cy="646331"/>
              </a:xfrm>
              <a:prstGeom prst="rect">
                <a:avLst/>
              </a:prstGeom>
              <a:blipFill>
                <a:blip r:embed="rId11"/>
                <a:stretch>
                  <a:fillRect l="-1243" t="-5660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CC96AC0-9ADC-3937-BFC7-851ABB95DEEF}"/>
              </a:ext>
            </a:extLst>
          </p:cNvPr>
          <p:cNvCxnSpPr>
            <a:cxnSpLocks/>
          </p:cNvCxnSpPr>
          <p:nvPr/>
        </p:nvCxnSpPr>
        <p:spPr>
          <a:xfrm flipV="1">
            <a:off x="5108713" y="1890251"/>
            <a:ext cx="0" cy="36603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FDD65FD-9D23-76E5-620A-D6A45BEDBE51}"/>
              </a:ext>
            </a:extLst>
          </p:cNvPr>
          <p:cNvSpPr txBox="1">
            <a:spLocks/>
          </p:cNvSpPr>
          <p:nvPr/>
        </p:nvSpPr>
        <p:spPr>
          <a:xfrm>
            <a:off x="302706" y="5349458"/>
            <a:ext cx="3879398" cy="201161"/>
          </a:xfrm>
          <a:prstGeom prst="rect">
            <a:avLst/>
          </a:prstGeom>
          <a:pattFill prst="pct50">
            <a:fgClr>
              <a:srgbClr val="FE82EF"/>
            </a:fgClr>
            <a:bgClr>
              <a:schemeClr val="bg1"/>
            </a:bgClr>
          </a:patt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90200" rtl="0" eaLnBrk="1" latinLnBrk="0" hangingPunct="1">
              <a:defRPr sz="984" b="1" kern="1200" baseline="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1pPr>
            <a:lvl2pPr marL="495099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0200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5299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399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5499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99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5698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0799" algn="l" defTabSz="990200" rtl="0" eaLnBrk="1" latinLnBrk="0" hangingPunct="1"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Data Structures--&gt; Unit-I: </a:t>
            </a:r>
            <a:r>
              <a:rPr lang="en-US">
                <a:solidFill>
                  <a:srgbClr val="FF0000"/>
                </a:solidFill>
              </a:rPr>
              <a:t>Operations on Crisp relations</a:t>
            </a:r>
            <a:r>
              <a:rPr lang="en-US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21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33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7AA0E8-5ECB-D9DC-C7B3-4EC46345BCD6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Crisp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89F92-20D4-D274-32D6-EA22CA7C851F}"/>
                  </a:ext>
                </a:extLst>
              </p:cNvPr>
              <p:cNvSpPr txBox="1"/>
              <p:nvPr/>
            </p:nvSpPr>
            <p:spPr>
              <a:xfrm>
                <a:off x="302705" y="470011"/>
                <a:ext cx="9358129" cy="4424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Composition of crisp relations</a:t>
                </a:r>
              </a:p>
              <a:p>
                <a:pPr algn="l" fontAlgn="base">
                  <a:buClr>
                    <a:srgbClr val="0070C0"/>
                  </a:buClr>
                </a:pPr>
                <a:endParaRPr lang="en-US" sz="180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Composition of relation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effectLst/>
                  </a:rPr>
                  <a:t> is denoted as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∘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effectLst/>
                  </a:rPr>
                  <a:t>. Mathematically, it is defined as,</a:t>
                </a: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∘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|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ctr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Composition of relation is computed in two different ways: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r>
                  <a:rPr lang="en-US" sz="1800" b="0" i="0" strike="noStrike" dirty="0">
                    <a:effectLst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Max–min composition</a:t>
                </a:r>
                <a:endParaRPr lang="en-US" sz="1800" b="0" i="0" strike="noStrike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endParaRPr lang="en-US" sz="1800" b="0" i="0" strike="noStrike" dirty="0">
                  <a:effectLst/>
                </a:endParaRPr>
              </a:p>
              <a:p>
                <a:pPr lvl="1" fontAlgn="base"/>
                <a:r>
                  <a:rPr lang="en-US" sz="18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∘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0070C0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800" i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undOvr"/>
                        <m:grow m:val="on"/>
                        <m:supHide m:val="on"/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i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sz="18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sz="18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1800" dirty="0">
                  <a:solidFill>
                    <a:srgbClr val="0070C0"/>
                  </a:solidFill>
                </a:endParaRPr>
              </a:p>
              <a:p>
                <a:pPr lvl="1" fontAlgn="base"/>
                <a:endParaRPr lang="en-US" sz="1800" b="0" i="0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r>
                  <a:rPr lang="en-US" sz="1800" b="0" i="0" strike="noStrike" dirty="0">
                    <a:effectLst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Max–product composition</a:t>
                </a:r>
                <a:endParaRPr lang="en-US" sz="1800" b="0" i="0" strike="noStrike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endParaRPr lang="en-US" sz="1800" b="0" i="0" dirty="0">
                  <a:effectLst/>
                </a:endParaRPr>
              </a:p>
              <a:p>
                <a:pPr fontAlgn="base">
                  <a:buClr>
                    <a:srgbClr val="0070C0"/>
                  </a:buClr>
                </a:pPr>
                <a:r>
                  <a:rPr lang="en-US" sz="1800" i="0" dirty="0">
                    <a:effectLst/>
                  </a:rPr>
                  <a:t>	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∘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0070C0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8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undOvr"/>
                        <m:grow m:val="on"/>
                        <m:supHide m:val="on"/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1800" i="0" dirty="0"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89F92-20D4-D274-32D6-EA22CA7C8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5" y="470011"/>
                <a:ext cx="9358129" cy="4424160"/>
              </a:xfrm>
              <a:prstGeom prst="rect">
                <a:avLst/>
              </a:prstGeom>
              <a:blipFill>
                <a:blip r:embed="rId4"/>
                <a:stretch>
                  <a:fillRect l="-586" t="-689" b="-17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3711BF74-2C6B-C241-E40C-E6004F1696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Operations on Crisp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05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34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7E4EB-4ABD-1210-E48E-CEFFE833B6CD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Crisp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D38300-1D3B-B463-6FFF-D2F273E75EC0}"/>
                  </a:ext>
                </a:extLst>
              </p:cNvPr>
              <p:cNvSpPr txBox="1"/>
              <p:nvPr/>
            </p:nvSpPr>
            <p:spPr>
              <a:xfrm>
                <a:off x="372717" y="453096"/>
                <a:ext cx="9422911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Max-Min composition crisp relations</a:t>
                </a:r>
              </a:p>
              <a:p>
                <a:pPr algn="l" fontAlgn="base"/>
                <a:endParaRPr lang="en-US" sz="1800" b="1" i="0" dirty="0">
                  <a:solidFill>
                    <a:srgbClr val="444444"/>
                  </a:solidFill>
                  <a:effectLst/>
                </a:endParaRPr>
              </a:p>
              <a:p>
                <a:pPr algn="l" fontAlgn="base"/>
                <a:r>
                  <a:rPr lang="en-US" sz="1800" b="1" i="0" dirty="0">
                    <a:solidFill>
                      <a:srgbClr val="444444"/>
                    </a:solidFill>
                    <a:effectLst/>
                  </a:rPr>
                  <a:t>Example 1: </a:t>
                </a:r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 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}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 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},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find Max-Min composition of these relations.</a:t>
                </a:r>
              </a:p>
              <a:p>
                <a:pPr algn="l" fontAlgn="base"/>
                <a:endParaRPr lang="en-US" sz="1800" b="0" i="0" dirty="0">
                  <a:solidFill>
                    <a:srgbClr val="666666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The above relation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 we can represent as,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D38300-1D3B-B463-6FFF-D2F273E75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17" y="453096"/>
                <a:ext cx="9422911" cy="1754326"/>
              </a:xfrm>
              <a:prstGeom prst="rect">
                <a:avLst/>
              </a:prstGeom>
              <a:blipFill>
                <a:blip r:embed="rId3"/>
                <a:stretch>
                  <a:fillRect l="-517" t="-1736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36A0A95-F2C0-79E6-1D65-82B11A599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06" y="2282594"/>
            <a:ext cx="2124075" cy="190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DFC133-AC88-7A85-1092-E2880BAD6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219" y="2535703"/>
            <a:ext cx="3767739" cy="1476547"/>
          </a:xfrm>
          <a:prstGeom prst="rect">
            <a:avLst/>
          </a:prstGeom>
        </p:spPr>
      </p:pic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D5C61C1-28B0-FAE2-C420-BBDB7191D83E}"/>
              </a:ext>
            </a:extLst>
          </p:cNvPr>
          <p:cNvSpPr/>
          <p:nvPr/>
        </p:nvSpPr>
        <p:spPr>
          <a:xfrm>
            <a:off x="3216267" y="3202255"/>
            <a:ext cx="715618" cy="2782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B324C4-F8D6-F2B5-849C-C2BE9DC695C5}"/>
                  </a:ext>
                </a:extLst>
              </p:cNvPr>
              <p:cNvSpPr txBox="1"/>
              <p:nvPr/>
            </p:nvSpPr>
            <p:spPr>
              <a:xfrm>
                <a:off x="1952139" y="4583386"/>
                <a:ext cx="43011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800" dirty="0"/>
                  <a:t>We have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1800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∘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800" dirty="0"/>
                  <a:t>, where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B324C4-F8D6-F2B5-849C-C2BE9DC69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139" y="4583386"/>
                <a:ext cx="4301177" cy="369332"/>
              </a:xfrm>
              <a:prstGeom prst="rect">
                <a:avLst/>
              </a:prstGeom>
              <a:blipFill>
                <a:blip r:embed="rId6"/>
                <a:stretch>
                  <a:fillRect l="-1133" t="-10000" r="-283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B1387BC4-4286-6B90-4BE7-6C5C44EF7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2626" y="4070030"/>
            <a:ext cx="1941332" cy="1262996"/>
          </a:xfrm>
          <a:prstGeom prst="rect">
            <a:avLst/>
          </a:prstGeom>
        </p:spPr>
      </p:pic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FB1757C-E4E1-C583-D6CC-A131390FBC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Operations on Crisp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47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35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C0710F-8384-DFF1-B7C8-E178CCA82B52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334B14-9549-443D-EDB7-919D19CAEB9C}"/>
                  </a:ext>
                </a:extLst>
              </p:cNvPr>
              <p:cNvSpPr txBox="1"/>
              <p:nvPr/>
            </p:nvSpPr>
            <p:spPr>
              <a:xfrm>
                <a:off x="302706" y="482235"/>
                <a:ext cx="938794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666666"/>
                    </a:solidFill>
                  </a:rPr>
                  <a:t>Let</a:t>
                </a:r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are the two relations defined over two fuzzy sets, where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.</a:t>
                </a:r>
              </a:p>
              <a:p>
                <a:endParaRPr lang="en-US" sz="1800" b="0" i="0" dirty="0">
                  <a:solidFill>
                    <a:srgbClr val="666666"/>
                  </a:solidFill>
                  <a:effectLst/>
                </a:endParaRPr>
              </a:p>
              <a:p>
                <a:r>
                  <a:rPr lang="en-IN" sz="1800" dirty="0">
                    <a:solidFill>
                      <a:srgbClr val="666666"/>
                    </a:solidFill>
                  </a:rPr>
                  <a:t>R</a:t>
                </a:r>
                <a:r>
                  <a:rPr lang="en-IN" sz="1800" b="0" i="0" dirty="0">
                    <a:solidFill>
                      <a:srgbClr val="666666"/>
                    </a:solidFill>
                    <a:effectLst/>
                  </a:rPr>
                  <a:t>elations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sz="1800" b="0" i="0" dirty="0">
                    <a:solidFill>
                      <a:srgbClr val="666666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sz="1800" b="0" i="0" dirty="0">
                    <a:solidFill>
                      <a:srgbClr val="666666"/>
                    </a:solidFill>
                    <a:effectLst/>
                  </a:rPr>
                  <a:t> given as, </a:t>
                </a:r>
                <a:endParaRPr lang="en-IN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334B14-9549-443D-EDB7-919D19CAE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482235"/>
                <a:ext cx="9387946" cy="1200329"/>
              </a:xfrm>
              <a:prstGeom prst="rect">
                <a:avLst/>
              </a:prstGeom>
              <a:blipFill>
                <a:blip r:embed="rId3"/>
                <a:stretch>
                  <a:fillRect l="-584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0C2589-FEF5-0328-B642-B62DA13A2A51}"/>
                  </a:ext>
                </a:extLst>
              </p:cNvPr>
              <p:cNvSpPr txBox="1"/>
              <p:nvPr/>
            </p:nvSpPr>
            <p:spPr>
              <a:xfrm>
                <a:off x="302706" y="2944895"/>
                <a:ext cx="614186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Union of fuzzy relations</a:t>
                </a:r>
              </a:p>
              <a:p>
                <a:pPr algn="l" fontAlgn="base"/>
                <a:endParaRPr lang="en-US" sz="1800" b="1" i="0" dirty="0">
                  <a:solidFill>
                    <a:srgbClr val="777777"/>
                  </a:solidFill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rgbClr val="666666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Union of relations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 is given as,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0C2589-FEF5-0328-B642-B62DA13A2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2944895"/>
                <a:ext cx="6141862" cy="1477328"/>
              </a:xfrm>
              <a:prstGeom prst="rect">
                <a:avLst/>
              </a:prstGeom>
              <a:blipFill>
                <a:blip r:embed="rId4"/>
                <a:stretch>
                  <a:fillRect l="-894" t="-2066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F5194D1-3B4C-D0E9-96AD-BE76B1C24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48" y="1830174"/>
            <a:ext cx="2529612" cy="969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8A738D-03C3-9629-9E34-7BC866084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596" y="1706519"/>
            <a:ext cx="2529612" cy="11313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0F131-C799-4B11-1ABA-BB132CBC5F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798" y="3894577"/>
            <a:ext cx="3000820" cy="1200328"/>
          </a:xfrm>
          <a:prstGeom prst="rect">
            <a:avLst/>
          </a:prstGeom>
        </p:spPr>
      </p:pic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ABD451FB-D5CF-9119-9A3A-972039C9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Operations on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5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36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D54BBE-5565-81A5-650D-E553A9A5572A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4FC837-951E-0E97-E313-086ABE8F005D}"/>
                  </a:ext>
                </a:extLst>
              </p:cNvPr>
              <p:cNvSpPr txBox="1"/>
              <p:nvPr/>
            </p:nvSpPr>
            <p:spPr>
              <a:xfrm>
                <a:off x="117230" y="371766"/>
                <a:ext cx="555204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Intersection of </a:t>
                </a:r>
                <a:r>
                  <a:rPr lang="en-US" sz="1800" dirty="0">
                    <a:solidFill>
                      <a:srgbClr val="C00000"/>
                    </a:solidFill>
                  </a:rPr>
                  <a:t>fuzzy</a:t>
                </a: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 relations</a:t>
                </a:r>
              </a:p>
              <a:p>
                <a:pPr algn="l" fontAlgn="base"/>
                <a:endParaRPr lang="en-US" sz="1800" b="1" i="0" dirty="0">
                  <a:solidFill>
                    <a:schemeClr val="tx1"/>
                  </a:solidFill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∩ 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)= </m:t>
                      </m:r>
                      <m:r>
                        <m:rPr>
                          <m:sty m:val="p"/>
                        </m:rP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Intersection of relations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given as,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4FC837-951E-0E97-E313-086ABE8F0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0" y="371766"/>
                <a:ext cx="5552049" cy="1754326"/>
              </a:xfrm>
              <a:prstGeom prst="rect">
                <a:avLst/>
              </a:prstGeom>
              <a:blipFill>
                <a:blip r:embed="rId3"/>
                <a:stretch>
                  <a:fillRect l="-878" t="-2083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D87B-201B-5350-608D-EFC4163F0D60}"/>
                  </a:ext>
                </a:extLst>
              </p:cNvPr>
              <p:cNvSpPr txBox="1"/>
              <p:nvPr/>
            </p:nvSpPr>
            <p:spPr>
              <a:xfrm>
                <a:off x="223193" y="2874473"/>
                <a:ext cx="4885520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Complement of </a:t>
                </a:r>
                <a:r>
                  <a:rPr lang="en-US" sz="1800" dirty="0">
                    <a:solidFill>
                      <a:srgbClr val="C00000"/>
                    </a:solidFill>
                  </a:rPr>
                  <a:t>fuzzy</a:t>
                </a: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 relation</a:t>
                </a:r>
                <a:endParaRPr lang="en-US" sz="1800" dirty="0">
                  <a:solidFill>
                    <a:srgbClr val="C00000"/>
                  </a:solidFill>
                </a:endParaRPr>
              </a:p>
              <a:p>
                <a:pPr algn="l" fontAlgn="base"/>
                <a:endParaRPr lang="en-US" sz="1800" b="1" i="0" dirty="0">
                  <a:solidFill>
                    <a:schemeClr val="tx1"/>
                  </a:solidFill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baseline="30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dirty="0"/>
                  <a:t>Complement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of given relation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R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,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D87B-201B-5350-608D-EFC4163F0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3" y="2874473"/>
                <a:ext cx="4885520" cy="1511119"/>
              </a:xfrm>
              <a:prstGeom prst="rect">
                <a:avLst/>
              </a:prstGeom>
              <a:blipFill>
                <a:blip r:embed="rId4"/>
                <a:stretch>
                  <a:fillRect l="-1124" t="-2429" b="-3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956D8A0-EA4C-9345-7789-CE68B2374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017" y="893189"/>
            <a:ext cx="2529612" cy="969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26AD73-D100-085A-9F29-CAF22EA1D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483" y="2085997"/>
            <a:ext cx="2529612" cy="11313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125D15-1956-3915-81B6-675AE4DD1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7745" y="1890251"/>
            <a:ext cx="2533650" cy="8858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B0DBF70-3CEE-6949-3892-5CDFC7E536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6133" y="4385592"/>
            <a:ext cx="2390775" cy="942975"/>
          </a:xfrm>
          <a:prstGeom prst="rect">
            <a:avLst/>
          </a:prstGeom>
        </p:spPr>
      </p:pic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8197EF45-C0F4-476D-8FD7-C08480B8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Operations on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79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37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7AA0E8-5ECB-D9DC-C7B3-4EC46345BCD6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89F92-20D4-D274-32D6-EA22CA7C851F}"/>
                  </a:ext>
                </a:extLst>
              </p:cNvPr>
              <p:cNvSpPr txBox="1"/>
              <p:nvPr/>
            </p:nvSpPr>
            <p:spPr>
              <a:xfrm>
                <a:off x="302705" y="470011"/>
                <a:ext cx="9358129" cy="4424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Composition of fuzzy relations</a:t>
                </a:r>
              </a:p>
              <a:p>
                <a:pPr algn="l" fontAlgn="base">
                  <a:buClr>
                    <a:srgbClr val="0070C0"/>
                  </a:buClr>
                </a:pPr>
                <a:endParaRPr lang="en-US" sz="180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Composition of relation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b="0" i="0" dirty="0">
                    <a:effectLst/>
                  </a:rPr>
                  <a:t> is denoted as R ∘ S. Mathematically, it is defined as,</a:t>
                </a: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∘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|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ctr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Composition of relation is computed in two different ways: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r>
                  <a:rPr lang="en-US" sz="1800" b="0" i="0" strike="noStrike" dirty="0">
                    <a:effectLst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Max–min composition</a:t>
                </a:r>
                <a:endParaRPr lang="en-US" sz="1800" b="0" i="0" strike="noStrike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endParaRPr lang="en-US" sz="1800" b="0" i="0" strike="noStrike" dirty="0">
                  <a:effectLst/>
                </a:endParaRPr>
              </a:p>
              <a:p>
                <a:pPr lvl="1" fontAlgn="base"/>
                <a:r>
                  <a:rPr lang="en-US" sz="18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∘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0070C0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800" i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undOvr"/>
                        <m:grow m:val="on"/>
                        <m:supHide m:val="on"/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i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1800" dirty="0">
                  <a:solidFill>
                    <a:srgbClr val="0070C0"/>
                  </a:solidFill>
                </a:endParaRPr>
              </a:p>
              <a:p>
                <a:pPr lvl="1" fontAlgn="base"/>
                <a:endParaRPr lang="en-US" sz="1800" b="0" i="0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r>
                  <a:rPr lang="en-US" sz="1800" b="0" i="0" strike="noStrike" dirty="0">
                    <a:effectLst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Max–product composition</a:t>
                </a:r>
                <a:endParaRPr lang="en-US" sz="1800" b="0" i="0" strike="noStrike" dirty="0">
                  <a:effectLst/>
                </a:endParaRPr>
              </a:p>
              <a:p>
                <a:pPr marL="780849" lvl="1" indent="-285750" fontAlgn="base">
                  <a:buFont typeface="Wingdings" panose="05000000000000000000" pitchFamily="2" charset="2"/>
                  <a:buChar char="§"/>
                </a:pPr>
                <a:endParaRPr lang="en-US" sz="1800" b="0" i="0" dirty="0">
                  <a:effectLst/>
                </a:endParaRPr>
              </a:p>
              <a:p>
                <a:pPr fontAlgn="base">
                  <a:buClr>
                    <a:srgbClr val="0070C0"/>
                  </a:buClr>
                </a:pPr>
                <a:r>
                  <a:rPr lang="en-US" sz="1800" i="0" dirty="0">
                    <a:effectLst/>
                  </a:rPr>
                  <a:t>	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∘ 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0070C0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8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undOvr"/>
                        <m:grow m:val="on"/>
                        <m:supHide m:val="on"/>
                        <m:ctrlP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18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sz="1800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1800" i="0" dirty="0"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89F92-20D4-D274-32D6-EA22CA7C8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5" y="470011"/>
                <a:ext cx="9358129" cy="4424160"/>
              </a:xfrm>
              <a:prstGeom prst="rect">
                <a:avLst/>
              </a:prstGeom>
              <a:blipFill>
                <a:blip r:embed="rId4"/>
                <a:stretch>
                  <a:fillRect l="-586" t="-689" b="-17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ABCDA96-543F-674D-2A56-6D459055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Operations on Fuzzy relations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71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38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Operations on Fuzzy relations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C7EFC-5CAE-9363-C2A4-F30CB879987B}"/>
              </a:ext>
            </a:extLst>
          </p:cNvPr>
          <p:cNvSpPr txBox="1"/>
          <p:nvPr/>
        </p:nvSpPr>
        <p:spPr>
          <a:xfrm>
            <a:off x="302706" y="485400"/>
            <a:ext cx="495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i="0" dirty="0">
                <a:solidFill>
                  <a:srgbClr val="C00000"/>
                </a:solidFill>
                <a:effectLst/>
              </a:rPr>
              <a:t>Composition of fuzzy relations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C6884-F65E-CD20-A05A-124101056300}"/>
              </a:ext>
            </a:extLst>
          </p:cNvPr>
          <p:cNvSpPr txBox="1"/>
          <p:nvPr/>
        </p:nvSpPr>
        <p:spPr>
          <a:xfrm>
            <a:off x="415525" y="988661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Two fuzzy relations are given by,</a:t>
            </a:r>
            <a:endParaRPr lang="en-IN" sz="18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95145-2B47-66DD-6469-D144EAD0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57" y="1515005"/>
            <a:ext cx="1699695" cy="9580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D0871D-5EEB-77BA-7612-44AFC9145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788" y="1457786"/>
            <a:ext cx="2103544" cy="10668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59291B-E91A-ED79-068B-9C1D7553D247}"/>
              </a:ext>
            </a:extLst>
          </p:cNvPr>
          <p:cNvSpPr txBox="1"/>
          <p:nvPr/>
        </p:nvSpPr>
        <p:spPr>
          <a:xfrm>
            <a:off x="546652" y="2653748"/>
            <a:ext cx="55034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Obtain the composition in both the methods</a:t>
            </a:r>
          </a:p>
          <a:p>
            <a:pPr marL="457200" indent="-457200">
              <a:buAutoNum type="alphaLcParenR"/>
            </a:pPr>
            <a:r>
              <a:rPr lang="en-US" sz="1800" dirty="0">
                <a:solidFill>
                  <a:srgbClr val="FF0000"/>
                </a:solidFill>
              </a:rPr>
              <a:t>Max-min composition</a:t>
            </a:r>
          </a:p>
          <a:p>
            <a:pPr marL="457200" indent="-457200">
              <a:buAutoNum type="alphaLcParenR"/>
            </a:pPr>
            <a:r>
              <a:rPr lang="en-US" sz="1800" dirty="0">
                <a:solidFill>
                  <a:srgbClr val="FF0000"/>
                </a:solidFill>
              </a:rPr>
              <a:t>Max-product composition</a:t>
            </a:r>
            <a:endParaRPr lang="en-IN" sz="1800" dirty="0">
              <a:solidFill>
                <a:srgbClr val="FF0000"/>
              </a:solidFill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2D07C319-DFE8-F136-BD63-448922A4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Operations on Fuzzy relations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DDB49-52CE-38AE-DFBB-EC737E599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45" y="3830310"/>
            <a:ext cx="4010877" cy="83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13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39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relations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2D07C319-DFE8-F136-BD63-448922A4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8C052A-08D4-ED13-FBAC-070B8857305D}"/>
                  </a:ext>
                </a:extLst>
              </p:cNvPr>
              <p:cNvSpPr txBox="1"/>
              <p:nvPr/>
            </p:nvSpPr>
            <p:spPr>
              <a:xfrm>
                <a:off x="233917" y="464479"/>
                <a:ext cx="9561712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Reflexive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Relation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is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reflexive</a:t>
                </a:r>
                <a:r>
                  <a:rPr lang="en-US" sz="1800" b="1" i="0" dirty="0">
                    <a:effectLst/>
                  </a:rPr>
                  <a:t> </a:t>
                </a:r>
                <a:r>
                  <a:rPr lang="en-US" sz="1800" b="0" i="0" dirty="0">
                    <a:effectLst/>
                  </a:rPr>
                  <a:t>if every element in set is associated with itself, i.e.,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1, ∀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</a:t>
                </a:r>
              </a:p>
              <a:p>
                <a:pPr algn="l" fontAlgn="base"/>
                <a:r>
                  <a:rPr lang="en-US" sz="1800" dirty="0"/>
                  <a:t>Following is reflexive fuzzy relation 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dirty="0"/>
                  <a:t> over</a:t>
                </a:r>
                <a:r>
                  <a:rPr lang="en-US" sz="1800" b="0" i="0" dirty="0"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{1, 2, 3},</m:t>
                    </m:r>
                  </m:oMath>
                </a14:m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8C052A-08D4-ED13-FBAC-070B88573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7" y="464479"/>
                <a:ext cx="9561712" cy="1754326"/>
              </a:xfrm>
              <a:prstGeom prst="rect">
                <a:avLst/>
              </a:prstGeom>
              <a:blipFill>
                <a:blip r:embed="rId3"/>
                <a:stretch>
                  <a:fillRect l="-510" t="-1736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E87A7B1-69E6-D879-9406-B71A5A68A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2883" y="1601216"/>
            <a:ext cx="2173488" cy="11086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4CB888-896D-C769-97A4-AD8442F2877B}"/>
                  </a:ext>
                </a:extLst>
              </p:cNvPr>
              <p:cNvSpPr txBox="1"/>
              <p:nvPr/>
            </p:nvSpPr>
            <p:spPr>
              <a:xfrm>
                <a:off x="316223" y="2661465"/>
                <a:ext cx="939710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Anti-reflexive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Relation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is an </a:t>
                </a:r>
                <a:r>
                  <a:rPr lang="en-US" sz="1800" i="0" dirty="0">
                    <a:effectLst/>
                  </a:rPr>
                  <a:t>anti-reflexive</a:t>
                </a:r>
                <a:r>
                  <a:rPr lang="en-US" sz="1800" b="1" i="0" dirty="0">
                    <a:effectLst/>
                  </a:rPr>
                  <a:t> </a:t>
                </a:r>
                <a:r>
                  <a:rPr lang="en-US" sz="1800" b="0" i="0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)∉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baseline="-2500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baseline="-2500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)= 0, ∀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fontAlgn="base"/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</a:t>
                </a:r>
              </a:p>
              <a:p>
                <a:pPr fontAlgn="base"/>
                <a:r>
                  <a:rPr lang="en-US" sz="1800" dirty="0"/>
                  <a:t>Following is reflexive fuzzy </a:t>
                </a:r>
              </a:p>
              <a:p>
                <a:pPr fontAlgn="base"/>
                <a:r>
                  <a:rPr lang="en-US" sz="1800" dirty="0"/>
                  <a:t>relation </a:t>
                </a:r>
                <a:r>
                  <a:rPr lang="en-US" sz="1800" b="0" i="0" u="sng" dirty="0">
                    <a:effectLst/>
                  </a:rPr>
                  <a:t>R</a:t>
                </a:r>
                <a:r>
                  <a:rPr lang="en-US" sz="1800" dirty="0"/>
                  <a:t> over</a:t>
                </a:r>
                <a:r>
                  <a:rPr lang="en-US" sz="1800" b="0" i="0" dirty="0">
                    <a:effectLst/>
                  </a:rPr>
                  <a:t> X = {1, 2, 3},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4CB888-896D-C769-97A4-AD8442F28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23" y="2661465"/>
                <a:ext cx="9397100" cy="2031325"/>
              </a:xfrm>
              <a:prstGeom prst="rect">
                <a:avLst/>
              </a:prstGeom>
              <a:blipFill>
                <a:blip r:embed="rId5"/>
                <a:stretch>
                  <a:fillRect l="-584" t="-18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3D6E2AB9-944C-6C3B-8820-E56D0AB20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331" y="3686234"/>
            <a:ext cx="2194788" cy="11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40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EC8EA5-95D7-44B2-9E80-AB0CFAF84E16}"/>
                  </a:ext>
                </a:extLst>
              </p:cNvPr>
              <p:cNvSpPr txBox="1"/>
              <p:nvPr/>
            </p:nvSpPr>
            <p:spPr>
              <a:xfrm>
                <a:off x="302703" y="525244"/>
                <a:ext cx="910965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Symmetric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Relation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is called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symmetric</a:t>
                </a:r>
                <a:r>
                  <a:rPr lang="en-US" sz="1800" b="1" i="0" dirty="0">
                    <a:effectLst/>
                  </a:rPr>
                  <a:t> </a:t>
                </a:r>
                <a:r>
                  <a:rPr lang="en-US" sz="1800" b="0" i="0" dirty="0">
                    <a:effectLst/>
                  </a:rPr>
                  <a:t>if element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b="0" i="0" dirty="0">
                    <a:effectLst/>
                  </a:rPr>
                  <a:t> is related to element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b="0" i="0" dirty="0">
                    <a:effectLst/>
                  </a:rPr>
                  <a:t> then element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b="0" i="0" dirty="0">
                    <a:effectLst/>
                  </a:rPr>
                  <a:t> must be related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b="0" i="0" dirty="0">
                    <a:effectLst/>
                  </a:rPr>
                  <a:t>, 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i.e.,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∀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EC8EA5-95D7-44B2-9E80-AB0CFAF84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" y="525244"/>
                <a:ext cx="9109653" cy="1200329"/>
              </a:xfrm>
              <a:prstGeom prst="rect">
                <a:avLst/>
              </a:prstGeom>
              <a:blipFill>
                <a:blip r:embed="rId3"/>
                <a:stretch>
                  <a:fillRect l="-602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1354F68-5D29-CD08-01D8-6DAD819AC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162" y="1828242"/>
            <a:ext cx="2400660" cy="1200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71601F-E42C-F76D-931C-232C8DA1825F}"/>
                  </a:ext>
                </a:extLst>
              </p:cNvPr>
              <p:cNvSpPr txBox="1"/>
              <p:nvPr/>
            </p:nvSpPr>
            <p:spPr>
              <a:xfrm>
                <a:off x="302703" y="3131242"/>
                <a:ext cx="7004400" cy="2065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Anti-symmetric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Relation </a:t>
                </a:r>
                <a:r>
                  <a:rPr lang="en-US" sz="1800" b="0" i="0" u="sng" dirty="0">
                    <a:effectLst/>
                  </a:rPr>
                  <a:t>R</a:t>
                </a:r>
                <a:r>
                  <a:rPr lang="en-US" sz="1800" b="0" i="0" dirty="0">
                    <a:effectLst/>
                  </a:rPr>
                  <a:t> is called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anti-symmetric</a:t>
                </a:r>
                <a:r>
                  <a:rPr lang="en-US" sz="1800" b="1" i="0" dirty="0">
                    <a:effectLst/>
                  </a:rPr>
                  <a:t> </a:t>
                </a:r>
                <a:r>
                  <a:rPr lang="en-US" sz="1800" b="0" i="0" dirty="0">
                    <a:effectLst/>
                  </a:rPr>
                  <a:t>if, 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&gt; 0,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0,   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≠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1" i="0" dirty="0">
                  <a:effectLst/>
                </a:endParaRPr>
              </a:p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</a:t>
                </a:r>
              </a:p>
              <a:p>
                <a:pPr fontAlgn="base"/>
                <a:r>
                  <a:rPr lang="en-US" sz="1800" dirty="0"/>
                  <a:t>For</a:t>
                </a:r>
                <a:r>
                  <a:rPr lang="en-US" sz="1800" b="0" i="0" dirty="0">
                    <a:effectLst/>
                  </a:rPr>
                  <a:t> the universe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{1, 2, 3}. </m:t>
                    </m:r>
                  </m:oMath>
                </a14:m>
                <a:r>
                  <a:rPr lang="en-US" sz="1800" b="0" i="0" dirty="0">
                    <a:effectLst/>
                  </a:rPr>
                  <a:t>The fuzzy relation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defined over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is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Anti-</a:t>
                </a:r>
                <a:r>
                  <a:rPr lang="en-US" sz="1800" dirty="0">
                    <a:solidFill>
                      <a:srgbClr val="0070C0"/>
                    </a:solidFill>
                  </a:rPr>
                  <a:t>symmetric.</a:t>
                </a:r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71601F-E42C-F76D-931C-232C8DA18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" y="3131242"/>
                <a:ext cx="7004400" cy="2065117"/>
              </a:xfrm>
              <a:prstGeom prst="rect">
                <a:avLst/>
              </a:prstGeom>
              <a:blipFill>
                <a:blip r:embed="rId5"/>
                <a:stretch>
                  <a:fillRect l="-783" t="-1775" b="-2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BCC0C76B-D632-37DE-116C-0AB139582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066" y="4009414"/>
            <a:ext cx="2325756" cy="1198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89DA3C-CEBC-BF62-D90B-3AFB5060552F}"/>
                  </a:ext>
                </a:extLst>
              </p:cNvPr>
              <p:cNvSpPr txBox="1"/>
              <p:nvPr/>
            </p:nvSpPr>
            <p:spPr>
              <a:xfrm>
                <a:off x="302703" y="1930912"/>
                <a:ext cx="560380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</a:t>
                </a:r>
              </a:p>
              <a:p>
                <a:pPr fontAlgn="base"/>
                <a:r>
                  <a:rPr lang="en-US" sz="1800" dirty="0"/>
                  <a:t>For</a:t>
                </a:r>
                <a:r>
                  <a:rPr lang="en-US" sz="1800" b="0" i="0" dirty="0">
                    <a:effectLst/>
                  </a:rPr>
                  <a:t> the universe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{1, 2, 3}. </m:t>
                    </m:r>
                  </m:oMath>
                </a14:m>
                <a:r>
                  <a:rPr lang="en-US" sz="1800" b="0" i="0" dirty="0">
                    <a:effectLst/>
                  </a:rPr>
                  <a:t>The fuzzy relation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defined over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is </a:t>
                </a:r>
                <a:r>
                  <a:rPr lang="en-US" sz="1800" dirty="0">
                    <a:solidFill>
                      <a:srgbClr val="0070C0"/>
                    </a:solidFill>
                  </a:rPr>
                  <a:t>symmetric.</a:t>
                </a:r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89DA3C-CEBC-BF62-D90B-3AFB50605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" y="1930912"/>
                <a:ext cx="5603805" cy="923330"/>
              </a:xfrm>
              <a:prstGeom prst="rect">
                <a:avLst/>
              </a:prstGeom>
              <a:blipFill>
                <a:blip r:embed="rId7"/>
                <a:stretch>
                  <a:fillRect l="-979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93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41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30F5F6-A7CA-27AF-B80C-C564DA2038C8}"/>
                  </a:ext>
                </a:extLst>
              </p:cNvPr>
              <p:cNvSpPr txBox="1"/>
              <p:nvPr/>
            </p:nvSpPr>
            <p:spPr>
              <a:xfrm>
                <a:off x="462169" y="569504"/>
                <a:ext cx="9109213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 fontAlgn="base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Transitiv</a:t>
                </a:r>
                <a:r>
                  <a:rPr lang="en-US" sz="1800" dirty="0">
                    <a:solidFill>
                      <a:srgbClr val="C00000"/>
                    </a:solidFill>
                  </a:rPr>
                  <a:t>e relation</a:t>
                </a:r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endParaRPr lang="en-US" sz="1800" b="1" i="0" dirty="0">
                  <a:effectLst/>
                </a:endParaRPr>
              </a:p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For crisp Relation: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Crisp Relation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 is called 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</a:rPr>
                  <a:t>transitive</a:t>
                </a:r>
                <a:r>
                  <a:rPr lang="en-US" sz="1800" b="0" i="0" dirty="0">
                    <a:effectLst/>
                  </a:rPr>
                  <a:t> if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b="0" i="0" dirty="0">
                    <a:effectLst/>
                  </a:rPr>
                  <a:t> is related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b="0" i="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b="0" i="0" dirty="0">
                    <a:effectLst/>
                  </a:rPr>
                  <a:t> is related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b="0" i="0" dirty="0">
                    <a:effectLst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b="0" i="0" dirty="0">
                    <a:effectLst/>
                  </a:rPr>
                  <a:t> must be related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b="0" i="0" dirty="0">
                    <a:effectLst/>
                  </a:rPr>
                  <a:t>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dirty="0"/>
                  <a:t>i.e.,</a:t>
                </a:r>
                <a:r>
                  <a:rPr lang="en-US" sz="1800" b="0" i="0" dirty="0">
                    <a:effectLst/>
                  </a:rPr>
                  <a:t> if,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⇒ 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∈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For fuzzy relation:</a:t>
                </a:r>
              </a:p>
              <a:p>
                <a:pPr fontAlgn="base"/>
                <a:r>
                  <a:rPr lang="en-US" sz="1800" b="0" i="0" dirty="0">
                    <a:effectLst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,</a:t>
                </a:r>
              </a:p>
              <a:p>
                <a:pPr algn="l" fontAlgn="base"/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dirty="0"/>
                  <a:t>f</a:t>
                </a:r>
                <a:r>
                  <a:rPr lang="en-US" sz="1800" b="0" i="0" dirty="0">
                    <a:effectLst/>
                  </a:rPr>
                  <a:t>or fuzzy relation to be transitive,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≥</m:t>
                    </m:r>
                    <m:func>
                      <m:funcPr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1800" b="0" i="1" baseline="-25000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1800" b="0" i="1" baseline="-25000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dirty="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</a:t>
                </a:r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30F5F6-A7CA-27AF-B80C-C564DA203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69" y="569504"/>
                <a:ext cx="9109213" cy="3693319"/>
              </a:xfrm>
              <a:prstGeom prst="rect">
                <a:avLst/>
              </a:prstGeom>
              <a:blipFill>
                <a:blip r:embed="rId3"/>
                <a:stretch>
                  <a:fillRect l="-602" t="-825" b="-16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AA1948E-2110-FF07-5CAE-ED86913AB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972" y="4401091"/>
            <a:ext cx="2019131" cy="844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3359C9-8B9B-5CEB-E13B-2349ABB86719}"/>
                  </a:ext>
                </a:extLst>
              </p:cNvPr>
              <p:cNvSpPr txBox="1"/>
              <p:nvPr/>
            </p:nvSpPr>
            <p:spPr>
              <a:xfrm>
                <a:off x="608026" y="4606085"/>
                <a:ext cx="4959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dirty="0">
                    <a:solidFill>
                      <a:srgbClr val="FF0000"/>
                    </a:solidFill>
                  </a:rPr>
                  <a:t>Is given</a:t>
                </a:r>
                <a:r>
                  <a:rPr lang="en-US" sz="1800" b="0" i="0" dirty="0">
                    <a:solidFill>
                      <a:srgbClr val="FF0000"/>
                    </a:solidFill>
                    <a:effectLst/>
                  </a:rPr>
                  <a:t> relation 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rgbClr val="FF0000"/>
                    </a:solidFill>
                    <a:effectLst/>
                  </a:rPr>
                  <a:t> transitive?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3359C9-8B9B-5CEB-E13B-2349ABB86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26" y="4606085"/>
                <a:ext cx="4959626" cy="369332"/>
              </a:xfrm>
              <a:prstGeom prst="rect">
                <a:avLst/>
              </a:prstGeom>
              <a:blipFill>
                <a:blip r:embed="rId5"/>
                <a:stretch>
                  <a:fillRect l="-110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170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42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143DE-1115-B62E-BBAE-84F906CBC071}"/>
                  </a:ext>
                </a:extLst>
              </p:cNvPr>
              <p:cNvSpPr txBox="1"/>
              <p:nvPr/>
            </p:nvSpPr>
            <p:spPr>
              <a:xfrm>
                <a:off x="392594" y="335009"/>
                <a:ext cx="9293703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How to test transitivity?</a:t>
                </a:r>
              </a:p>
              <a:p>
                <a:pPr algn="l" fontAlgn="base"/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We can also find whether the given relation 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 is transitive or not by finding composition on itself.</a:t>
                </a:r>
              </a:p>
              <a:p>
                <a:pPr algn="l" fontAlgn="base"/>
                <a:r>
                  <a:rPr lang="en-US" sz="1800" b="0" i="0" dirty="0">
                    <a:solidFill>
                      <a:schemeClr val="tx1"/>
                    </a:solidFill>
                    <a:effectLst/>
                  </a:rPr>
                  <a:t>i.e.,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baseline="3000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∘ </m:t>
                    </m:r>
                    <m:r>
                      <a:rPr lang="en-US" sz="1800" b="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800" b="0" i="1" u="sng" dirty="0">
                  <a:solidFill>
                    <a:srgbClr val="0070C0"/>
                  </a:solidFill>
                  <a:effectLst/>
                  <a:latin typeface="Cambria Math" panose="02040503050406030204" pitchFamily="18" charset="0"/>
                </a:endParaRPr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800" b="1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1800" b="1" i="0" dirty="0">
                    <a:solidFill>
                      <a:schemeClr val="tx1"/>
                    </a:solidFill>
                    <a:effectLst/>
                  </a:rPr>
                  <a:t> is transitive if </a:t>
                </a:r>
                <a:r>
                  <a:rPr lang="en-US" sz="1800" b="1" i="0" u="sng" dirty="0">
                    <a:solidFill>
                      <a:srgbClr val="0070C0"/>
                    </a:solidFill>
                    <a:effectLst/>
                    <a:latin typeface="+mj-lt"/>
                  </a:rPr>
                  <a:t>R</a:t>
                </a:r>
                <a:r>
                  <a:rPr lang="en-US" sz="1800" b="1" i="0" baseline="30000" dirty="0">
                    <a:solidFill>
                      <a:srgbClr val="0070C0"/>
                    </a:solidFill>
                    <a:effectLst/>
                    <a:latin typeface="+mj-lt"/>
                  </a:rPr>
                  <a:t>2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  <a:latin typeface="+mj-lt"/>
                  </a:rPr>
                  <a:t> ⊂ </a:t>
                </a:r>
                <a:r>
                  <a:rPr lang="en-US" sz="1800" b="1" i="0" u="sng" dirty="0">
                    <a:solidFill>
                      <a:srgbClr val="0070C0"/>
                    </a:solidFill>
                    <a:effectLst/>
                    <a:latin typeface="+mj-lt"/>
                  </a:rPr>
                  <a:t>R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b="1" i="0" dirty="0">
                    <a:solidFill>
                      <a:schemeClr val="tx1"/>
                    </a:solidFill>
                    <a:effectLst/>
                  </a:rPr>
                  <a:t> i.e., 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  <a:latin typeface="+mj-lt"/>
                  </a:rPr>
                  <a:t>μ</a:t>
                </a:r>
                <a:r>
                  <a:rPr lang="en-US" sz="1800" b="1" i="0" u="sng" baseline="-25000" dirty="0">
                    <a:solidFill>
                      <a:srgbClr val="0070C0"/>
                    </a:solidFill>
                    <a:effectLst/>
                    <a:latin typeface="+mj-lt"/>
                  </a:rPr>
                  <a:t>R^</a:t>
                </a:r>
                <a:r>
                  <a:rPr lang="en-US" sz="1800" b="1" i="0" baseline="-25000" dirty="0">
                    <a:solidFill>
                      <a:srgbClr val="0070C0"/>
                    </a:solidFill>
                    <a:effectLst/>
                    <a:latin typeface="+mj-lt"/>
                  </a:rPr>
                  <a:t>2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  <a:latin typeface="+mj-lt"/>
                  </a:rPr>
                  <a:t>(x, y) ≤ μ</a:t>
                </a:r>
                <a:r>
                  <a:rPr lang="en-US" sz="1800" b="1" i="0" u="sng" baseline="-25000" dirty="0">
                    <a:solidFill>
                      <a:srgbClr val="0070C0"/>
                    </a:solidFill>
                    <a:effectLst/>
                    <a:latin typeface="+mj-lt"/>
                  </a:rPr>
                  <a:t>R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  <a:latin typeface="+mj-lt"/>
                  </a:rPr>
                  <a:t>(x, y)</a:t>
                </a:r>
                <a:endParaRPr lang="en-US" sz="1800" b="1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1" i="0" dirty="0">
                  <a:solidFill>
                    <a:schemeClr val="tx1"/>
                  </a:solidFill>
                  <a:effectLst/>
                </a:endParaRPr>
              </a:p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Example:</a:t>
                </a:r>
              </a:p>
              <a:p>
                <a:pPr algn="l" fontAlgn="base"/>
                <a:r>
                  <a:rPr lang="en-US" sz="1800" dirty="0">
                    <a:solidFill>
                      <a:srgbClr val="FF0000"/>
                    </a:solidFill>
                  </a:rPr>
                  <a:t>Is given</a:t>
                </a:r>
                <a:r>
                  <a:rPr lang="en-US" sz="1800" b="0" i="0" dirty="0">
                    <a:solidFill>
                      <a:srgbClr val="FF0000"/>
                    </a:solidFill>
                    <a:effectLst/>
                  </a:rPr>
                  <a:t> relation 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solidFill>
                      <a:srgbClr val="FF0000"/>
                    </a:solidFill>
                    <a:effectLst/>
                  </a:rPr>
                  <a:t> transitive?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143DE-1115-B62E-BBAE-84F906CBC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94" y="335009"/>
                <a:ext cx="9293703" cy="2585323"/>
              </a:xfrm>
              <a:prstGeom prst="rect">
                <a:avLst/>
              </a:prstGeom>
              <a:blipFill>
                <a:blip r:embed="rId3"/>
                <a:stretch>
                  <a:fillRect l="-525" t="-1415" b="-2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3743FA9-2B83-A504-BA23-C2046E3A7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434" y="2271435"/>
            <a:ext cx="2019131" cy="844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883E30-19A5-9799-4427-86780415A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795" y="3108299"/>
            <a:ext cx="6051299" cy="872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FC7BAD-68B2-66F1-DFB0-50A039C7893C}"/>
                  </a:ext>
                </a:extLst>
              </p:cNvPr>
              <p:cNvSpPr txBox="1"/>
              <p:nvPr/>
            </p:nvSpPr>
            <p:spPr>
              <a:xfrm>
                <a:off x="412038" y="4053427"/>
                <a:ext cx="938359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i="0" dirty="0">
                    <a:effectLst/>
                  </a:rPr>
                  <a:t>For the above matrices,</a:t>
                </a:r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(1, 1) ≤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(1, 1),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(1, 2) ≤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(1, 2) </m:t>
                    </m:r>
                  </m:oMath>
                </a14:m>
                <a:r>
                  <a:rPr lang="en-US" sz="1800" b="0" i="0" dirty="0">
                    <a:effectLst/>
                  </a:rPr>
                  <a:t>but</a:t>
                </a:r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(1, 3) ≤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(1, 3) </m:t>
                    </m:r>
                    <m:r>
                      <a:rPr lang="en-US" sz="1800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,Hence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is not transitive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FC7BAD-68B2-66F1-DFB0-50A039C78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38" y="4053427"/>
                <a:ext cx="9383591" cy="923330"/>
              </a:xfrm>
              <a:prstGeom prst="rect">
                <a:avLst/>
              </a:prstGeom>
              <a:blipFill>
                <a:blip r:embed="rId6"/>
                <a:stretch>
                  <a:fillRect l="-585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BB8CB6A-FB40-B91D-FA7F-828D80910199}"/>
              </a:ext>
            </a:extLst>
          </p:cNvPr>
          <p:cNvSpPr txBox="1"/>
          <p:nvPr/>
        </p:nvSpPr>
        <p:spPr>
          <a:xfrm>
            <a:off x="392594" y="284737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Solution: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0FFB60-AE7D-6ACF-B684-F9B6251A85E9}"/>
              </a:ext>
            </a:extLst>
          </p:cNvPr>
          <p:cNvCxnSpPr/>
          <p:nvPr/>
        </p:nvCxnSpPr>
        <p:spPr>
          <a:xfrm flipH="1">
            <a:off x="1490870" y="4613840"/>
            <a:ext cx="89452" cy="361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07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43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C9E04A-5852-95D8-6F87-0C893F93D08E}"/>
                  </a:ext>
                </a:extLst>
              </p:cNvPr>
              <p:cNvSpPr txBox="1"/>
              <p:nvPr/>
            </p:nvSpPr>
            <p:spPr>
              <a:xfrm>
                <a:off x="301904" y="670066"/>
                <a:ext cx="709200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Similarity / Equivalence Relation</a:t>
                </a:r>
              </a:p>
              <a:p>
                <a:pPr algn="l" fontAlgn="base"/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If relation 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̅is reflexive, symmetric and transitive then it is </a:t>
                </a:r>
                <a:r>
                  <a:rPr lang="en-US" sz="1800" dirty="0"/>
                  <a:t>a</a:t>
                </a:r>
                <a:r>
                  <a:rPr lang="en-US" sz="1800" b="0" i="0" dirty="0">
                    <a:effectLst/>
                  </a:rPr>
                  <a:t> similarity </a:t>
                </a:r>
                <a:r>
                  <a:rPr lang="en-US" sz="1800" i="0" dirty="0">
                    <a:effectLst/>
                  </a:rPr>
                  <a:t>(equivalence) </a:t>
                </a:r>
                <a:r>
                  <a:rPr lang="en-US" sz="1800" b="0" i="0" dirty="0">
                    <a:effectLst/>
                  </a:rPr>
                  <a:t>relation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C9E04A-5852-95D8-6F87-0C893F93D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04" y="670066"/>
                <a:ext cx="7092007" cy="1200329"/>
              </a:xfrm>
              <a:prstGeom prst="rect">
                <a:avLst/>
              </a:prstGeom>
              <a:blipFill>
                <a:blip r:embed="rId3"/>
                <a:stretch>
                  <a:fillRect l="-774" t="-3046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75B294F-4CFC-E94A-D6FA-F72700E51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090" y="714051"/>
            <a:ext cx="2753116" cy="1271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78B8D2-F909-9316-FF92-4F01C3312695}"/>
                  </a:ext>
                </a:extLst>
              </p:cNvPr>
              <p:cNvSpPr txBox="1"/>
              <p:nvPr/>
            </p:nvSpPr>
            <p:spPr>
              <a:xfrm>
                <a:off x="377865" y="2049490"/>
                <a:ext cx="941776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Anti-Similarity or Partial Order Relation</a:t>
                </a:r>
              </a:p>
              <a:p>
                <a:pPr algn="l" fontAlgn="base"/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If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is similarity relation, then its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complement</a:t>
                </a:r>
                <a:r>
                  <a:rPr lang="en-US" sz="1800" b="0" i="0" dirty="0">
                    <a:effectLst/>
                  </a:rPr>
                  <a:t> is anti-similarity relation, i.e.,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78B8D2-F909-9316-FF92-4F01C3312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65" y="2049490"/>
                <a:ext cx="9417764" cy="1200329"/>
              </a:xfrm>
              <a:prstGeom prst="rect">
                <a:avLst/>
              </a:prstGeom>
              <a:blipFill>
                <a:blip r:embed="rId5"/>
                <a:stretch>
                  <a:fillRect l="-583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7C8A4-16CB-9B35-C5AE-23EB57235D47}"/>
                  </a:ext>
                </a:extLst>
              </p:cNvPr>
              <p:cNvSpPr txBox="1"/>
              <p:nvPr/>
            </p:nvSpPr>
            <p:spPr>
              <a:xfrm>
                <a:off x="301904" y="3521446"/>
                <a:ext cx="695700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Weak Similarity or Tolerance Relation</a:t>
                </a:r>
              </a:p>
              <a:p>
                <a:pPr algn="l" fontAlgn="base"/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If relation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b="0" i="0" dirty="0">
                    <a:effectLst/>
                  </a:rPr>
                  <a:t> is reflexive and symmetric but not transitive, then it is </a:t>
                </a:r>
                <a:r>
                  <a:rPr lang="en-US" sz="1800" dirty="0"/>
                  <a:t>a</a:t>
                </a:r>
                <a:r>
                  <a:rPr lang="en-US" sz="1800" b="0" i="0" dirty="0">
                    <a:effectLst/>
                  </a:rPr>
                  <a:t> weak similarity relation.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7C8A4-16CB-9B35-C5AE-23EB57235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04" y="3521446"/>
                <a:ext cx="6957007" cy="1200329"/>
              </a:xfrm>
              <a:prstGeom prst="rect">
                <a:avLst/>
              </a:prstGeom>
              <a:blipFill>
                <a:blip r:embed="rId6"/>
                <a:stretch>
                  <a:fillRect l="-789" t="-3046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D33E1F5-05FA-8C60-F120-F783E57F0A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7627" y="3617635"/>
            <a:ext cx="2460757" cy="100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1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44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BE3A01-5290-54CC-CDB9-FF09BE292082}"/>
                  </a:ext>
                </a:extLst>
              </p:cNvPr>
              <p:cNvSpPr txBox="1"/>
              <p:nvPr/>
            </p:nvSpPr>
            <p:spPr>
              <a:xfrm>
                <a:off x="302706" y="651450"/>
                <a:ext cx="9407824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Tolerance to Equivalence relation conversion</a:t>
                </a:r>
              </a:p>
              <a:p>
                <a:pPr algn="l" fontAlgn="base"/>
                <a:endParaRPr lang="en-US" sz="1800" i="0" dirty="0">
                  <a:solidFill>
                    <a:srgbClr val="C0000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Tolerance relation can be converted to equivalence (similarity) by taking composition of relation with itself. </a:t>
                </a:r>
              </a:p>
              <a:p>
                <a:pPr algn="l" fontAlgn="base"/>
                <a:endParaRPr lang="en-US" sz="1800" dirty="0"/>
              </a:p>
              <a:p>
                <a:pPr algn="l" fontAlgn="base"/>
                <a:r>
                  <a:rPr lang="en-US" sz="1800" b="0" i="0" dirty="0">
                    <a:effectLst/>
                  </a:rPr>
                  <a:t>Finding composition is repeated until relation is converted to equivalence.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′→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°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′′→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′ °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 :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BE3A01-5290-54CC-CDB9-FF09BE292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651450"/>
                <a:ext cx="9407824" cy="3139321"/>
              </a:xfrm>
              <a:prstGeom prst="rect">
                <a:avLst/>
              </a:prstGeom>
              <a:blipFill>
                <a:blip r:embed="rId3"/>
                <a:stretch>
                  <a:fillRect l="-583" t="-1165" r="-11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645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45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75A63-DFE4-3BCA-B1B7-94A1B19AF730}"/>
              </a:ext>
            </a:extLst>
          </p:cNvPr>
          <p:cNvSpPr txBox="1"/>
          <p:nvPr/>
        </p:nvSpPr>
        <p:spPr>
          <a:xfrm>
            <a:off x="302706" y="351471"/>
            <a:ext cx="5859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C00000"/>
                </a:solidFill>
                <a:effectLst/>
              </a:rPr>
              <a:t>Tolerance to Equivalence relation conversion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1693E-252A-361E-C362-5A19ECAD0F10}"/>
              </a:ext>
            </a:extLst>
          </p:cNvPr>
          <p:cNvSpPr txBox="1"/>
          <p:nvPr/>
        </p:nvSpPr>
        <p:spPr>
          <a:xfrm>
            <a:off x="302706" y="1151690"/>
            <a:ext cx="6883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FF0000"/>
                </a:solidFill>
                <a:effectLst/>
              </a:rPr>
              <a:t>Check if given crisp relation is equivalence or not ?</a:t>
            </a:r>
            <a:endParaRPr lang="en-IN" sz="1800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A95472-9E26-F021-304D-13776B73B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080" y="720803"/>
            <a:ext cx="2460549" cy="1406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2659F1B6-289A-B6B7-6573-1F7D23972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388" y="2177568"/>
                <a:ext cx="7722186" cy="19727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+mn-lt"/>
                  </a:rPr>
                  <a:t>Solution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effectLst/>
                  <a:latin typeface="+mn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Here,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 ∈ 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∀</m:t>
                    </m:r>
                    <m:r>
                      <a:rPr kumimoji="0" lang="en-US" altLang="en-US" sz="1800" b="0" i="1" u="none" strike="noStrike" cap="none" normalizeH="0" baseline="0" dirty="0" err="1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so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 is reflexive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^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, so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 is symmetric</a:t>
                </a:r>
              </a:p>
              <a:p>
                <a:pPr lvl="0" defTabSz="914400"/>
                <a:r>
                  <a:rPr lang="en-US" sz="1800" dirty="0">
                    <a:solidFill>
                      <a:srgbClr val="0070C0"/>
                    </a:solidFill>
                  </a:rPr>
                  <a:t>μ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US" altLang="en-US" sz="1800" b="0" i="1" u="none" strike="noStrike" cap="none" normalizeH="0" baseline="-3000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US" altLang="en-US" sz="1800" b="0" i="1" u="none" strike="noStrike" cap="none" normalizeH="0" baseline="-3000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 1,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rgbClr val="0070C0"/>
                        </a:solidFill>
                      </a:rPr>
                      <m:t>μ</m:t>
                    </m:r>
                    <m:d>
                      <m:d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US" altLang="en-US" sz="1800" b="0" i="1" u="none" strike="noStrike" cap="none" normalizeH="0" baseline="-3000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US" altLang="en-US" sz="1800" b="0" i="1" u="none" strike="noStrike" cap="none" normalizeH="0" baseline="-3000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 1 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𝑏𝑢𝑡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rgbClr val="0070C0"/>
                        </a:solidFill>
                      </a:rPr>
                      <m:t>μ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1800" b="0" i="1" u="none" strike="noStrike" cap="none" normalizeH="0" baseline="-3000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1800" b="0" i="1" u="none" strike="noStrike" cap="none" normalizeH="0" baseline="-3000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0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, so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 is not transitive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effectLst/>
                  <a:latin typeface="+mn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Hence R is </a:t>
                </a:r>
                <a:r>
                  <a:rPr kumimoji="0" lang="en-US" altLang="en-US" sz="180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+mn-lt"/>
                  </a:rPr>
                  <a:t>Not equivalence, 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+mn-lt"/>
                  </a:rPr>
                  <a:t>but it is </a:t>
                </a:r>
                <a:r>
                  <a:rPr kumimoji="0" lang="en-US" altLang="en-US" sz="180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+mn-lt"/>
                  </a:rPr>
                  <a:t>Tolerance.</a:t>
                </a:r>
              </a:p>
            </p:txBody>
          </p:sp>
        </mc:Choice>
        <mc:Fallback xmlns=""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2659F1B6-289A-B6B7-6573-1F7D23972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388" y="2177568"/>
                <a:ext cx="7722186" cy="1972784"/>
              </a:xfrm>
              <a:prstGeom prst="rect">
                <a:avLst/>
              </a:prstGeom>
              <a:blipFill>
                <a:blip r:embed="rId4"/>
                <a:stretch>
                  <a:fillRect l="-1815" t="-2469" b="-5864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58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46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82924-B89E-42A7-F2B7-5D80155E9396}"/>
              </a:ext>
            </a:extLst>
          </p:cNvPr>
          <p:cNvSpPr txBox="1"/>
          <p:nvPr/>
        </p:nvSpPr>
        <p:spPr>
          <a:xfrm>
            <a:off x="333274" y="565454"/>
            <a:ext cx="6324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b="1" i="0" dirty="0">
                <a:solidFill>
                  <a:srgbClr val="0070C0"/>
                </a:solidFill>
                <a:effectLst/>
              </a:rPr>
              <a:t>Example 2: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 </a:t>
            </a:r>
          </a:p>
          <a:p>
            <a:pPr algn="l" fontAlgn="base"/>
            <a:r>
              <a:rPr lang="en-US" sz="1800" b="0" i="0" dirty="0">
                <a:effectLst/>
              </a:rPr>
              <a:t>Convert following relation into equivalence if it is not already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13A25D-1EB7-239A-7F4C-963D96FEF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849" y="670066"/>
            <a:ext cx="3038475" cy="1447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A61635-A5B1-94C7-0F59-41B9D063FEFA}"/>
                  </a:ext>
                </a:extLst>
              </p:cNvPr>
              <p:cNvSpPr txBox="1"/>
              <p:nvPr/>
            </p:nvSpPr>
            <p:spPr>
              <a:xfrm>
                <a:off x="358187" y="1669302"/>
                <a:ext cx="6948917" cy="2375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IN" sz="1800" b="1" i="0" dirty="0">
                    <a:solidFill>
                      <a:srgbClr val="0070C0"/>
                    </a:solidFill>
                    <a:effectLst/>
                  </a:rPr>
                  <a:t>Solution:</a:t>
                </a:r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 xmlns:m="http://schemas.openxmlformats.org/officeDocument/2006/math">
                    <m:r>
                      <a:rPr lang="el-G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800" b="0" i="1" u="sng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IN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1800" b="0" i="0" dirty="0">
                    <a:effectLst/>
                  </a:rPr>
                  <a:t>so relation is reflexive</a:t>
                </a:r>
              </a:p>
              <a:p>
                <a:pPr algn="l" fontAlgn="base"/>
                <a:endParaRPr lang="en-IN" sz="1800" b="0" i="0" dirty="0">
                  <a:effectLst/>
                </a:endParaRPr>
              </a:p>
              <a:p>
                <a:pPr algn="l" fontAlgn="base"/>
                <a14:m>
                  <m:oMath xmlns:m="http://schemas.openxmlformats.org/officeDocument/2006/math">
                    <m:r>
                      <a:rPr lang="el-G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800" b="0" i="1" u="sng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800" b="0" i="1" u="sng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sz="1800" b="0" i="0" dirty="0">
                    <a:effectLst/>
                  </a:rPr>
                  <a:t>, so relation is symmetric</a:t>
                </a:r>
              </a:p>
              <a:p>
                <a:pPr algn="l" fontAlgn="base"/>
                <a:endParaRPr lang="en-IN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l-GR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8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8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sz="1800" b="0" i="1" u="sng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A61635-A5B1-94C7-0F59-41B9D063F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87" y="1669302"/>
                <a:ext cx="6948917" cy="2375907"/>
              </a:xfrm>
              <a:prstGeom prst="rect">
                <a:avLst/>
              </a:prstGeom>
              <a:blipFill>
                <a:blip r:embed="rId4"/>
                <a:stretch>
                  <a:fillRect l="-789" t="-1538" b="-10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70FA1C-B5A6-36B8-FF4B-702DEAFB60B1}"/>
                  </a:ext>
                </a:extLst>
              </p:cNvPr>
              <p:cNvSpPr txBox="1"/>
              <p:nvPr/>
            </p:nvSpPr>
            <p:spPr>
              <a:xfrm>
                <a:off x="358186" y="4091278"/>
                <a:ext cx="936228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IN" sz="1800" b="0" i="0" dirty="0">
                    <a:effectLst/>
                  </a:rPr>
                  <a:t>For fuzzy relation to be transitive, </a:t>
                </a:r>
                <a14:m>
                  <m:oMath xmlns:m="http://schemas.openxmlformats.org/officeDocument/2006/math">
                    <m:r>
                      <a:rPr lang="el-G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≥ </m:t>
                    </m:r>
                    <m:r>
                      <m:rPr>
                        <m:sty m:val="p"/>
                      </m:rP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⁡(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l-GR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IN" sz="1800" b="0" i="0" dirty="0">
                    <a:effectLst/>
                  </a:rPr>
                  <a:t>For given relation matrix </a:t>
                </a:r>
                <a14:m>
                  <m:oMath xmlns:m="http://schemas.openxmlformats.org/officeDocument/2006/math">
                    <m:r>
                      <a:rPr lang="el-G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&lt; </m:t>
                    </m:r>
                    <m:r>
                      <m:rPr>
                        <m:sty m:val="p"/>
                      </m:rP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⁡( 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), </m:t>
                    </m:r>
                  </m:oMath>
                </a14:m>
                <a:r>
                  <a:rPr lang="en-IN" sz="1800" b="0" i="0" dirty="0">
                    <a:effectLst/>
                  </a:rPr>
                  <a:t>so given relation is </a:t>
                </a:r>
                <a:r>
                  <a:rPr lang="en-IN" sz="1800" b="1" i="0" dirty="0">
                    <a:effectLst/>
                  </a:rPr>
                  <a:t>tolerance </a:t>
                </a:r>
                <a:r>
                  <a:rPr lang="en-IN" sz="1800" b="0" i="0" dirty="0">
                    <a:effectLst/>
                  </a:rPr>
                  <a:t>but </a:t>
                </a:r>
                <a:r>
                  <a:rPr lang="en-IN" sz="1800" b="1" i="0" dirty="0">
                    <a:effectLst/>
                  </a:rPr>
                  <a:t>not equivalence</a:t>
                </a:r>
                <a:endParaRPr lang="en-IN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70FA1C-B5A6-36B8-FF4B-702DEAFB6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86" y="4091278"/>
                <a:ext cx="9362283" cy="1200329"/>
              </a:xfrm>
              <a:prstGeom prst="rect">
                <a:avLst/>
              </a:prstGeom>
              <a:blipFill>
                <a:blip r:embed="rId5"/>
                <a:stretch>
                  <a:fillRect l="-586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95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47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A63D5-4B15-8804-F7C0-F4F6213D6032}"/>
              </a:ext>
            </a:extLst>
          </p:cNvPr>
          <p:cNvSpPr txBox="1"/>
          <p:nvPr/>
        </p:nvSpPr>
        <p:spPr>
          <a:xfrm>
            <a:off x="193377" y="470011"/>
            <a:ext cx="257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1800" i="0" dirty="0">
                <a:solidFill>
                  <a:srgbClr val="0070C0"/>
                </a:solidFill>
                <a:effectLst/>
              </a:rPr>
              <a:t>Solution </a:t>
            </a:r>
            <a:r>
              <a:rPr lang="en-IN" sz="1800" i="0" dirty="0" err="1">
                <a:solidFill>
                  <a:srgbClr val="0070C0"/>
                </a:solidFill>
                <a:effectLst/>
              </a:rPr>
              <a:t>Contd</a:t>
            </a:r>
            <a:r>
              <a:rPr lang="en-IN" sz="1800" i="0" dirty="0">
                <a:solidFill>
                  <a:srgbClr val="0070C0"/>
                </a:solidFill>
                <a:effectLst/>
              </a:rPr>
              <a:t>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3B491-6217-A2A9-DF37-DC6C14419254}"/>
              </a:ext>
            </a:extLst>
          </p:cNvPr>
          <p:cNvSpPr txBox="1"/>
          <p:nvPr/>
        </p:nvSpPr>
        <p:spPr>
          <a:xfrm>
            <a:off x="193377" y="799861"/>
            <a:ext cx="5552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We can convert tolerance relation into equivalence relation by taking composition of relation with it self.</a:t>
            </a:r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AEC87F-BED5-9B3B-4B2F-BDF35AA6D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231" y="727149"/>
            <a:ext cx="3762375" cy="1495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A51794-2BC5-A98F-65A5-8A58604C8318}"/>
                  </a:ext>
                </a:extLst>
              </p:cNvPr>
              <p:cNvSpPr txBox="1"/>
              <p:nvPr/>
            </p:nvSpPr>
            <p:spPr>
              <a:xfrm>
                <a:off x="230863" y="1696302"/>
                <a:ext cx="4959626" cy="990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0.8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0.5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A51794-2BC5-A98F-65A5-8A58604C8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63" y="1696302"/>
                <a:ext cx="4959626" cy="990912"/>
              </a:xfrm>
              <a:prstGeom prst="rect">
                <a:avLst/>
              </a:prstGeom>
              <a:blipFill>
                <a:blip r:embed="rId4"/>
                <a:stretch>
                  <a:fillRect t="-613" b="-4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7D5FED-2482-00E3-1309-F6E142417AD4}"/>
                  </a:ext>
                </a:extLst>
              </p:cNvPr>
              <p:cNvSpPr txBox="1"/>
              <p:nvPr/>
            </p:nvSpPr>
            <p:spPr>
              <a:xfrm>
                <a:off x="230863" y="2688881"/>
                <a:ext cx="5921460" cy="957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i="0" dirty="0">
                    <a:effectLst/>
                  </a:rPr>
                  <a:t>For </a:t>
                </a:r>
                <a:r>
                  <a:rPr lang="en-US" sz="1800" dirty="0"/>
                  <a:t>obtained</a:t>
                </a:r>
                <a:r>
                  <a:rPr lang="en-US" sz="1800" b="0" i="0" dirty="0">
                    <a:effectLst/>
                  </a:rPr>
                  <a:t> matrix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&lt; </m:t>
                    </m:r>
                    <m:r>
                      <m:rPr>
                        <m:sty m:val="p"/>
                      </m:rP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⁡(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), </m:t>
                    </m:r>
                  </m:oMath>
                </a14:m>
                <a:r>
                  <a:rPr lang="en-US" sz="1800" b="0" i="0" dirty="0">
                    <a:effectLst/>
                  </a:rPr>
                  <a:t> so given relation is not yet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equivalence.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Take the composition once again.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7D5FED-2482-00E3-1309-F6E142417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63" y="2688881"/>
                <a:ext cx="5921460" cy="957121"/>
              </a:xfrm>
              <a:prstGeom prst="rect">
                <a:avLst/>
              </a:prstGeom>
              <a:blipFill>
                <a:blip r:embed="rId5"/>
                <a:stretch>
                  <a:fillRect l="-927" t="-3185" b="-5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0EE8680-9543-AC55-6942-8276572C2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878" y="3041691"/>
            <a:ext cx="3838575" cy="140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CC68DA-5374-6990-5E48-87DEFB30A9D3}"/>
                  </a:ext>
                </a:extLst>
              </p:cNvPr>
              <p:cNvSpPr txBox="1"/>
              <p:nvPr/>
            </p:nvSpPr>
            <p:spPr>
              <a:xfrm>
                <a:off x="230863" y="3737334"/>
                <a:ext cx="8881722" cy="1578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0.4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0.4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0.8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For </a:t>
                </a:r>
                <a:r>
                  <a:rPr lang="en-US" sz="1800" dirty="0"/>
                  <a:t>obtained</a:t>
                </a:r>
                <a:r>
                  <a:rPr lang="en-US" sz="1800" b="0" i="0" dirty="0">
                    <a:effectLst/>
                  </a:rPr>
                  <a:t> matrix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&gt; </m:t>
                    </m:r>
                    <m:r>
                      <m:rPr>
                        <m:sty m:val="p"/>
                      </m:rP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⁡(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), </m:t>
                    </m:r>
                  </m:oMath>
                </a14:m>
                <a:r>
                  <a:rPr lang="en-US" sz="1800" b="0" i="0" dirty="0">
                    <a:effectLst/>
                  </a:rPr>
                  <a:t>and this is true for any pair. Hence given relation is now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equivalence.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CC68DA-5374-6990-5E48-87DEFB30A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63" y="3737334"/>
                <a:ext cx="8881722" cy="1578702"/>
              </a:xfrm>
              <a:prstGeom prst="rect">
                <a:avLst/>
              </a:prstGeom>
              <a:blipFill>
                <a:blip r:embed="rId7"/>
                <a:stretch>
                  <a:fillRect l="-618" t="-386" b="-5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39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16" grpId="0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48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613190" y="-79416"/>
            <a:ext cx="4693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Properties of Fuzzy relation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dirty="0"/>
              <a:t>Data Structures--&gt; Unit-I: </a:t>
            </a:r>
            <a:r>
              <a:rPr lang="en-US" dirty="0">
                <a:solidFill>
                  <a:srgbClr val="FF0000"/>
                </a:solidFill>
              </a:rPr>
              <a:t>Properties of Fuzzy relations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301F27-BCE6-0626-E667-B7F086776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270" y="1096079"/>
            <a:ext cx="2378265" cy="1446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789113-DC8C-797D-AA1C-AE3A9C499D51}"/>
              </a:ext>
            </a:extLst>
          </p:cNvPr>
          <p:cNvSpPr txBox="1"/>
          <p:nvPr/>
        </p:nvSpPr>
        <p:spPr>
          <a:xfrm>
            <a:off x="564753" y="899871"/>
            <a:ext cx="495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effectLst/>
              </a:rPr>
              <a:t>Given the relation matrix,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10322F-E6AB-CE2D-AE09-3FA616A3E0D0}"/>
              </a:ext>
            </a:extLst>
          </p:cNvPr>
          <p:cNvSpPr txBox="1"/>
          <p:nvPr/>
        </p:nvSpPr>
        <p:spPr>
          <a:xfrm>
            <a:off x="564752" y="1537415"/>
            <a:ext cx="66112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b="0" i="0" dirty="0">
                <a:solidFill>
                  <a:srgbClr val="0070C0"/>
                </a:solidFill>
                <a:effectLst/>
              </a:rPr>
              <a:t>Answer the following questions: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>
              <a:buFont typeface="+mj-lt"/>
              <a:buAutoNum type="arabicPeriod"/>
            </a:pPr>
            <a:r>
              <a:rPr lang="en-US" sz="1800" b="0" i="0" dirty="0">
                <a:solidFill>
                  <a:srgbClr val="FF0000"/>
                </a:solidFill>
                <a:effectLst/>
              </a:rPr>
              <a:t>Is relation reflexive? Why?</a:t>
            </a:r>
          </a:p>
          <a:p>
            <a:pPr algn="l" fontAlgn="base">
              <a:buFont typeface="+mj-lt"/>
              <a:buAutoNum type="arabicPeriod"/>
            </a:pPr>
            <a:r>
              <a:rPr lang="en-US" sz="1800" b="0" i="0" dirty="0">
                <a:solidFill>
                  <a:srgbClr val="FF0000"/>
                </a:solidFill>
                <a:effectLst/>
              </a:rPr>
              <a:t>Is relation symmetric? Why?</a:t>
            </a:r>
          </a:p>
          <a:p>
            <a:pPr algn="l" fontAlgn="base">
              <a:buFont typeface="+mj-lt"/>
              <a:buAutoNum type="arabicPeriod"/>
            </a:pPr>
            <a:r>
              <a:rPr lang="en-US" sz="1800" b="0" i="0" dirty="0">
                <a:solidFill>
                  <a:srgbClr val="FF0000"/>
                </a:solidFill>
                <a:effectLst/>
              </a:rPr>
              <a:t>Is relation transitive? Why?</a:t>
            </a:r>
          </a:p>
          <a:p>
            <a:pPr algn="l" fontAlgn="base">
              <a:buFont typeface="+mj-lt"/>
              <a:buAutoNum type="arabicPeriod"/>
            </a:pPr>
            <a:r>
              <a:rPr lang="en-US" sz="1800" b="0" i="0" dirty="0">
                <a:solidFill>
                  <a:srgbClr val="FF0000"/>
                </a:solidFill>
                <a:effectLst/>
              </a:rPr>
              <a:t>Is relation similarity or equivalence? Why?</a:t>
            </a:r>
          </a:p>
          <a:p>
            <a:pPr algn="l" fontAlgn="base">
              <a:buFont typeface="+mj-lt"/>
              <a:buAutoNum type="arabicPeriod"/>
            </a:pPr>
            <a:r>
              <a:rPr lang="en-US" sz="1800" b="0" i="0" dirty="0">
                <a:solidFill>
                  <a:srgbClr val="FF0000"/>
                </a:solidFill>
                <a:effectLst/>
              </a:rPr>
              <a:t>Is relation partial order or anti-similar? Why?</a:t>
            </a:r>
          </a:p>
          <a:p>
            <a:pPr algn="l" fontAlgn="base">
              <a:buFont typeface="+mj-lt"/>
              <a:buAutoNum type="arabicPeriod"/>
            </a:pPr>
            <a:r>
              <a:rPr lang="en-US" sz="1800" b="0" i="0" dirty="0">
                <a:solidFill>
                  <a:srgbClr val="FF0000"/>
                </a:solidFill>
                <a:effectLst/>
              </a:rPr>
              <a:t>Is relation weak similar </a:t>
            </a:r>
            <a:r>
              <a:rPr lang="en-US" sz="1800" dirty="0">
                <a:solidFill>
                  <a:srgbClr val="FF0000"/>
                </a:solidFill>
              </a:rPr>
              <a:t>or 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tolerance? Why?</a:t>
            </a:r>
          </a:p>
        </p:txBody>
      </p:sp>
    </p:spTree>
    <p:extLst>
      <p:ext uri="{BB962C8B-B14F-4D97-AF65-F5344CB8AC3E}">
        <p14:creationId xmlns:p14="http://schemas.microsoft.com/office/powerpoint/2010/main" val="40301943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49</a:t>
            </a:fld>
            <a:endParaRPr lang="en-IN" sz="1058" spc="-1">
              <a:latin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126171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Fuzzy control system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2E8F7D-F7FB-08D0-5966-316B376B2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70" y="2186609"/>
            <a:ext cx="8707787" cy="2484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E5FA48-2069-307F-9276-71858293BA5F}"/>
              </a:ext>
            </a:extLst>
          </p:cNvPr>
          <p:cNvSpPr txBox="1"/>
          <p:nvPr/>
        </p:nvSpPr>
        <p:spPr>
          <a:xfrm>
            <a:off x="3282753" y="-22307"/>
            <a:ext cx="33547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i="0" dirty="0">
                <a:solidFill>
                  <a:srgbClr val="FF0000"/>
                </a:solidFill>
                <a:effectLst/>
                <a:latin typeface="+mj-lt"/>
              </a:rPr>
              <a:t>Fuzzy control system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5F2686-0733-1C80-A429-404767130688}"/>
              </a:ext>
            </a:extLst>
          </p:cNvPr>
          <p:cNvCxnSpPr>
            <a:cxnSpLocks/>
          </p:cNvCxnSpPr>
          <p:nvPr/>
        </p:nvCxnSpPr>
        <p:spPr>
          <a:xfrm>
            <a:off x="1714494" y="1883600"/>
            <a:ext cx="451681" cy="10782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FFED6E-D4A3-91DC-64D4-EEE9CC0A19FA}"/>
              </a:ext>
            </a:extLst>
          </p:cNvPr>
          <p:cNvCxnSpPr>
            <a:cxnSpLocks/>
          </p:cNvCxnSpPr>
          <p:nvPr/>
        </p:nvCxnSpPr>
        <p:spPr>
          <a:xfrm>
            <a:off x="3568148" y="1958281"/>
            <a:ext cx="352838" cy="102345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DA2B83-E338-C09C-37F4-A6B42143CF9E}"/>
              </a:ext>
            </a:extLst>
          </p:cNvPr>
          <p:cNvCxnSpPr>
            <a:cxnSpLocks/>
          </p:cNvCxnSpPr>
          <p:nvPr/>
        </p:nvCxnSpPr>
        <p:spPr>
          <a:xfrm flipH="1">
            <a:off x="5449957" y="1938402"/>
            <a:ext cx="324678" cy="102345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13DB40-8906-7AEE-0C7B-3B4AE7D538AF}"/>
              </a:ext>
            </a:extLst>
          </p:cNvPr>
          <p:cNvCxnSpPr>
            <a:cxnSpLocks/>
          </p:cNvCxnSpPr>
          <p:nvPr/>
        </p:nvCxnSpPr>
        <p:spPr>
          <a:xfrm flipH="1">
            <a:off x="7301949" y="1938402"/>
            <a:ext cx="341242" cy="96865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E2C064-C9CA-8A5F-E12F-3403A5195CD3}"/>
              </a:ext>
            </a:extLst>
          </p:cNvPr>
          <p:cNvCxnSpPr>
            <a:cxnSpLocks/>
          </p:cNvCxnSpPr>
          <p:nvPr/>
        </p:nvCxnSpPr>
        <p:spPr>
          <a:xfrm>
            <a:off x="4684644" y="1699591"/>
            <a:ext cx="0" cy="69573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193FD7C-D172-6662-FFFF-7A600171FC6A}"/>
              </a:ext>
            </a:extLst>
          </p:cNvPr>
          <p:cNvSpPr txBox="1"/>
          <p:nvPr/>
        </p:nvSpPr>
        <p:spPr>
          <a:xfrm>
            <a:off x="322738" y="1342608"/>
            <a:ext cx="1825495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Input: Crisp values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2FBB86-6FC8-93B1-A4D6-023A3A230A6C}"/>
              </a:ext>
            </a:extLst>
          </p:cNvPr>
          <p:cNvSpPr txBox="1"/>
          <p:nvPr/>
        </p:nvSpPr>
        <p:spPr>
          <a:xfrm>
            <a:off x="2338555" y="989395"/>
            <a:ext cx="158077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linguistic variable values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AE8BD0-95A8-A16F-3E49-AE121A4EEA72}"/>
              </a:ext>
            </a:extLst>
          </p:cNvPr>
          <p:cNvSpPr txBox="1"/>
          <p:nvPr/>
        </p:nvSpPr>
        <p:spPr>
          <a:xfrm>
            <a:off x="4031654" y="636908"/>
            <a:ext cx="1616923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rgbClr val="0070C0"/>
                </a:solidFill>
              </a:rPr>
              <a:t>Rule base    and inference engine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4C2966-8987-4729-9D97-0AFB4C08F4D6}"/>
              </a:ext>
            </a:extLst>
          </p:cNvPr>
          <p:cNvSpPr txBox="1"/>
          <p:nvPr/>
        </p:nvSpPr>
        <p:spPr>
          <a:xfrm>
            <a:off x="5837422" y="891021"/>
            <a:ext cx="1616923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linguistic variable values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BC8667-139B-9ADA-0484-AB1E0190BB05}"/>
              </a:ext>
            </a:extLst>
          </p:cNvPr>
          <p:cNvSpPr txBox="1"/>
          <p:nvPr/>
        </p:nvSpPr>
        <p:spPr>
          <a:xfrm>
            <a:off x="7643190" y="1229153"/>
            <a:ext cx="2014698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Output: Crisp values</a:t>
            </a:r>
          </a:p>
        </p:txBody>
      </p:sp>
    </p:spTree>
    <p:extLst>
      <p:ext uri="{BB962C8B-B14F-4D97-AF65-F5344CB8AC3E}">
        <p14:creationId xmlns:p14="http://schemas.microsoft.com/office/powerpoint/2010/main" val="6732905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50</a:t>
            </a:fld>
            <a:endParaRPr lang="en-IN" sz="1058" spc="-1">
              <a:latin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513E2B-D849-5B7D-8D67-239E554A5591}"/>
              </a:ext>
            </a:extLst>
          </p:cNvPr>
          <p:cNvSpPr txBox="1"/>
          <p:nvPr/>
        </p:nvSpPr>
        <p:spPr>
          <a:xfrm>
            <a:off x="302705" y="696405"/>
            <a:ext cx="9492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i="1" dirty="0">
                <a:solidFill>
                  <a:srgbClr val="0070C0"/>
                </a:solidFill>
                <a:effectLst/>
              </a:rPr>
              <a:t>Linguistic variables </a:t>
            </a:r>
            <a:r>
              <a:rPr lang="en-US" sz="1800" b="0" i="1" dirty="0">
                <a:effectLst/>
              </a:rPr>
              <a:t>are variables whose values are words or sentences in a natural or artificial language</a:t>
            </a:r>
            <a:endParaRPr lang="en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AA7C6-2008-45D8-D3E6-32FC33A4526C}"/>
              </a:ext>
            </a:extLst>
          </p:cNvPr>
          <p:cNvSpPr txBox="1"/>
          <p:nvPr/>
        </p:nvSpPr>
        <p:spPr>
          <a:xfrm>
            <a:off x="281995" y="1480138"/>
            <a:ext cx="94929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dirty="0"/>
              <a:t>F</a:t>
            </a:r>
            <a:r>
              <a:rPr lang="en-US" sz="1800" b="0" i="0" dirty="0">
                <a:effectLst/>
              </a:rPr>
              <a:t>uzzy variable ranges over states – which are fuzzy numbers rather than real numbers.</a:t>
            </a:r>
          </a:p>
          <a:p>
            <a:pPr algn="just" fontAlgn="base">
              <a:buClr>
                <a:srgbClr val="0070C0"/>
              </a:buClr>
            </a:pPr>
            <a:endParaRPr lang="en-US" sz="1800" b="0" i="0" dirty="0">
              <a:effectLst/>
            </a:endParaRP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dirty="0">
                <a:solidFill>
                  <a:srgbClr val="0070C0"/>
                </a:solidFill>
              </a:rPr>
              <a:t>Example: </a:t>
            </a:r>
          </a:p>
          <a:p>
            <a:pPr algn="just">
              <a:buClr>
                <a:srgbClr val="0070C0"/>
              </a:buClr>
            </a:pPr>
            <a:r>
              <a:rPr lang="en-US" sz="1800" dirty="0"/>
              <a:t>If the </a:t>
            </a:r>
            <a:r>
              <a:rPr lang="en-US" sz="1800" dirty="0">
                <a:solidFill>
                  <a:srgbClr val="0070C0"/>
                </a:solidFill>
              </a:rPr>
              <a:t>temperature</a:t>
            </a:r>
            <a:r>
              <a:rPr lang="en-US" sz="1800" dirty="0"/>
              <a:t> is </a:t>
            </a:r>
            <a:r>
              <a:rPr lang="en-US" sz="1800" dirty="0">
                <a:solidFill>
                  <a:srgbClr val="C00000"/>
                </a:solidFill>
              </a:rPr>
              <a:t>9</a:t>
            </a:r>
            <a:r>
              <a:rPr lang="en-US" sz="1800" baseline="30000" dirty="0">
                <a:solidFill>
                  <a:srgbClr val="C00000"/>
                </a:solidFill>
              </a:rPr>
              <a:t>o</a:t>
            </a:r>
            <a:r>
              <a:rPr lang="en-US" sz="1800" dirty="0">
                <a:solidFill>
                  <a:srgbClr val="C00000"/>
                </a:solidFill>
              </a:rPr>
              <a:t>C</a:t>
            </a:r>
            <a:r>
              <a:rPr lang="en-US" sz="1800" dirty="0"/>
              <a:t> then this </a:t>
            </a:r>
            <a:r>
              <a:rPr lang="en-US" sz="1800" dirty="0">
                <a:solidFill>
                  <a:srgbClr val="C00000"/>
                </a:solidFill>
              </a:rPr>
              <a:t>crisp value </a:t>
            </a:r>
            <a:r>
              <a:rPr lang="en-US" sz="1800" dirty="0"/>
              <a:t>can be converted to </a:t>
            </a:r>
            <a:r>
              <a:rPr lang="en-US" sz="1800" dirty="0">
                <a:solidFill>
                  <a:srgbClr val="C00000"/>
                </a:solidFill>
              </a:rPr>
              <a:t>linguistic variable values </a:t>
            </a:r>
            <a:r>
              <a:rPr lang="en-US" sz="1800" dirty="0"/>
              <a:t>such as </a:t>
            </a:r>
            <a:r>
              <a:rPr lang="en-US" sz="1800" dirty="0">
                <a:solidFill>
                  <a:srgbClr val="0070C0"/>
                </a:solidFill>
              </a:rPr>
              <a:t>cold, warm or hot</a:t>
            </a:r>
            <a:r>
              <a:rPr lang="en-US" sz="1800" dirty="0"/>
              <a:t>. A person can take a decision whether he has to wear a jacket or not.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b="0" i="0" dirty="0">
              <a:effectLst/>
            </a:endParaRP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Linguistic variables are defined in terms of base variables, whose values are real numbers.</a:t>
            </a:r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The base variable is the one that determines the linguistic variable’s value.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87BC57-51C4-86ED-0B5B-F606C8FECF29}"/>
              </a:ext>
            </a:extLst>
          </p:cNvPr>
          <p:cNvSpPr txBox="1"/>
          <p:nvPr/>
        </p:nvSpPr>
        <p:spPr>
          <a:xfrm>
            <a:off x="2155265" y="0"/>
            <a:ext cx="56867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</a:rPr>
              <a:t>Linguistic variables in fuzzy logic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440783E8-3C82-8E45-5743-B1C289DF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126171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Fuzzy control system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03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51</a:t>
            </a:fld>
            <a:endParaRPr lang="en-IN" sz="1058" spc="-1"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4EEE1-C7FC-2717-7D3B-933C6819BF99}"/>
              </a:ext>
            </a:extLst>
          </p:cNvPr>
          <p:cNvSpPr txBox="1"/>
          <p:nvPr/>
        </p:nvSpPr>
        <p:spPr>
          <a:xfrm>
            <a:off x="2155265" y="0"/>
            <a:ext cx="56867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</a:rPr>
              <a:t>Linguistic variables in fuzzy logic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AA7C6-2008-45D8-D3E6-32FC33A4526C}"/>
              </a:ext>
            </a:extLst>
          </p:cNvPr>
          <p:cNvSpPr txBox="1"/>
          <p:nvPr/>
        </p:nvSpPr>
        <p:spPr>
          <a:xfrm>
            <a:off x="302706" y="428948"/>
            <a:ext cx="94929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b="0" i="0" dirty="0">
                <a:effectLst/>
              </a:rPr>
              <a:t>Each linguistic variable consists of: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A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name</a:t>
            </a:r>
            <a:r>
              <a:rPr lang="en-US" sz="1800" b="0" i="0" dirty="0">
                <a:effectLst/>
              </a:rPr>
              <a:t>, which should capture the meaning of the base variable.</a:t>
            </a:r>
          </a:p>
          <a:p>
            <a:pPr lvl="1" fontAlgn="base">
              <a:buFont typeface="Arial" panose="020B0604020202020204" pitchFamily="34" charset="0"/>
              <a:buChar char="•"/>
            </a:pPr>
            <a:endParaRPr lang="en-US" sz="1800" b="0" i="0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A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base</a:t>
            </a:r>
            <a:r>
              <a:rPr lang="en-US" sz="1800" b="0" i="1" dirty="0">
                <a:effectLst/>
              </a:rPr>
              <a:t> variable</a:t>
            </a:r>
            <a:r>
              <a:rPr lang="en-US" sz="1800" b="0" i="0" dirty="0">
                <a:effectLst/>
              </a:rPr>
              <a:t> with its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range of values.</a:t>
            </a:r>
          </a:p>
          <a:p>
            <a:pPr lvl="1" fontAlgn="base">
              <a:buFont typeface="Arial" panose="020B0604020202020204" pitchFamily="34" charset="0"/>
              <a:buChar char="•"/>
            </a:pPr>
            <a:endParaRPr lang="en-US" sz="1800" b="0" i="0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A </a:t>
            </a:r>
            <a:r>
              <a:rPr lang="en-US" sz="1800" b="0" i="1" dirty="0">
                <a:effectLst/>
              </a:rPr>
              <a:t>set of 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linguistic terms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 </a:t>
            </a:r>
            <a:r>
              <a:rPr lang="en-US" sz="1800" b="0" i="0" dirty="0">
                <a:effectLst/>
              </a:rPr>
              <a:t>that refer to values of the base variable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A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semantic rule</a:t>
            </a:r>
            <a:r>
              <a:rPr lang="en-US" sz="1800" b="0" i="0" dirty="0">
                <a:effectLst/>
              </a:rPr>
              <a:t>, which assigns to each linguistic term its meaning—an appropriate fuzzy number defined on the range of the base variable.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9387F-6B80-B1DC-F9DF-264366B6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814" y="2883826"/>
            <a:ext cx="3746204" cy="24003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895FCA-665E-305E-7205-A6FB4AD603C6}"/>
              </a:ext>
            </a:extLst>
          </p:cNvPr>
          <p:cNvCxnSpPr>
            <a:cxnSpLocks/>
          </p:cNvCxnSpPr>
          <p:nvPr/>
        </p:nvCxnSpPr>
        <p:spPr>
          <a:xfrm flipV="1">
            <a:off x="6669157" y="4522306"/>
            <a:ext cx="546652" cy="377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802357-FA10-7ECC-35D4-97DD4A2122E1}"/>
              </a:ext>
            </a:extLst>
          </p:cNvPr>
          <p:cNvCxnSpPr>
            <a:cxnSpLocks/>
          </p:cNvCxnSpPr>
          <p:nvPr/>
        </p:nvCxnSpPr>
        <p:spPr>
          <a:xfrm flipV="1">
            <a:off x="6522796" y="3578088"/>
            <a:ext cx="454474" cy="98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780292-2805-AC49-8A65-2E73A9954784}"/>
              </a:ext>
            </a:extLst>
          </p:cNvPr>
          <p:cNvCxnSpPr>
            <a:cxnSpLocks/>
          </p:cNvCxnSpPr>
          <p:nvPr/>
        </p:nvCxnSpPr>
        <p:spPr>
          <a:xfrm flipV="1">
            <a:off x="5422866" y="3389246"/>
            <a:ext cx="1554404" cy="287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A30A7897-A01C-C1ED-88C9-BCFA36A4D2F7}"/>
              </a:ext>
            </a:extLst>
          </p:cNvPr>
          <p:cNvSpPr/>
          <p:nvPr/>
        </p:nvSpPr>
        <p:spPr>
          <a:xfrm>
            <a:off x="6977270" y="3189890"/>
            <a:ext cx="238539" cy="5532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F983BA-63C3-8AC3-E35A-17DC7401251B}"/>
              </a:ext>
            </a:extLst>
          </p:cNvPr>
          <p:cNvSpPr txBox="1"/>
          <p:nvPr/>
        </p:nvSpPr>
        <p:spPr>
          <a:xfrm>
            <a:off x="7183522" y="4155910"/>
            <a:ext cx="2609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Base variable</a:t>
            </a:r>
          </a:p>
          <a:p>
            <a:r>
              <a:rPr lang="en-IN" sz="1800" dirty="0">
                <a:solidFill>
                  <a:srgbClr val="0070C0"/>
                </a:solidFill>
              </a:rPr>
              <a:t>(name: Temperature)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12086E-340B-F6EF-63CE-B252123571F7}"/>
              </a:ext>
            </a:extLst>
          </p:cNvPr>
          <p:cNvSpPr txBox="1"/>
          <p:nvPr/>
        </p:nvSpPr>
        <p:spPr>
          <a:xfrm>
            <a:off x="7183522" y="2927581"/>
            <a:ext cx="2447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Linguistic values (terms)of base variable.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1E78A4-0010-AA49-F62E-31DCAA7F24D5}"/>
              </a:ext>
            </a:extLst>
          </p:cNvPr>
          <p:cNvCxnSpPr/>
          <p:nvPr/>
        </p:nvCxnSpPr>
        <p:spPr>
          <a:xfrm flipH="1" flipV="1">
            <a:off x="2047461" y="4621697"/>
            <a:ext cx="1242391" cy="54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3CAFD7C-268B-E932-5292-540A9254B621}"/>
              </a:ext>
            </a:extLst>
          </p:cNvPr>
          <p:cNvSpPr txBox="1"/>
          <p:nvPr/>
        </p:nvSpPr>
        <p:spPr>
          <a:xfrm>
            <a:off x="567371" y="4028500"/>
            <a:ext cx="2609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Range of values of base variable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0D69125D-384C-01A7-E83F-CBEAE5D6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126171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Fuzzy control system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98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52</a:t>
            </a:fld>
            <a:endParaRPr lang="en-IN" sz="1058" spc="-1">
              <a:latin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35E4D-4B28-F319-F5C6-9FF79E69453C}"/>
              </a:ext>
            </a:extLst>
          </p:cNvPr>
          <p:cNvSpPr txBox="1"/>
          <p:nvPr/>
        </p:nvSpPr>
        <p:spPr>
          <a:xfrm>
            <a:off x="2295939" y="29444"/>
            <a:ext cx="52230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</a:rPr>
              <a:t>Linguistic hedges in fuzzy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CBA20-66EC-BE59-FE58-A2CBD0A54436}"/>
              </a:ext>
            </a:extLst>
          </p:cNvPr>
          <p:cNvSpPr txBox="1"/>
          <p:nvPr/>
        </p:nvSpPr>
        <p:spPr>
          <a:xfrm>
            <a:off x="302706" y="532623"/>
            <a:ext cx="94454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A linguistic hedge is an operation that modifies the meaning of a fuzzy set.</a:t>
            </a:r>
          </a:p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Hedges are the operators which modify the shapes of fuzzy sets by using adverbs such as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more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,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high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,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less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, </a:t>
            </a:r>
            <a:r>
              <a:rPr lang="en-US" sz="1800" b="0" i="0" dirty="0">
                <a:effectLst/>
              </a:rPr>
              <a:t>and </a:t>
            </a:r>
            <a:r>
              <a:rPr lang="en-US" sz="1800" b="0" i="1" dirty="0">
                <a:solidFill>
                  <a:srgbClr val="C00000"/>
                </a:solidFill>
                <a:effectLst/>
              </a:rPr>
              <a:t>slightly</a:t>
            </a:r>
            <a:r>
              <a:rPr lang="en-US" sz="1800" b="0" i="0" dirty="0">
                <a:effectLst/>
              </a:rPr>
              <a:t>.</a:t>
            </a:r>
          </a:p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i="0" dirty="0">
                <a:solidFill>
                  <a:srgbClr val="0070C0"/>
                </a:solidFill>
                <a:effectLst/>
              </a:rPr>
              <a:t>Example:</a:t>
            </a:r>
          </a:p>
          <a:p>
            <a:pPr algn="l" fontAlgn="base">
              <a:buClr>
                <a:srgbClr val="0070C0"/>
              </a:buClr>
            </a:pPr>
            <a:r>
              <a:rPr lang="en-US" sz="1800" b="0" i="0" dirty="0">
                <a:effectLst/>
              </a:rPr>
              <a:t>Depending upon the situation we can say a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high temperature </a:t>
            </a:r>
            <a:r>
              <a:rPr lang="en-US" sz="1800" b="0" i="0" dirty="0">
                <a:effectLst/>
              </a:rPr>
              <a:t>as 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very high or slightly high </a:t>
            </a:r>
            <a:r>
              <a:rPr lang="en-US" sz="1800" b="0" i="0" dirty="0">
                <a:effectLst/>
              </a:rPr>
              <a:t>temperature etc. </a:t>
            </a:r>
          </a:p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l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i="0" dirty="0">
                <a:solidFill>
                  <a:srgbClr val="0070C0"/>
                </a:solidFill>
                <a:effectLst/>
              </a:rPr>
              <a:t>Types of hedges:</a:t>
            </a:r>
          </a:p>
          <a:p>
            <a:pPr marL="780849" lvl="1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800" b="0" i="0" dirty="0">
                <a:effectLst/>
              </a:rPr>
              <a:t>Intensify a fuzzy set (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very, extremely</a:t>
            </a:r>
            <a:r>
              <a:rPr lang="en-US" sz="1800" b="0" i="0" dirty="0">
                <a:effectLst/>
              </a:rPr>
              <a:t>)</a:t>
            </a:r>
          </a:p>
          <a:p>
            <a:pPr marL="780849" lvl="1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800" b="0" i="0" dirty="0">
                <a:effectLst/>
              </a:rPr>
              <a:t>Dilute a fuzzy set (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somewhat, sort of</a:t>
            </a:r>
            <a:r>
              <a:rPr lang="en-US" sz="1800" b="0" i="0" dirty="0">
                <a:effectLst/>
              </a:rPr>
              <a:t>)</a:t>
            </a:r>
          </a:p>
          <a:p>
            <a:pPr marL="780849" lvl="1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800" b="0" i="0" dirty="0">
                <a:effectLst/>
              </a:rPr>
              <a:t>Express probabilities (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probably, not likely</a:t>
            </a:r>
            <a:r>
              <a:rPr lang="en-US" sz="1800" b="0" i="0" dirty="0">
                <a:effectLst/>
              </a:rPr>
              <a:t>)</a:t>
            </a:r>
          </a:p>
          <a:p>
            <a:pPr marL="780849" lvl="1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800" b="0" i="0" dirty="0">
                <a:effectLst/>
              </a:rPr>
              <a:t>Approximate a scalar or single number (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exactly</a:t>
            </a:r>
            <a:r>
              <a:rPr lang="en-US" sz="1800" b="0" i="0" dirty="0">
                <a:effectLst/>
              </a:rPr>
              <a:t>)</a:t>
            </a:r>
          </a:p>
          <a:p>
            <a:pPr marL="780849" lvl="1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800" b="0" i="0" dirty="0">
                <a:effectLst/>
              </a:rPr>
              <a:t>Express vague quantities (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most, seldom</a:t>
            </a:r>
            <a:r>
              <a:rPr lang="en-US" sz="1800" b="0" i="0" dirty="0">
                <a:effectLst/>
              </a:rPr>
              <a:t>)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759E8717-8E5B-7281-1829-59F10FFC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126171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Fuzzy control system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7352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53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857119" y="-79416"/>
            <a:ext cx="2206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10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53C44-4DDB-7ABF-3711-4781CAD355B8}"/>
              </a:ext>
            </a:extLst>
          </p:cNvPr>
          <p:cNvSpPr txBox="1"/>
          <p:nvPr/>
        </p:nvSpPr>
        <p:spPr>
          <a:xfrm>
            <a:off x="292567" y="727041"/>
            <a:ext cx="94871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dirty="0"/>
              <a:t>Fuzzification is the process of converting a crisp set to a fuzzy set.</a:t>
            </a:r>
          </a:p>
          <a:p>
            <a:pPr algn="just">
              <a:buClr>
                <a:srgbClr val="0070C0"/>
              </a:buClr>
            </a:pPr>
            <a:r>
              <a:rPr lang="en-US" sz="1800" dirty="0"/>
              <a:t>That is crisp quantities are converted to fuzzy quantities.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dirty="0"/>
              <a:t>Fuzzification translates crisp input values into linguistic (fuzzy) variables.</a:t>
            </a:r>
          </a:p>
          <a:p>
            <a:pPr algn="just">
              <a:buClr>
                <a:srgbClr val="0070C0"/>
              </a:buClr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solidFill>
                  <a:srgbClr val="0070C0"/>
                </a:solidFill>
                <a:effectLst/>
              </a:rPr>
              <a:t>Fuzzy membership function </a:t>
            </a:r>
            <a:r>
              <a:rPr lang="en-US" sz="1800" b="0" i="0" dirty="0">
                <a:effectLst/>
              </a:rPr>
              <a:t>is used to convert the crisp input to fuzzy set by assigning </a:t>
            </a:r>
            <a:r>
              <a:rPr lang="en-US" sz="1800" dirty="0"/>
              <a:t>membership values to fuzzy variables.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/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</a:rPr>
              <a:t>That is fuzziness in the data is best described by the fuzzy membership function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b="0" i="0" dirty="0">
              <a:effectLst/>
            </a:endParaRP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dirty="0"/>
              <a:t>There are several ways to assign membership values to fuzzy variables.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2945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54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857119" y="-79416"/>
            <a:ext cx="2206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10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8C0902-DC3E-EBC1-5969-BC18CDC09FF0}"/>
                  </a:ext>
                </a:extLst>
              </p:cNvPr>
              <p:cNvSpPr txBox="1"/>
              <p:nvPr/>
            </p:nvSpPr>
            <p:spPr>
              <a:xfrm>
                <a:off x="302706" y="594155"/>
                <a:ext cx="9417764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dirty="0"/>
                  <a:t>A</a:t>
                </a:r>
                <a:r>
                  <a:rPr lang="en-US" sz="1800" b="0" i="0" dirty="0">
                    <a:effectLst/>
                  </a:rPr>
                  <a:t> membership function for a fuzzy set A on the universe of discourse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is defined as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µ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→ [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].</m:t>
                    </m:r>
                  </m:oMath>
                </a14:m>
                <a:endParaRPr lang="en-US" sz="1800" b="0" i="0" dirty="0">
                  <a:effectLst/>
                </a:endParaRPr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dirty="0"/>
                  <a:t>E</a:t>
                </a:r>
                <a:r>
                  <a:rPr lang="en-US" sz="1800" b="0" i="0" dirty="0">
                    <a:effectLst/>
                  </a:rPr>
                  <a:t>ach element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is mapped to a value between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b="0" i="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b="0" i="0" dirty="0">
                    <a:effectLst/>
                  </a:rPr>
                  <a:t>, this value, called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membership value </a:t>
                </a:r>
                <a:r>
                  <a:rPr lang="en-US" sz="1800" b="0" i="0" dirty="0">
                    <a:effectLst/>
                  </a:rPr>
                  <a:t>or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degree of membership</a:t>
                </a:r>
                <a:r>
                  <a:rPr lang="en-US" sz="1800" dirty="0"/>
                  <a:t>.</a:t>
                </a:r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dirty="0">
                    <a:solidFill>
                      <a:srgbClr val="0070C0"/>
                    </a:solidFill>
                  </a:rPr>
                  <a:t>M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embership value </a:t>
                </a:r>
                <a:r>
                  <a:rPr lang="en-US" sz="1800" b="0" i="0" dirty="0">
                    <a:effectLst/>
                  </a:rPr>
                  <a:t>quantifies the grade of membership of the element in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to the fuzzy set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.</a:t>
                </a:r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Fuzzy membership function is the graphical way of visualizing degree of membership of any value in given fuzzy set. </a:t>
                </a:r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b="0" i="0" dirty="0">
                    <a:effectLst/>
                  </a:rPr>
                  <a:t>In </a:t>
                </a:r>
                <a:r>
                  <a:rPr lang="en-US" sz="1800" dirty="0"/>
                  <a:t>a</a:t>
                </a:r>
                <a:r>
                  <a:rPr lang="en-US" sz="1800" b="0" i="0" dirty="0">
                    <a:effectLst/>
                  </a:rPr>
                  <a:t> graph,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b="0" i="0" dirty="0">
                    <a:effectLst/>
                  </a:rPr>
                  <a:t> axis represents the universe of discourse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b="0" i="0" dirty="0">
                    <a:effectLst/>
                  </a:rPr>
                  <a:t> axis represents the degree of membership in the range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endParaRPr lang="en-US" sz="1800" dirty="0"/>
              </a:p>
              <a:p>
                <a:pPr marL="285750" indent="-285750" algn="just">
                  <a:buClr>
                    <a:srgbClr val="0070C0"/>
                  </a:buClr>
                  <a:buFont typeface="Consolas" panose="020B0609020204030204" pitchFamily="49" charset="0"/>
                  <a:buChar char="►"/>
                </a:pPr>
                <a:r>
                  <a:rPr lang="en-US" sz="1800" dirty="0"/>
                  <a:t>The membership functions can be defined by various shapes: </a:t>
                </a:r>
                <a:r>
                  <a:rPr lang="en-US" sz="1800" dirty="0">
                    <a:solidFill>
                      <a:srgbClr val="0070C0"/>
                    </a:solidFill>
                  </a:rPr>
                  <a:t>triangular, trapezoidal, bell-shaped, Gaussian</a:t>
                </a:r>
                <a:r>
                  <a:rPr lang="en-US" sz="1800" dirty="0"/>
                  <a:t> etc. </a:t>
                </a:r>
                <a:endParaRPr lang="en-IN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8C0902-DC3E-EBC1-5969-BC18CDC09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594155"/>
                <a:ext cx="9417764" cy="4801314"/>
              </a:xfrm>
              <a:prstGeom prst="rect">
                <a:avLst/>
              </a:prstGeom>
              <a:blipFill>
                <a:blip r:embed="rId3"/>
                <a:stretch>
                  <a:fillRect l="-518" t="-635" r="-1877" b="-10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5558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55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2925942" y="-48"/>
            <a:ext cx="4227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Fuzzy membership functions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738422" cy="201161"/>
          </a:xfrm>
        </p:spPr>
        <p:txBody>
          <a:bodyPr/>
          <a:lstStyle/>
          <a:p>
            <a:r>
              <a:rPr lang="en-US" sz="10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Fuzzy membership functions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3AFC4-6888-5D65-AF90-4B93FB977D6F}"/>
              </a:ext>
            </a:extLst>
          </p:cNvPr>
          <p:cNvSpPr txBox="1"/>
          <p:nvPr/>
        </p:nvSpPr>
        <p:spPr>
          <a:xfrm>
            <a:off x="302706" y="516546"/>
            <a:ext cx="6397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buFont typeface="Wingdings" panose="05000000000000000000" pitchFamily="2" charset="2"/>
              <a:buChar char="§"/>
            </a:pPr>
            <a:r>
              <a:rPr lang="en-US" sz="1800" i="0" dirty="0">
                <a:solidFill>
                  <a:srgbClr val="0070C0"/>
                </a:solidFill>
                <a:effectLst/>
              </a:rPr>
              <a:t>Singleton membership function</a:t>
            </a:r>
          </a:p>
          <a:p>
            <a:pPr algn="just" fontAlgn="base"/>
            <a:r>
              <a:rPr lang="en-US" sz="1800" b="0" i="0" dirty="0">
                <a:effectLst/>
              </a:rPr>
              <a:t>Singleton membership function assigns membership value 1 to particular value of x and assigns value 0 to rest of all.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E28D1-223F-F2F9-EA9E-0F73CF380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699" y="543847"/>
            <a:ext cx="3095625" cy="2181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866974-D53F-67F9-7253-2E67575C8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598" y="1634459"/>
            <a:ext cx="2724150" cy="819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68CB34-BCA4-D17E-05FB-FC0EA5C01298}"/>
                  </a:ext>
                </a:extLst>
              </p:cNvPr>
              <p:cNvSpPr txBox="1"/>
              <p:nvPr/>
            </p:nvSpPr>
            <p:spPr>
              <a:xfrm>
                <a:off x="302705" y="2790031"/>
                <a:ext cx="6764017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fontAlgn="base">
                  <a:buFont typeface="Wingdings" panose="05000000000000000000" pitchFamily="2" charset="2"/>
                  <a:buChar char="§"/>
                </a:pP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Triangular membership function</a:t>
                </a:r>
              </a:p>
              <a:p>
                <a:pPr algn="just" fontAlgn="base"/>
                <a:r>
                  <a:rPr lang="en-US" sz="1800" b="0" i="0" dirty="0">
                    <a:effectLst/>
                  </a:rPr>
                  <a:t>This is one of the most widely accepted and used membership function.</a:t>
                </a:r>
              </a:p>
              <a:p>
                <a:pPr algn="just" fontAlgn="base"/>
                <a:endParaRPr lang="en-US" sz="1800" b="0" i="0" dirty="0">
                  <a:effectLst/>
                </a:endParaRPr>
              </a:p>
              <a:p>
                <a:pPr algn="just" fontAlgn="base"/>
                <a:r>
                  <a:rPr lang="en-US" sz="1800" b="0" i="0" dirty="0">
                    <a:effectLst/>
                  </a:rPr>
                  <a:t>The triangle which </a:t>
                </a:r>
                <a:r>
                  <a:rPr lang="en-US" sz="1800" b="0" i="0" dirty="0" err="1">
                    <a:effectLst/>
                  </a:rPr>
                  <a:t>fuzzifies</a:t>
                </a:r>
                <a:r>
                  <a:rPr lang="en-US" sz="1800" b="0" i="0" dirty="0">
                    <a:effectLst/>
                  </a:rPr>
                  <a:t> the input can be defined by three parameters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algn="just" fontAlgn="base"/>
                <a:endParaRPr lang="en-US" sz="1800" b="0" i="0" dirty="0">
                  <a:effectLst/>
                </a:endParaRPr>
              </a:p>
              <a:p>
                <a:pPr algn="just" fontAlgn="base"/>
                <a:r>
                  <a:rPr lang="en-US" sz="1800" dirty="0"/>
                  <a:t>Here,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dirty="0"/>
                  <a:t> a</a:t>
                </a:r>
                <a:r>
                  <a:rPr lang="en-US" sz="1800" b="0" i="0" dirty="0">
                    <a:effectLst/>
                  </a:rPr>
                  <a:t>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b="0" i="0" dirty="0">
                    <a:effectLst/>
                  </a:rPr>
                  <a:t> defines the base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0" dirty="0">
                    <a:effectLst/>
                  </a:rPr>
                  <a:t> defines the height of the triangle.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68CB34-BCA4-D17E-05FB-FC0EA5C01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5" y="2790031"/>
                <a:ext cx="6764017" cy="2585323"/>
              </a:xfrm>
              <a:prstGeom prst="rect">
                <a:avLst/>
              </a:prstGeom>
              <a:blipFill>
                <a:blip r:embed="rId5"/>
                <a:stretch>
                  <a:fillRect l="-812" t="-1415" r="-2525" b="-2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66272C0-DAB1-F888-5F40-0A99CF27F9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381" y="3045400"/>
            <a:ext cx="2336044" cy="19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215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56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86BE3-E57B-01C0-408C-6AC17787A8A1}"/>
              </a:ext>
            </a:extLst>
          </p:cNvPr>
          <p:cNvSpPr txBox="1"/>
          <p:nvPr/>
        </p:nvSpPr>
        <p:spPr>
          <a:xfrm>
            <a:off x="2925942" y="-48"/>
            <a:ext cx="4227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Fuzzy membership functions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4FD3EB52-8F9E-1BF9-0304-D984B45A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458137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Fuzzy membership functions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A9456C-D1C3-59B8-FDA4-66D071EA2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01" y="2010505"/>
            <a:ext cx="2144632" cy="1635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E1C79E-DEF0-B296-BF13-2BE9F1A6B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687" y="1941824"/>
            <a:ext cx="2303658" cy="17729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340504-D889-B104-EF9A-695E974DD625}"/>
              </a:ext>
            </a:extLst>
          </p:cNvPr>
          <p:cNvSpPr txBox="1"/>
          <p:nvPr/>
        </p:nvSpPr>
        <p:spPr>
          <a:xfrm>
            <a:off x="124659" y="629115"/>
            <a:ext cx="5790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Triangular function for different cases is given as, </a:t>
            </a:r>
            <a:endParaRPr lang="en-IN" sz="1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C0CCF4-4BEB-359D-6673-D99FBA126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12" y="1306409"/>
            <a:ext cx="5071335" cy="22392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552ECE-C607-A605-B5A5-E8884EDBE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377" y="503413"/>
            <a:ext cx="1834605" cy="15070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971DA8-2EBE-C611-1D16-DE7E47625DA8}"/>
              </a:ext>
            </a:extLst>
          </p:cNvPr>
          <p:cNvSpPr txBox="1"/>
          <p:nvPr/>
        </p:nvSpPr>
        <p:spPr>
          <a:xfrm>
            <a:off x="164495" y="3545700"/>
            <a:ext cx="47956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Example:</a:t>
            </a:r>
          </a:p>
          <a:p>
            <a:pPr algn="l" fontAlgn="base"/>
            <a:endParaRPr lang="en-US" sz="1800" i="0" dirty="0">
              <a:solidFill>
                <a:srgbClr val="0070C0"/>
              </a:solidFill>
              <a:effectLst/>
            </a:endParaRPr>
          </a:p>
          <a:p>
            <a:pPr algn="l" fontAlgn="base"/>
            <a:r>
              <a:rPr lang="en-US" sz="1800" b="0" i="0" dirty="0">
                <a:effectLst/>
              </a:rPr>
              <a:t>Determine  membership value, corresponding to 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x = 8.0 </a:t>
            </a:r>
            <a:r>
              <a:rPr lang="en-US" sz="1800" b="0" i="0" dirty="0">
                <a:effectLst/>
              </a:rPr>
              <a:t>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CAFA1E-4875-51FA-CF65-5C8EC7BE7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843" y="3814486"/>
            <a:ext cx="2355487" cy="167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46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57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E80D0-1540-161C-1A17-034EAC41526A}"/>
              </a:ext>
            </a:extLst>
          </p:cNvPr>
          <p:cNvSpPr txBox="1"/>
          <p:nvPr/>
        </p:nvSpPr>
        <p:spPr>
          <a:xfrm>
            <a:off x="2925942" y="-48"/>
            <a:ext cx="4227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Fuzzy membership functions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A66F5CF6-B929-DF57-32CF-652DBCEC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465743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Fuzzy membership functions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01B770-E825-0925-D2E2-B479C7B407E3}"/>
                  </a:ext>
                </a:extLst>
              </p:cNvPr>
              <p:cNvSpPr txBox="1"/>
              <p:nvPr/>
            </p:nvSpPr>
            <p:spPr>
              <a:xfrm>
                <a:off x="302705" y="503746"/>
                <a:ext cx="9268677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Trapezoidal membership function </a:t>
                </a:r>
              </a:p>
              <a:p>
                <a:pPr algn="just" fontAlgn="base"/>
                <a:r>
                  <a:rPr lang="en-US" sz="1800" dirty="0"/>
                  <a:t>It</a:t>
                </a:r>
                <a:r>
                  <a:rPr lang="en-US" sz="1800" b="0" i="0" dirty="0">
                    <a:effectLst/>
                  </a:rPr>
                  <a:t> is defined by four parameters: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just" fontAlgn="base"/>
                <a:endParaRPr lang="en-US" sz="1800" b="0" i="0" dirty="0">
                  <a:effectLst/>
                </a:endParaRPr>
              </a:p>
              <a:p>
                <a:pPr algn="just" fontAlgn="base"/>
                <a:r>
                  <a:rPr lang="en-US" sz="1800" b="0" i="0" dirty="0">
                    <a:effectLst/>
                  </a:rPr>
                  <a:t>Span b to c represents the highest membership that element can take. </a:t>
                </a:r>
              </a:p>
              <a:p>
                <a:pPr algn="just" fontAlgn="base"/>
                <a:endParaRPr lang="en-US" sz="1800" b="0" i="0" dirty="0">
                  <a:effectLst/>
                </a:endParaRPr>
              </a:p>
              <a:p>
                <a:pPr algn="just" fontAlgn="base"/>
                <a:r>
                  <a:rPr lang="en-US" sz="1800" dirty="0"/>
                  <a:t>I</a:t>
                </a:r>
                <a:r>
                  <a:rPr lang="en-US" sz="1800" b="0" i="0" dirty="0">
                    <a:effectLst/>
                  </a:rPr>
                  <a:t>f x is between (a, b) or (c, d), then it will have membership value between 0 and 1.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01B770-E825-0925-D2E2-B479C7B40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5" y="503746"/>
                <a:ext cx="9268677" cy="2031325"/>
              </a:xfrm>
              <a:prstGeom prst="rect">
                <a:avLst/>
              </a:prstGeom>
              <a:blipFill>
                <a:blip r:embed="rId3"/>
                <a:stretch>
                  <a:fillRect l="-592" t="-1802" r="-526" b="-3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31424A6-740A-95AA-C470-01273AB2C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21" y="2790031"/>
            <a:ext cx="2801321" cy="18353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5AEFE4-F455-115D-3175-502686279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26" y="2540736"/>
            <a:ext cx="5436704" cy="258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270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58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857119" y="-79416"/>
            <a:ext cx="2206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FEAC3-13FF-100A-8855-C3240A42AF54}"/>
              </a:ext>
            </a:extLst>
          </p:cNvPr>
          <p:cNvSpPr txBox="1"/>
          <p:nvPr/>
        </p:nvSpPr>
        <p:spPr>
          <a:xfrm>
            <a:off x="350132" y="470011"/>
            <a:ext cx="495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Trapezoidal membership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987F04-2437-C159-1F22-2507B09D2212}"/>
                  </a:ext>
                </a:extLst>
              </p:cNvPr>
              <p:cNvSpPr txBox="1"/>
              <p:nvPr/>
            </p:nvSpPr>
            <p:spPr>
              <a:xfrm>
                <a:off x="1495401" y="1013906"/>
                <a:ext cx="42417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</a:t>
                </a:r>
                <a:r>
                  <a:rPr lang="en-US" sz="1800" b="1" i="0" dirty="0">
                    <a:effectLst/>
                  </a:rPr>
                  <a:t> </a:t>
                </a:r>
              </a:p>
              <a:p>
                <a:pPr algn="just" fontAlgn="base"/>
                <a:r>
                  <a:rPr lang="en-US" sz="1800" b="0" i="0" dirty="0">
                    <a:effectLst/>
                  </a:rPr>
                  <a:t>Determine membership value, corresponding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?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987F04-2437-C159-1F22-2507B09D2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01" y="1013906"/>
                <a:ext cx="4241746" cy="923330"/>
              </a:xfrm>
              <a:prstGeom prst="rect">
                <a:avLst/>
              </a:prstGeom>
              <a:blipFill>
                <a:blip r:embed="rId3"/>
                <a:stretch>
                  <a:fillRect l="-1149" t="-3289" r="-1293"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792A7382-E97D-C545-A6D1-ED37C76D9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446" y="694015"/>
            <a:ext cx="2607458" cy="191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453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59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857119" y="-79416"/>
            <a:ext cx="2206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FEAC3-13FF-100A-8855-C3240A42AF54}"/>
              </a:ext>
            </a:extLst>
          </p:cNvPr>
          <p:cNvSpPr txBox="1"/>
          <p:nvPr/>
        </p:nvSpPr>
        <p:spPr>
          <a:xfrm>
            <a:off x="350132" y="470011"/>
            <a:ext cx="495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Trapezoidal membership function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D86C50-742C-989F-F7F1-40665074E2CD}"/>
              </a:ext>
            </a:extLst>
          </p:cNvPr>
          <p:cNvSpPr txBox="1"/>
          <p:nvPr/>
        </p:nvSpPr>
        <p:spPr>
          <a:xfrm>
            <a:off x="350132" y="887304"/>
            <a:ext cx="9221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effectLst/>
              </a:rPr>
              <a:t>There are two special forms of trapezoidal function based on open-ness of function.</a:t>
            </a:r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1297AB-4920-31C8-F135-F18770A48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28" y="1836244"/>
            <a:ext cx="2316134" cy="16865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9C30CA-C57D-1F3C-D2E1-5BAF07BEA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553" y="1836244"/>
            <a:ext cx="2179463" cy="1686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3BBE55-D31A-C781-91B2-EEEB820F0E97}"/>
                  </a:ext>
                </a:extLst>
              </p:cNvPr>
              <p:cNvSpPr txBox="1"/>
              <p:nvPr/>
            </p:nvSpPr>
            <p:spPr>
              <a:xfrm>
                <a:off x="5124752" y="1496822"/>
                <a:ext cx="40352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R-function:</a:t>
                </a:r>
                <a:r>
                  <a:rPr lang="en-US" sz="1800" b="0" i="0" dirty="0">
                    <a:effectLst/>
                  </a:rPr>
                  <a:t> it has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−∞</m:t>
                    </m:r>
                  </m:oMath>
                </a14:m>
                <a:endParaRPr lang="en-IN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3BBE55-D31A-C781-91B2-EEEB820F0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752" y="1496822"/>
                <a:ext cx="4035286" cy="369332"/>
              </a:xfrm>
              <a:prstGeom prst="rect">
                <a:avLst/>
              </a:prstGeom>
              <a:blipFill>
                <a:blip r:embed="rId5"/>
                <a:stretch>
                  <a:fillRect l="-136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29F5E0-0589-8F8F-A236-87DE807448A9}"/>
                  </a:ext>
                </a:extLst>
              </p:cNvPr>
              <p:cNvSpPr txBox="1"/>
              <p:nvPr/>
            </p:nvSpPr>
            <p:spPr>
              <a:xfrm>
                <a:off x="533830" y="1534458"/>
                <a:ext cx="41795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L-function:</a:t>
                </a:r>
                <a:r>
                  <a:rPr lang="en-US" sz="1800" b="1" i="0" dirty="0">
                    <a:effectLst/>
                  </a:rPr>
                  <a:t> </a:t>
                </a:r>
                <a:r>
                  <a:rPr lang="en-US" sz="1800" b="0" i="0" dirty="0">
                    <a:effectLst/>
                  </a:rPr>
                  <a:t>It has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+∞</m:t>
                    </m:r>
                  </m:oMath>
                </a14:m>
                <a:endParaRPr lang="en-IN" sz="1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29F5E0-0589-8F8F-A236-87DE80744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30" y="1534458"/>
                <a:ext cx="4179578" cy="369332"/>
              </a:xfrm>
              <a:prstGeom prst="rect">
                <a:avLst/>
              </a:prstGeom>
              <a:blipFill>
                <a:blip r:embed="rId6"/>
                <a:stretch>
                  <a:fillRect l="-1314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987F04-2437-C159-1F22-2507B09D2212}"/>
                  </a:ext>
                </a:extLst>
              </p:cNvPr>
              <p:cNvSpPr txBox="1"/>
              <p:nvPr/>
            </p:nvSpPr>
            <p:spPr>
              <a:xfrm>
                <a:off x="302706" y="3876371"/>
                <a:ext cx="42417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</a:t>
                </a:r>
                <a:r>
                  <a:rPr lang="en-US" sz="1800" b="1" i="0" dirty="0">
                    <a:effectLst/>
                  </a:rPr>
                  <a:t> </a:t>
                </a:r>
              </a:p>
              <a:p>
                <a:pPr algn="just" fontAlgn="base"/>
                <a:r>
                  <a:rPr lang="en-US" sz="1800" b="0" i="0" dirty="0">
                    <a:effectLst/>
                  </a:rPr>
                  <a:t>Determine membership value, corresponding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3.5</m:t>
                    </m:r>
                  </m:oMath>
                </a14:m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 ?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987F04-2437-C159-1F22-2507B09D2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3876371"/>
                <a:ext cx="4241746" cy="923330"/>
              </a:xfrm>
              <a:prstGeom prst="rect">
                <a:avLst/>
              </a:prstGeom>
              <a:blipFill>
                <a:blip r:embed="rId7"/>
                <a:stretch>
                  <a:fillRect l="-1295" t="-3974" r="-4173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792A7382-E97D-C545-A6D1-ED37C76D91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751" y="3556480"/>
            <a:ext cx="2607458" cy="191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873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60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857119" y="-79416"/>
            <a:ext cx="2206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98A1D3-52B0-FE76-FB1A-224E849D58B1}"/>
                  </a:ext>
                </a:extLst>
              </p:cNvPr>
              <p:cNvSpPr txBox="1"/>
              <p:nvPr/>
            </p:nvSpPr>
            <p:spPr>
              <a:xfrm>
                <a:off x="124659" y="487684"/>
                <a:ext cx="593851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Gaussian membership function</a:t>
                </a:r>
              </a:p>
              <a:p>
                <a:pPr algn="just" fontAlgn="base"/>
                <a:r>
                  <a:rPr lang="en-US" sz="1800" dirty="0"/>
                  <a:t>It</a:t>
                </a:r>
                <a:r>
                  <a:rPr lang="en-US" sz="1800" b="0" i="0" dirty="0">
                    <a:effectLst/>
                  </a:rPr>
                  <a:t> is specified by two parameters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1800" b="0" i="0" dirty="0">
                    <a:effectLst/>
                  </a:rPr>
                  <a:t>and can be defined as follows.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98A1D3-52B0-FE76-FB1A-224E849D5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59" y="487684"/>
                <a:ext cx="5938512" cy="923330"/>
              </a:xfrm>
              <a:prstGeom prst="rect">
                <a:avLst/>
              </a:prstGeom>
              <a:blipFill>
                <a:blip r:embed="rId3"/>
                <a:stretch>
                  <a:fillRect l="-821" t="-3311" r="-821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5B69131-BD33-B8C5-0FEC-7F7135B3C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217" y="557258"/>
            <a:ext cx="3136412" cy="27635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214342-186C-A8C9-2F12-AEE8C7B2B844}"/>
                  </a:ext>
                </a:extLst>
              </p:cNvPr>
              <p:cNvSpPr txBox="1"/>
              <p:nvPr/>
            </p:nvSpPr>
            <p:spPr>
              <a:xfrm>
                <a:off x="145743" y="2051076"/>
                <a:ext cx="68812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dirty="0">
                    <a:effectLst/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b="0" i="0" dirty="0">
                    <a:effectLst/>
                  </a:rPr>
                  <a:t> represents the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center of the gaussian curve </a:t>
                </a:r>
                <a:r>
                  <a:rPr lang="en-US" sz="1800" b="0" i="0" dirty="0">
                    <a:effectLst/>
                  </a:rPr>
                  <a:t>and σ represents the spread (mean) of the curve.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214342-186C-A8C9-2F12-AEE8C7B2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43" y="2051076"/>
                <a:ext cx="6881221" cy="646331"/>
              </a:xfrm>
              <a:prstGeom prst="rect">
                <a:avLst/>
              </a:prstGeom>
              <a:blipFill>
                <a:blip r:embed="rId5"/>
                <a:stretch>
                  <a:fillRect l="-797" t="-4717" r="-709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BA307F2-7D86-48B8-3B74-AD9F2ADD2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4993" y="1397914"/>
            <a:ext cx="3426261" cy="5271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5B3AF3C-9F15-47D2-DFA0-A64F87E2E1F2}"/>
              </a:ext>
            </a:extLst>
          </p:cNvPr>
          <p:cNvSpPr txBox="1"/>
          <p:nvPr/>
        </p:nvSpPr>
        <p:spPr>
          <a:xfrm>
            <a:off x="140156" y="2810415"/>
            <a:ext cx="6688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This is more natural way of representing the data distribution.</a:t>
            </a:r>
            <a:endParaRPr lang="en-I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02BB59-3AEC-43CD-E57F-937769BE01B2}"/>
                  </a:ext>
                </a:extLst>
              </p:cNvPr>
              <p:cNvSpPr txBox="1"/>
              <p:nvPr/>
            </p:nvSpPr>
            <p:spPr>
              <a:xfrm>
                <a:off x="165487" y="3655818"/>
                <a:ext cx="447263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 </a:t>
                </a:r>
              </a:p>
              <a:p>
                <a:pPr algn="just" fontAlgn="base"/>
                <a:r>
                  <a:rPr lang="en-US" sz="1800" b="0" i="0" dirty="0">
                    <a:effectLst/>
                  </a:rPr>
                  <a:t>Determine membership value, corresponding to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9,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10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3.0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02BB59-3AEC-43CD-E57F-937769BE0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87" y="3655818"/>
                <a:ext cx="4472636" cy="1200329"/>
              </a:xfrm>
              <a:prstGeom prst="rect">
                <a:avLst/>
              </a:prstGeom>
              <a:blipFill>
                <a:blip r:embed="rId7"/>
                <a:stretch>
                  <a:fillRect l="-1090" t="-3046" r="-12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AC161BCF-29AA-AFF6-0680-9A5D944A33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7497" y="3305329"/>
            <a:ext cx="2544814" cy="225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755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61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857119" y="-79416"/>
            <a:ext cx="2206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5B9A1-8DD2-4E1E-26D2-E60C154BE9E5}"/>
              </a:ext>
            </a:extLst>
          </p:cNvPr>
          <p:cNvSpPr txBox="1"/>
          <p:nvPr/>
        </p:nvSpPr>
        <p:spPr>
          <a:xfrm>
            <a:off x="194232" y="576182"/>
            <a:ext cx="95361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1800" i="0" dirty="0">
                <a:solidFill>
                  <a:srgbClr val="0070C0"/>
                </a:solidFill>
                <a:effectLst/>
              </a:rPr>
              <a:t>Generalized bell shaped function</a:t>
            </a:r>
          </a:p>
          <a:p>
            <a:pPr algn="just" fontAlgn="base"/>
            <a:r>
              <a:rPr lang="en-US" sz="1800" b="0" i="0" dirty="0">
                <a:effectLst/>
              </a:rPr>
              <a:t>It is also called </a:t>
            </a:r>
            <a:r>
              <a:rPr lang="en-US" sz="1800" i="0" dirty="0">
                <a:solidFill>
                  <a:srgbClr val="0070C0"/>
                </a:solidFill>
                <a:effectLst/>
              </a:rPr>
              <a:t>Cauchy MF</a:t>
            </a:r>
            <a:r>
              <a:rPr lang="en-US" sz="1800" b="1" i="0" dirty="0">
                <a:effectLst/>
              </a:rPr>
              <a:t>.</a:t>
            </a:r>
            <a:r>
              <a:rPr lang="en-US" sz="1800" b="0" i="0" dirty="0">
                <a:effectLst/>
              </a:rPr>
              <a:t> A generalized bell MF is specified by three parameters {a, b, c} and can be defined as follows.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FC7904-66DA-9C2E-2AA9-C5E4DAA7A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747" y="1450824"/>
            <a:ext cx="4151147" cy="24017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4B1ACF-2784-1CC0-91A0-0C7C0F096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790" y="2104231"/>
            <a:ext cx="3108302" cy="807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412AC1-D72E-01C2-E2FD-32C6028C08AD}"/>
                  </a:ext>
                </a:extLst>
              </p:cNvPr>
              <p:cNvSpPr txBox="1"/>
              <p:nvPr/>
            </p:nvSpPr>
            <p:spPr>
              <a:xfrm>
                <a:off x="222393" y="3919847"/>
                <a:ext cx="9573236" cy="1234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dirty="0">
                    <a:effectLst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)=1/(1 +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30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en-US" sz="1800" b="0" i="0" dirty="0">
                    <a:effectLst/>
                  </a:rPr>
                  <a:t>can be modelled by setting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i="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0. 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just"/>
                <a:endParaRPr lang="en-US" sz="1800" dirty="0"/>
              </a:p>
              <a:p>
                <a:pPr algn="just"/>
                <a:r>
                  <a:rPr lang="en-US" sz="1800" b="0" i="0" dirty="0">
                    <a:effectLst/>
                  </a:rPr>
                  <a:t>Similarly, we can produce other shapes or functions by setting appropriate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sz="1800" dirty="0">
                    <a:solidFill>
                      <a:srgbClr val="0070C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412AC1-D72E-01C2-E2FD-32C6028C0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93" y="3919847"/>
                <a:ext cx="9573236" cy="1234120"/>
              </a:xfrm>
              <a:prstGeom prst="rect">
                <a:avLst/>
              </a:prstGeom>
              <a:blipFill>
                <a:blip r:embed="rId5"/>
                <a:stretch>
                  <a:fillRect l="-509" t="-495" r="-1782" b="-74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0401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62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857119" y="-79416"/>
            <a:ext cx="2206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05D463-DEE9-2E73-912E-47A457E7DD7E}"/>
              </a:ext>
            </a:extLst>
          </p:cNvPr>
          <p:cNvSpPr txBox="1"/>
          <p:nvPr/>
        </p:nvSpPr>
        <p:spPr>
          <a:xfrm>
            <a:off x="370446" y="515288"/>
            <a:ext cx="93500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IN" sz="1800" i="0" dirty="0">
                <a:solidFill>
                  <a:srgbClr val="0070C0"/>
                </a:solidFill>
                <a:effectLst/>
              </a:rPr>
              <a:t>Sigmoid Membership function</a:t>
            </a:r>
            <a:endParaRPr lang="en-US" sz="1800" i="0" dirty="0">
              <a:solidFill>
                <a:srgbClr val="0070C0"/>
              </a:solidFill>
              <a:effectLst/>
            </a:endParaRPr>
          </a:p>
          <a:p>
            <a:pPr algn="just" fontAlgn="base"/>
            <a:r>
              <a:rPr lang="en-US" sz="1800" b="0" i="0" dirty="0">
                <a:effectLst/>
              </a:rPr>
              <a:t>Sigmoid functions are widely used in classification task in machine learning. </a:t>
            </a:r>
          </a:p>
          <a:p>
            <a:pPr algn="just" fontAlgn="base"/>
            <a:endParaRPr lang="en-US" sz="1800" b="0" i="0" dirty="0">
              <a:effectLst/>
            </a:endParaRPr>
          </a:p>
          <a:p>
            <a:pPr algn="just" fontAlgn="base"/>
            <a:r>
              <a:rPr lang="en-US" sz="1800" b="0" i="0" dirty="0">
                <a:effectLst/>
              </a:rPr>
              <a:t>Specifically, it is used in logistic regression and neural network, where it suppresses the input and maps it between 0 and 1.</a:t>
            </a:r>
          </a:p>
          <a:p>
            <a:pPr algn="just" fontAlgn="base"/>
            <a:endParaRPr lang="en-US" sz="1800" b="0" i="0" dirty="0">
              <a:effectLst/>
            </a:endParaRPr>
          </a:p>
          <a:p>
            <a:pPr algn="just" fontAlgn="base"/>
            <a:r>
              <a:rPr lang="en-US" sz="1800" b="0" i="0" dirty="0">
                <a:effectLst/>
              </a:rPr>
              <a:t>It is controlled by parameters a and c. Where </a:t>
            </a:r>
            <a:r>
              <a:rPr lang="en-US" sz="1800" b="0" i="1" dirty="0">
                <a:effectLst/>
              </a:rPr>
              <a:t>a</a:t>
            </a:r>
            <a:r>
              <a:rPr lang="en-US" sz="1800" b="0" i="0" dirty="0">
                <a:effectLst/>
              </a:rPr>
              <a:t> controls the slope at the crossover point </a:t>
            </a:r>
            <a:r>
              <a:rPr lang="en-US" sz="1800" b="0" i="1" dirty="0">
                <a:effectLst/>
              </a:rPr>
              <a:t>x = c</a:t>
            </a:r>
          </a:p>
          <a:p>
            <a:pPr algn="just" fontAlgn="base"/>
            <a:endParaRPr lang="en-US" sz="1800" b="0" i="0" dirty="0">
              <a:effectLst/>
            </a:endParaRPr>
          </a:p>
          <a:p>
            <a:pPr algn="just" fontAlgn="base"/>
            <a:r>
              <a:rPr lang="en-US" sz="1800" b="0" i="0" dirty="0">
                <a:effectLst/>
              </a:rPr>
              <a:t>Mathematically, it is defined as,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5E8F57-AC78-35E5-9ACD-1CCBF2D5D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920" y="3818426"/>
            <a:ext cx="3276112" cy="7197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15F473-251A-B8DC-B604-E709EDA5A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016" y="3023927"/>
            <a:ext cx="3979654" cy="204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448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63</a:t>
            </a:fld>
            <a:endParaRPr lang="en-IN" sz="1058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DE8AD-5B5F-0927-7ADA-FAB4F6D28DFC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2413D-6F59-DB41-8047-FE7A1DF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04910-A717-CFC9-CD4C-B922DC5FFB71}"/>
              </a:ext>
            </a:extLst>
          </p:cNvPr>
          <p:cNvSpPr txBox="1"/>
          <p:nvPr/>
        </p:nvSpPr>
        <p:spPr>
          <a:xfrm>
            <a:off x="372715" y="603617"/>
            <a:ext cx="93278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  <a:latin typeface="+mj-lt"/>
              </a:rPr>
              <a:t>Fuzzification converts the crisp input into fuzzy value. 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>
              <a:latin typeface="+mj-lt"/>
            </a:endParaRP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  <a:latin typeface="+mj-lt"/>
              </a:rPr>
              <a:t>Defuzzification converts the fuzzy output of fuzzy inference engine into crisp value. 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>
              <a:latin typeface="+mj-lt"/>
            </a:endParaRP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  <a:latin typeface="+mj-lt"/>
              </a:rPr>
              <a:t>The fuzzy results generated can not be used in an application, where decision has to be taken only on crisp values.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432D17-2115-3C4C-C226-BADC7D615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425" y="2785140"/>
            <a:ext cx="3746204" cy="2400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ECFA1B-AB03-F89D-A001-8F36A6FC80A8}"/>
              </a:ext>
            </a:extLst>
          </p:cNvPr>
          <p:cNvSpPr txBox="1"/>
          <p:nvPr/>
        </p:nvSpPr>
        <p:spPr>
          <a:xfrm>
            <a:off x="372715" y="2785140"/>
            <a:ext cx="52488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  <a:latin typeface="+mj-lt"/>
              </a:rPr>
              <a:t>Controller can only understand the crisp output. 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>
              <a:latin typeface="+mj-lt"/>
            </a:endParaRP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b="0" i="0" dirty="0">
                <a:effectLst/>
                <a:latin typeface="+mj-lt"/>
              </a:rPr>
              <a:t>It is necessary to convert the fuzzy output into crisp value.</a:t>
            </a: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US" sz="1800" dirty="0">
              <a:latin typeface="+mj-lt"/>
            </a:endParaRPr>
          </a:p>
          <a:p>
            <a:pPr marL="285750" indent="-285750" algn="just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US" sz="1800" dirty="0">
                <a:latin typeface="+mj-lt"/>
              </a:rPr>
              <a:t>Different methods exist for defuzzification.</a:t>
            </a: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00572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64</a:t>
            </a:fld>
            <a:endParaRPr lang="en-IN" sz="1058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BF5A5-4C68-2314-DC15-E97C46F02410}"/>
              </a:ext>
            </a:extLst>
          </p:cNvPr>
          <p:cNvSpPr txBox="1"/>
          <p:nvPr/>
        </p:nvSpPr>
        <p:spPr>
          <a:xfrm>
            <a:off x="366611" y="527873"/>
            <a:ext cx="59159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1800" i="0" dirty="0">
                <a:solidFill>
                  <a:srgbClr val="0070C0"/>
                </a:solidFill>
                <a:effectLst/>
              </a:rPr>
              <a:t>Defuzzification methods:</a:t>
            </a:r>
          </a:p>
          <a:p>
            <a:pPr algn="l" fontAlgn="base"/>
            <a:endParaRPr lang="en-IN" sz="1800" i="0" dirty="0">
              <a:solidFill>
                <a:srgbClr val="0070C0"/>
              </a:solidFill>
              <a:effectLst/>
            </a:endParaRPr>
          </a:p>
          <a:p>
            <a:pPr marL="780849" lvl="1" indent="-285750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800" i="0" dirty="0">
                <a:solidFill>
                  <a:srgbClr val="C00000"/>
                </a:solidFill>
                <a:effectLst/>
              </a:rPr>
              <a:t>Lambda Cut Method</a:t>
            </a:r>
          </a:p>
          <a:p>
            <a:pPr marL="780849" lvl="1" indent="-285750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IN" sz="1800" i="0" dirty="0">
              <a:solidFill>
                <a:srgbClr val="C00000"/>
              </a:solidFill>
              <a:effectLst/>
            </a:endParaRPr>
          </a:p>
          <a:p>
            <a:pPr marL="780849" lvl="1" indent="-285750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800" i="0" dirty="0">
                <a:solidFill>
                  <a:srgbClr val="C00000"/>
                </a:solidFill>
                <a:effectLst/>
              </a:rPr>
              <a:t>Maxima Methods</a:t>
            </a:r>
          </a:p>
          <a:p>
            <a:pPr marL="1275950" lvl="2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800" b="0" i="0" dirty="0">
                <a:solidFill>
                  <a:srgbClr val="002060"/>
                </a:solidFill>
                <a:effectLst/>
              </a:rPr>
              <a:t>Height method</a:t>
            </a:r>
          </a:p>
          <a:p>
            <a:pPr marL="1275950" lvl="2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800" b="0" i="0" dirty="0">
                <a:solidFill>
                  <a:srgbClr val="002060"/>
                </a:solidFill>
                <a:effectLst/>
              </a:rPr>
              <a:t>First of maxima (</a:t>
            </a:r>
            <a:r>
              <a:rPr lang="en-IN" sz="1800" b="0" i="0" dirty="0" err="1">
                <a:solidFill>
                  <a:srgbClr val="002060"/>
                </a:solidFill>
                <a:effectLst/>
              </a:rPr>
              <a:t>FoM</a:t>
            </a:r>
            <a:r>
              <a:rPr lang="en-IN" sz="1800" b="0" i="0" dirty="0">
                <a:solidFill>
                  <a:srgbClr val="002060"/>
                </a:solidFill>
                <a:effectLst/>
              </a:rPr>
              <a:t>)</a:t>
            </a:r>
          </a:p>
          <a:p>
            <a:pPr marL="1275950" lvl="2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800" b="0" i="0" dirty="0">
                <a:solidFill>
                  <a:srgbClr val="002060"/>
                </a:solidFill>
                <a:effectLst/>
              </a:rPr>
              <a:t>Last of maxima (</a:t>
            </a:r>
            <a:r>
              <a:rPr lang="en-IN" sz="1800" b="0" i="0" dirty="0" err="1">
                <a:solidFill>
                  <a:srgbClr val="002060"/>
                </a:solidFill>
                <a:effectLst/>
              </a:rPr>
              <a:t>LoM</a:t>
            </a:r>
            <a:r>
              <a:rPr lang="en-IN" sz="1800" b="0" i="0" dirty="0">
                <a:solidFill>
                  <a:srgbClr val="002060"/>
                </a:solidFill>
                <a:effectLst/>
              </a:rPr>
              <a:t>)</a:t>
            </a:r>
          </a:p>
          <a:p>
            <a:pPr marL="1275950" lvl="2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800" b="0" i="0" dirty="0">
                <a:solidFill>
                  <a:srgbClr val="002060"/>
                </a:solidFill>
                <a:effectLst/>
              </a:rPr>
              <a:t>Mean of maxima (MoM) or Mean-Max</a:t>
            </a:r>
          </a:p>
          <a:p>
            <a:pPr marL="1275950" lvl="2" indent="-285750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IN" sz="1800" b="0" i="0" dirty="0">
              <a:effectLst/>
            </a:endParaRPr>
          </a:p>
          <a:p>
            <a:pPr marL="780849" lvl="1" indent="-285750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800" i="0" dirty="0">
                <a:solidFill>
                  <a:srgbClr val="C00000"/>
                </a:solidFill>
                <a:effectLst/>
              </a:rPr>
              <a:t>Weighted average method</a:t>
            </a:r>
          </a:p>
          <a:p>
            <a:pPr marL="780849" lvl="1" indent="-285750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endParaRPr lang="en-IN" sz="1800" b="0" i="0" dirty="0">
              <a:effectLst/>
            </a:endParaRPr>
          </a:p>
          <a:p>
            <a:pPr marL="780849" lvl="1" indent="-285750" fontAlgn="base">
              <a:buClr>
                <a:srgbClr val="0070C0"/>
              </a:buClr>
              <a:buFont typeface="Consolas" panose="020B0609020204030204" pitchFamily="49" charset="0"/>
              <a:buChar char="►"/>
            </a:pPr>
            <a:r>
              <a:rPr lang="en-IN" sz="1800" i="0" dirty="0">
                <a:solidFill>
                  <a:srgbClr val="C00000"/>
                </a:solidFill>
                <a:effectLst/>
              </a:rPr>
              <a:t>Centroid methods</a:t>
            </a:r>
          </a:p>
          <a:p>
            <a:pPr marL="1275950" lvl="2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800" b="0" i="0" dirty="0">
                <a:solidFill>
                  <a:srgbClr val="002060"/>
                </a:solidFill>
                <a:effectLst/>
              </a:rPr>
              <a:t>Centre of gravity method (</a:t>
            </a:r>
            <a:r>
              <a:rPr lang="en-IN" sz="1800" b="0" i="0" dirty="0" err="1">
                <a:solidFill>
                  <a:srgbClr val="002060"/>
                </a:solidFill>
                <a:effectLst/>
              </a:rPr>
              <a:t>CoG</a:t>
            </a:r>
            <a:r>
              <a:rPr lang="en-IN" sz="1800" b="0" i="0" dirty="0">
                <a:solidFill>
                  <a:srgbClr val="002060"/>
                </a:solidFill>
                <a:effectLst/>
              </a:rPr>
              <a:t>)</a:t>
            </a:r>
          </a:p>
          <a:p>
            <a:pPr marL="1275950" lvl="2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800" b="0" i="0" dirty="0">
                <a:solidFill>
                  <a:srgbClr val="002060"/>
                </a:solidFill>
                <a:effectLst/>
              </a:rPr>
              <a:t>Centre of sums method (</a:t>
            </a:r>
            <a:r>
              <a:rPr lang="en-IN" sz="1800" b="0" i="0" dirty="0" err="1">
                <a:solidFill>
                  <a:srgbClr val="002060"/>
                </a:solidFill>
                <a:effectLst/>
              </a:rPr>
              <a:t>CoS</a:t>
            </a:r>
            <a:r>
              <a:rPr lang="en-IN" sz="1800" b="0" i="0" dirty="0">
                <a:solidFill>
                  <a:srgbClr val="002060"/>
                </a:solidFill>
                <a:effectLst/>
              </a:rPr>
              <a:t>)</a:t>
            </a:r>
          </a:p>
          <a:p>
            <a:pPr marL="1275950" lvl="2" indent="-285750" fontAlgn="base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IN" sz="1800" b="0" i="0" dirty="0">
                <a:solidFill>
                  <a:srgbClr val="002060"/>
                </a:solidFill>
                <a:effectLst/>
              </a:rPr>
              <a:t>Centre of area method (CoA)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44A70-647A-513A-9DF4-604327C6F0A6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738BCD64-853C-2B08-FBB7-1EF79866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8263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65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1B7A3-1792-5D3E-61D7-6E3FE989A841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2DB6DF6-7EC1-9D97-551C-F40899B6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BD6A-40CF-2745-39D2-A892EBDE9895}"/>
                  </a:ext>
                </a:extLst>
              </p:cNvPr>
              <p:cNvSpPr txBox="1"/>
              <p:nvPr/>
            </p:nvSpPr>
            <p:spPr>
              <a:xfrm>
                <a:off x="302706" y="461348"/>
                <a:ext cx="9318372" cy="2896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Lambda Cut Method</a:t>
                </a:r>
              </a:p>
              <a:p>
                <a:pPr algn="l" fontAlgn="base"/>
                <a:endParaRPr lang="en-US" sz="1800" b="1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This Lambda-cut set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b="0" i="0" dirty="0">
                    <a:effectLst/>
                  </a:rPr>
                  <a:t> is also called </a:t>
                </a: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alpha-cut set</a:t>
                </a:r>
                <a:r>
                  <a:rPr lang="en-US" sz="1800" b="0" i="0" dirty="0">
                    <a:effectLst/>
                  </a:rPr>
                  <a:t>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Lambda-cut method is applicable to derive crisp value of a </a:t>
                </a:r>
                <a:r>
                  <a:rPr lang="en-US" sz="1800" b="1" i="0" dirty="0">
                    <a:effectLst/>
                  </a:rPr>
                  <a:t>fuzzy set.</a:t>
                </a:r>
              </a:p>
              <a:p>
                <a:pPr algn="l" fontAlgn="base"/>
                <a:endParaRPr lang="en-US" sz="1800" b="1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In this method a fuzzy set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dirty="0">
                    <a:effectLst/>
                  </a:rPr>
                  <a:t> is transformed into a crisp set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baseline="-25000" dirty="0" err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b="0" i="0" dirty="0">
                    <a:effectLst/>
                  </a:rPr>
                  <a:t> for a given value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dirty="0">
                    <a:effectLst/>
                  </a:rPr>
                  <a:t>as,</a:t>
                </a: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baseline="-25000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800" b="0" i="1" u="sng" baseline="-25000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baseline="-25000" dirty="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8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 }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b="1" i="0" dirty="0">
                    <a:effectLst/>
                  </a:rPr>
                  <a:t> </a:t>
                </a:r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BD6A-40CF-2745-39D2-A892EBDE9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461348"/>
                <a:ext cx="9318372" cy="2896114"/>
              </a:xfrm>
              <a:prstGeom prst="rect">
                <a:avLst/>
              </a:prstGeom>
              <a:blipFill>
                <a:blip r:embed="rId3"/>
                <a:stretch>
                  <a:fillRect l="-589" t="-1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5AD81A-19FD-14F4-98AA-5280BEFD071C}"/>
                  </a:ext>
                </a:extLst>
              </p:cNvPr>
              <p:cNvSpPr txBox="1"/>
              <p:nvPr/>
            </p:nvSpPr>
            <p:spPr>
              <a:xfrm>
                <a:off x="299209" y="3219492"/>
                <a:ext cx="8119233" cy="1889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IN" sz="1800" i="0" dirty="0">
                    <a:solidFill>
                      <a:srgbClr val="0070C0"/>
                    </a:solidFill>
                    <a:effectLst/>
                  </a:rPr>
                  <a:t>Example – 1: Lambda-cut for Fuzzy Set</a:t>
                </a:r>
              </a:p>
              <a:p>
                <a:pPr algn="l" fontAlgn="base"/>
                <a:endParaRPr lang="en-IN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u="sng" dirty="0" smtClean="0"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 = { (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) , (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) , (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en-IN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1" i="1" dirty="0" smtClean="0">
                          <a:effectLst/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IN" sz="1800" b="1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l-GR" sz="1800" b="0" i="1" dirty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= {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IN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1" i="1" dirty="0" smtClean="0">
                          <a:effectLst/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IN" sz="1800" b="1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l-GR" sz="1800" b="0" i="1" dirty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= {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IN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1" i="1" dirty="0" smtClean="0">
                          <a:effectLst/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IN" sz="1800" b="1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l-GR" sz="1800" b="1" i="1" dirty="0"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l-GR" sz="1800" b="0" i="1" dirty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= {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b="0" i="1" baseline="-25000" dirty="0"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800" b="0" i="1" dirty="0">
                          <a:effectLst/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IN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5AD81A-19FD-14F4-98AA-5280BEFD0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09" y="3219492"/>
                <a:ext cx="8119233" cy="1889492"/>
              </a:xfrm>
              <a:prstGeom prst="rect">
                <a:avLst/>
              </a:prstGeom>
              <a:blipFill>
                <a:blip r:embed="rId4"/>
                <a:stretch>
                  <a:fillRect l="-601" t="-1613" b="-38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675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66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1B7A3-1792-5D3E-61D7-6E3FE989A841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2DB6DF6-7EC1-9D97-551C-F40899B6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E5DC4-A478-43E0-0A50-B89F30B063CA}"/>
              </a:ext>
            </a:extLst>
          </p:cNvPr>
          <p:cNvSpPr txBox="1"/>
          <p:nvPr/>
        </p:nvSpPr>
        <p:spPr>
          <a:xfrm>
            <a:off x="302706" y="732977"/>
            <a:ext cx="9159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Maxima methods relies on the position of maximum membership of element at particular position in </a:t>
            </a:r>
            <a:r>
              <a:rPr lang="en-US" sz="1800" b="0" i="0" strike="noStrike" dirty="0">
                <a:effectLst/>
              </a:rPr>
              <a:t>fuzzy set</a:t>
            </a:r>
            <a:r>
              <a:rPr lang="en-US" sz="1800" b="0" i="0" dirty="0">
                <a:effectLst/>
              </a:rPr>
              <a:t>.</a:t>
            </a:r>
            <a:endParaRPr lang="en-I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A9D5E8-5B6E-1EE1-2062-FD2FD184C242}"/>
                  </a:ext>
                </a:extLst>
              </p:cNvPr>
              <p:cNvSpPr txBox="1"/>
              <p:nvPr/>
            </p:nvSpPr>
            <p:spPr>
              <a:xfrm>
                <a:off x="302706" y="1433255"/>
                <a:ext cx="6368806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Height method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This method is based on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Max-membership principle </a:t>
                </a:r>
                <a:r>
                  <a:rPr lang="en-US" sz="1800" b="0" i="0" dirty="0">
                    <a:effectLst/>
                  </a:rPr>
                  <a:t>and defined as follows.</a:t>
                </a: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∗) ≥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), ∀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ctr" fontAlgn="base"/>
                <a:endParaRPr lang="en-US" sz="1800" dirty="0"/>
              </a:p>
              <a:p>
                <a:pPr fontAlgn="base"/>
                <a:r>
                  <a:rPr lang="en-US" sz="1800" b="1" i="0" dirty="0">
                    <a:effectLst/>
                  </a:rPr>
                  <a:t>Note: </a:t>
                </a:r>
                <a:r>
                  <a:rPr lang="en-US" sz="1800" b="0" i="0" dirty="0">
                    <a:effectLst/>
                  </a:rPr>
                  <a:t>This method is applicable when </a:t>
                </a:r>
                <a:r>
                  <a:rPr lang="en-US" sz="1800" i="0" dirty="0">
                    <a:solidFill>
                      <a:srgbClr val="C00000"/>
                    </a:solidFill>
                    <a:effectLst/>
                  </a:rPr>
                  <a:t>height  is unique.</a:t>
                </a:r>
                <a:r>
                  <a:rPr lang="en-US" sz="1800" b="1" i="0" dirty="0">
                    <a:effectLst/>
                  </a:rPr>
                  <a:t>  </a:t>
                </a:r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A9D5E8-5B6E-1EE1-2062-FD2FD184C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1433255"/>
                <a:ext cx="6368806" cy="2031325"/>
              </a:xfrm>
              <a:prstGeom prst="rect">
                <a:avLst/>
              </a:prstGeom>
              <a:blipFill>
                <a:blip r:embed="rId3"/>
                <a:stretch>
                  <a:fillRect l="-862" t="-1502" r="-192" b="-3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138A371B-F16C-B2AE-F0DC-8ED5D0D57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559" y="1208155"/>
            <a:ext cx="3057525" cy="2200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CA615D-C603-6728-E8C5-33A8BBD2F1F3}"/>
              </a:ext>
            </a:extLst>
          </p:cNvPr>
          <p:cNvSpPr txBox="1"/>
          <p:nvPr/>
        </p:nvSpPr>
        <p:spPr>
          <a:xfrm>
            <a:off x="302706" y="3629440"/>
            <a:ext cx="1814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0" dirty="0">
                <a:solidFill>
                  <a:srgbClr val="0070C0"/>
                </a:solidFill>
                <a:effectLst/>
              </a:rPr>
              <a:t>Example:</a:t>
            </a:r>
            <a:endParaRPr lang="en-IN" sz="1800" dirty="0">
              <a:solidFill>
                <a:srgbClr val="0070C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E3BE7D-9459-4B20-BD2C-C6532A11F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370" y="3191691"/>
            <a:ext cx="3206586" cy="23641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E8C2E6-2DBE-46EB-3FB9-27DA8EAD1027}"/>
              </a:ext>
            </a:extLst>
          </p:cNvPr>
          <p:cNvSpPr txBox="1"/>
          <p:nvPr/>
        </p:nvSpPr>
        <p:spPr>
          <a:xfrm>
            <a:off x="302706" y="291457"/>
            <a:ext cx="495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70C0"/>
                </a:solidFill>
                <a:effectLst/>
              </a:rPr>
              <a:t>Maxima methods </a:t>
            </a:r>
            <a:endParaRPr lang="en-IN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73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67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1B7A3-1792-5D3E-61D7-6E3FE989A841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2DB6DF6-7EC1-9D97-551C-F40899B6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B36D21-837F-8546-4B38-74EFD074F605}"/>
                  </a:ext>
                </a:extLst>
              </p:cNvPr>
              <p:cNvSpPr txBox="1"/>
              <p:nvPr/>
            </p:nvSpPr>
            <p:spPr>
              <a:xfrm>
                <a:off x="200303" y="430421"/>
                <a:ext cx="6724259" cy="1234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First of Maxima (</a:t>
                </a:r>
                <a:r>
                  <a:rPr lang="en-US" sz="1800" i="0" dirty="0" err="1">
                    <a:solidFill>
                      <a:srgbClr val="0070C0"/>
                    </a:solidFill>
                    <a:effectLst/>
                  </a:rPr>
                  <a:t>FoM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) method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Determine the smallest value of the domain with maximized membership degree</a:t>
                </a:r>
              </a:p>
              <a:p>
                <a:pPr algn="ctr" fontAlgn="base"/>
                <a:r>
                  <a:rPr lang="en-US" sz="1800" b="0" i="0" dirty="0" err="1">
                    <a:effectLst/>
                  </a:rPr>
                  <a:t>FoM</a:t>
                </a:r>
                <a:r>
                  <a:rPr lang="en-US" sz="1800" b="0" i="0" dirty="0">
                    <a:effectLst/>
                  </a:rPr>
                  <a:t> = First of Maxima: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30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⁡{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}</m:t>
                    </m:r>
                  </m:oMath>
                </a14:m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B36D21-837F-8546-4B38-74EFD074F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03" y="430421"/>
                <a:ext cx="6724259" cy="1234120"/>
              </a:xfrm>
              <a:prstGeom prst="rect">
                <a:avLst/>
              </a:prstGeom>
              <a:blipFill>
                <a:blip r:embed="rId3"/>
                <a:stretch>
                  <a:fillRect l="-816" t="-2970" b="-4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CAD72D3-A6B7-1491-932C-9D44AD07A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851" y="0"/>
            <a:ext cx="3125729" cy="22683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86DB2E-7502-EB19-FA8A-D535F6466528}"/>
                  </a:ext>
                </a:extLst>
              </p:cNvPr>
              <p:cNvSpPr txBox="1"/>
              <p:nvPr/>
            </p:nvSpPr>
            <p:spPr>
              <a:xfrm>
                <a:off x="179861" y="1874277"/>
                <a:ext cx="6596410" cy="1234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Last of Maxima (</a:t>
                </a:r>
                <a:r>
                  <a:rPr lang="en-US" sz="1800" i="0" dirty="0" err="1">
                    <a:solidFill>
                      <a:srgbClr val="0070C0"/>
                    </a:solidFill>
                    <a:effectLst/>
                  </a:rPr>
                  <a:t>LoM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) method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Determine the largest value of the domain with maximized membership degree</a:t>
                </a:r>
              </a:p>
              <a:p>
                <a:pPr algn="ctr" fontAlgn="base"/>
                <a:r>
                  <a:rPr lang="en-US" sz="1800" b="0" i="0" dirty="0" err="1">
                    <a:effectLst/>
                  </a:rPr>
                  <a:t>LoM</a:t>
                </a:r>
                <a:r>
                  <a:rPr lang="en-US" sz="1800" b="0" i="0" dirty="0">
                    <a:effectLst/>
                  </a:rPr>
                  <a:t> = Last of Maxima: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30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⁡{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}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86DB2E-7502-EB19-FA8A-D535F6466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61" y="1874277"/>
                <a:ext cx="6596410" cy="1234120"/>
              </a:xfrm>
              <a:prstGeom prst="rect">
                <a:avLst/>
              </a:prstGeom>
              <a:blipFill>
                <a:blip r:embed="rId5"/>
                <a:stretch>
                  <a:fillRect l="-832" t="-2463" b="-3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5027709B-8625-3EB2-2C8A-4422101C5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6271" y="2268386"/>
            <a:ext cx="3099309" cy="23089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0FFE87-DBCA-626C-C3BF-2DA2049A84A2}"/>
              </a:ext>
            </a:extLst>
          </p:cNvPr>
          <p:cNvSpPr txBox="1"/>
          <p:nvPr/>
        </p:nvSpPr>
        <p:spPr>
          <a:xfrm>
            <a:off x="131588" y="3318133"/>
            <a:ext cx="30388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b="1" i="0" dirty="0">
                <a:effectLst/>
              </a:rPr>
              <a:t>Example</a:t>
            </a:r>
            <a:endParaRPr lang="en-US" sz="1800" b="0" i="0" dirty="0">
              <a:effectLst/>
            </a:endParaRPr>
          </a:p>
          <a:p>
            <a:pPr algn="l" fontAlgn="base"/>
            <a:r>
              <a:rPr lang="en-US" sz="1800" b="0" i="0" dirty="0">
                <a:effectLst/>
              </a:rPr>
              <a:t>Find the defuzzification value for given fuzzy set</a:t>
            </a:r>
          </a:p>
          <a:p>
            <a:pPr algn="l" fontAlgn="base"/>
            <a:endParaRPr lang="en-US" sz="1800" dirty="0"/>
          </a:p>
          <a:p>
            <a:pPr algn="l" fontAlgn="base"/>
            <a:r>
              <a:rPr lang="en-US" sz="1800" b="1" i="0" dirty="0">
                <a:effectLst/>
              </a:rPr>
              <a:t>First of Maxima:</a:t>
            </a:r>
            <a:r>
              <a:rPr lang="en-US" sz="1800" b="0" i="0" dirty="0">
                <a:effectLst/>
              </a:rPr>
              <a:t> x</a:t>
            </a:r>
            <a:r>
              <a:rPr lang="en-US" sz="1800" b="0" i="0" baseline="30000" dirty="0">
                <a:effectLst/>
              </a:rPr>
              <a:t>∗</a:t>
            </a:r>
            <a:r>
              <a:rPr lang="en-US" sz="1800" b="0" i="0" dirty="0">
                <a:effectLst/>
              </a:rPr>
              <a:t>=1</a:t>
            </a:r>
          </a:p>
          <a:p>
            <a:pPr algn="l" fontAlgn="base"/>
            <a:r>
              <a:rPr lang="en-US" sz="1800" b="1" i="0" dirty="0">
                <a:effectLst/>
              </a:rPr>
              <a:t>Last of Maxima:</a:t>
            </a:r>
            <a:r>
              <a:rPr lang="en-US" sz="1800" b="0" i="0" dirty="0">
                <a:effectLst/>
              </a:rPr>
              <a:t> x</a:t>
            </a:r>
            <a:r>
              <a:rPr lang="en-US" sz="1800" b="0" i="0" baseline="30000" dirty="0">
                <a:effectLst/>
              </a:rPr>
              <a:t>∗</a:t>
            </a:r>
            <a:r>
              <a:rPr lang="en-US" sz="1800" b="0" i="0" dirty="0">
                <a:effectLst/>
              </a:rPr>
              <a:t>=6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AE485B-E78B-983C-6522-97FC8F155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6859" y="3338011"/>
            <a:ext cx="2682334" cy="199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8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68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1B7A3-1792-5D3E-61D7-6E3FE989A841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2DB6DF6-7EC1-9D97-551C-F40899B6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7A2F43-A52A-DC22-FF10-E3A248112B93}"/>
                  </a:ext>
                </a:extLst>
              </p:cNvPr>
              <p:cNvSpPr txBox="1"/>
              <p:nvPr/>
            </p:nvSpPr>
            <p:spPr>
              <a:xfrm>
                <a:off x="203752" y="415249"/>
                <a:ext cx="6763578" cy="31731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Middle of Maxima (MoM) </a:t>
                </a:r>
                <a:r>
                  <a:rPr lang="en-US" sz="1800" dirty="0">
                    <a:solidFill>
                      <a:srgbClr val="0070C0"/>
                    </a:solidFill>
                  </a:rPr>
                  <a:t>or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 Mean-Max method</a:t>
                </a:r>
              </a:p>
              <a:p>
                <a:pPr algn="l" fontAlgn="base"/>
                <a:r>
                  <a:rPr lang="en-US" sz="1800" dirty="0"/>
                  <a:t>T</a:t>
                </a:r>
                <a:r>
                  <a:rPr lang="en-US" sz="1800" b="0" i="0" dirty="0">
                    <a:effectLst/>
                  </a:rPr>
                  <a:t>o find middle of maxima, we have to find the “middle” of elements with maximum membership value.</a:t>
                </a:r>
              </a:p>
              <a:p>
                <a:pPr algn="l" fontAlgn="base"/>
                <a:endParaRPr lang="en-US" sz="1800" dirty="0"/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r>
                  <a:rPr lang="en-US" sz="1800" dirty="0"/>
                  <a:t>H</a:t>
                </a:r>
                <a:r>
                  <a:rPr lang="en-US" sz="1800" b="0" i="0" dirty="0">
                    <a:effectLst/>
                  </a:rPr>
                  <a:t>ere,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={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u="sng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}, </m:t>
                    </m:r>
                  </m:oMath>
                </a14:m>
                <a:r>
                  <a:rPr lang="en-US" sz="1800" b="0" i="0" dirty="0">
                    <a:effectLst/>
                  </a:rPr>
                  <a:t> (It is the set of points having highest membership value).</a:t>
                </a:r>
              </a:p>
              <a:p>
                <a:endParaRPr lang="en-US" sz="1800" b="0" i="0" dirty="0">
                  <a:effectLst/>
                </a:endParaRPr>
              </a:p>
              <a:p>
                <a:r>
                  <a:rPr lang="en-US" sz="1800" b="1" i="0" dirty="0">
                    <a:effectLst/>
                  </a:rPr>
                  <a:t>Note: </a:t>
                </a:r>
                <a:r>
                  <a:rPr lang="en-US" sz="1800" b="0" i="0" dirty="0">
                    <a:effectLst/>
                  </a:rPr>
                  <a:t>This method is applicable to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symmetric functions </a:t>
                </a:r>
                <a:r>
                  <a:rPr lang="en-US" sz="1800" b="0" i="0" dirty="0">
                    <a:effectLst/>
                  </a:rPr>
                  <a:t>only.</a:t>
                </a:r>
                <a:endParaRPr lang="en-IN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7A2F43-A52A-DC22-FF10-E3A248112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52" y="415249"/>
                <a:ext cx="6763578" cy="3173113"/>
              </a:xfrm>
              <a:prstGeom prst="rect">
                <a:avLst/>
              </a:prstGeom>
              <a:blipFill>
                <a:blip r:embed="rId3"/>
                <a:stretch>
                  <a:fillRect l="-721" t="-960" b="-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5CAFAC06-DD3D-8CD7-DA3C-CBE888B55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925" y="1391667"/>
            <a:ext cx="1330886" cy="6446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94E06F-0B3B-25CC-CDDA-33239FE99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834" y="736741"/>
            <a:ext cx="3153250" cy="1897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898A16-F5A3-6DB5-0174-4E9FA17D7B78}"/>
                  </a:ext>
                </a:extLst>
              </p:cNvPr>
              <p:cNvSpPr txBox="1"/>
              <p:nvPr/>
            </p:nvSpPr>
            <p:spPr>
              <a:xfrm>
                <a:off x="193808" y="3555285"/>
                <a:ext cx="653202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Example: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Find the </a:t>
                </a:r>
                <a:r>
                  <a:rPr lang="en-US" sz="1800" b="0" i="0" dirty="0" err="1">
                    <a:effectLst/>
                  </a:rPr>
                  <a:t>defuzzified</a:t>
                </a:r>
                <a:r>
                  <a:rPr lang="en-US" sz="1800" b="0" i="0" dirty="0">
                    <a:effectLst/>
                  </a:rPr>
                  <a:t> value for given fuzzy set using middle of maxima method: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dirty="0" smtClean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800" b="0" i="1" baseline="30000" dirty="0"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1800" b="0" i="1" dirty="0">
                          <a:effectLst/>
                          <a:latin typeface="Cambria Math" panose="02040503050406030204" pitchFamily="18" charset="0"/>
                        </a:rPr>
                        <m:t> = (2 +</m:t>
                      </m:r>
                      <m:r>
                        <a:rPr lang="en-IN" sz="1800" b="0" i="1" dirty="0" smtClean="0">
                          <a:effectLst/>
                          <a:latin typeface="Cambria Math" panose="02040503050406030204" pitchFamily="18" charset="0"/>
                        </a:rPr>
                        <m:t>3+4+</m:t>
                      </m:r>
                      <m:r>
                        <a:rPr lang="pt-BR" sz="1800" b="0" i="1" dirty="0">
                          <a:effectLst/>
                          <a:latin typeface="Cambria Math" panose="02040503050406030204" pitchFamily="18" charset="0"/>
                        </a:rPr>
                        <m:t>5) / </m:t>
                      </m:r>
                      <m:r>
                        <a:rPr lang="en-IN" sz="1800" b="0" i="1" dirty="0" smtClean="0"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pt-BR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dirty="0" smtClean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800" b="0" i="1" baseline="30000" dirty="0"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1800" b="0" i="1" dirty="0">
                          <a:effectLst/>
                          <a:latin typeface="Cambria Math" panose="02040503050406030204" pitchFamily="18" charset="0"/>
                        </a:rPr>
                        <m:t> = 3.5</m:t>
                      </m:r>
                    </m:oMath>
                  </m:oMathPara>
                </a14:m>
                <a:endParaRPr lang="en-US" sz="1800" b="0" i="0" dirty="0">
                  <a:effectLst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898A16-F5A3-6DB5-0174-4E9FA17D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08" y="3555285"/>
                <a:ext cx="6532026" cy="1477328"/>
              </a:xfrm>
              <a:prstGeom prst="rect">
                <a:avLst/>
              </a:prstGeom>
              <a:blipFill>
                <a:blip r:embed="rId6"/>
                <a:stretch>
                  <a:fillRect l="-840" t="-20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C89FCCC5-AC56-7F7A-6365-966C04FE1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9803" y="3029874"/>
            <a:ext cx="28765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3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69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1B7A3-1792-5D3E-61D7-6E3FE989A841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2DB6DF6-7EC1-9D97-551C-F40899B6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1CCFCD-6AF3-EE38-A503-13E3EB37293C}"/>
                  </a:ext>
                </a:extLst>
              </p:cNvPr>
              <p:cNvSpPr txBox="1"/>
              <p:nvPr/>
            </p:nvSpPr>
            <p:spPr>
              <a:xfrm>
                <a:off x="302706" y="758866"/>
                <a:ext cx="8741045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effectLst/>
                  </a:rPr>
                  <a:t>For the given fuzzy set </a:t>
                </a:r>
                <a:r>
                  <a:rPr lang="en-US" sz="1800" i="1" dirty="0">
                    <a:effectLst/>
                  </a:rPr>
                  <a:t>Young</a:t>
                </a:r>
                <a:r>
                  <a:rPr lang="en-US" sz="1800" i="0" dirty="0">
                    <a:effectLst/>
                  </a:rPr>
                  <a:t>, perform defuzzification using following methods:</a:t>
                </a:r>
              </a:p>
              <a:p>
                <a:pPr algn="l" fontAlgn="base"/>
                <a:r>
                  <a:rPr lang="en-US" sz="1800" dirty="0"/>
                  <a:t>0. Height method</a:t>
                </a:r>
                <a:endParaRPr lang="en-US" sz="1800" i="0" dirty="0">
                  <a:effectLst/>
                </a:endParaRP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i="0" dirty="0">
                    <a:effectLst/>
                  </a:rPr>
                  <a:t>First of Maxima (</a:t>
                </a:r>
                <a:r>
                  <a:rPr lang="en-US" sz="1800" i="0" dirty="0" err="1">
                    <a:effectLst/>
                  </a:rPr>
                  <a:t>FoM</a:t>
                </a:r>
                <a:r>
                  <a:rPr lang="en-US" sz="1800" i="0" dirty="0">
                    <a:effectLst/>
                  </a:rPr>
                  <a:t>)</a:t>
                </a: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i="0" dirty="0">
                    <a:effectLst/>
                  </a:rPr>
                  <a:t>Last of Maxima (</a:t>
                </a:r>
                <a:r>
                  <a:rPr lang="en-US" sz="1800" i="0" dirty="0" err="1">
                    <a:effectLst/>
                  </a:rPr>
                  <a:t>LoM</a:t>
                </a:r>
                <a:r>
                  <a:rPr lang="en-US" sz="1800" i="0" dirty="0">
                    <a:effectLst/>
                  </a:rPr>
                  <a:t>)</a:t>
                </a: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i="0" dirty="0">
                    <a:effectLst/>
                  </a:rPr>
                  <a:t>Middle of Maxima (MoM)</a:t>
                </a:r>
              </a:p>
              <a:p>
                <a:pPr algn="l" fontAlgn="base">
                  <a:buFont typeface="+mj-lt"/>
                  <a:buAutoNum type="arabicPeriod"/>
                </a:pPr>
                <a:endParaRPr lang="en-US" sz="1800" dirty="0"/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𝑌𝑜𝑢𝑛𝑔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{(15,0.5), (20,0.8), (25,0.8),(30,0.5), (35,0.3)}</m:t>
                      </m:r>
                    </m:oMath>
                  </m:oMathPara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dirty="0"/>
              </a:p>
              <a:p>
                <a:pPr algn="l" fontAlgn="base"/>
                <a:endParaRPr lang="en-US" sz="1800" i="0" dirty="0">
                  <a:effectLst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1CCFCD-6AF3-EE38-A503-13E3EB372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758866"/>
                <a:ext cx="8741045" cy="2862322"/>
              </a:xfrm>
              <a:prstGeom prst="rect">
                <a:avLst/>
              </a:prstGeom>
              <a:blipFill>
                <a:blip r:embed="rId3"/>
                <a:stretch>
                  <a:fillRect l="-628" t="-10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69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70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81D6F-10EC-EF11-6D64-C193057CC594}"/>
              </a:ext>
            </a:extLst>
          </p:cNvPr>
          <p:cNvSpPr txBox="1"/>
          <p:nvPr/>
        </p:nvSpPr>
        <p:spPr>
          <a:xfrm>
            <a:off x="302705" y="424234"/>
            <a:ext cx="68137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b="0" i="0" dirty="0">
                <a:solidFill>
                  <a:srgbClr val="0070C0"/>
                </a:solidFill>
                <a:effectLst/>
              </a:rPr>
              <a:t>Weighted average method 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/>
            <a:r>
              <a:rPr lang="en-US" sz="1800" dirty="0"/>
              <a:t>It </a:t>
            </a:r>
            <a:r>
              <a:rPr lang="en-US" sz="1800" b="0" i="0" dirty="0">
                <a:effectLst/>
              </a:rPr>
              <a:t>is one of the simplest,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less computationally intensive</a:t>
            </a:r>
            <a:r>
              <a:rPr lang="en-US" sz="1800" b="0" i="0" dirty="0">
                <a:effectLst/>
              </a:rPr>
              <a:t> and widely used </a:t>
            </a:r>
            <a:r>
              <a:rPr lang="en-US" sz="1800" b="0" i="0" u="none" strike="noStrike" dirty="0">
                <a:effectLst/>
              </a:rPr>
              <a:t>defuzzification technique</a:t>
            </a:r>
            <a:r>
              <a:rPr lang="en-US" sz="1800" b="0" i="0" dirty="0">
                <a:effectLst/>
              </a:rPr>
              <a:t>.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/>
            <a:r>
              <a:rPr lang="en-US" sz="1800" b="0" i="0" dirty="0">
                <a:effectLst/>
              </a:rPr>
              <a:t>This method is also known as </a:t>
            </a:r>
            <a:r>
              <a:rPr lang="en-US" sz="1800" i="0" dirty="0">
                <a:solidFill>
                  <a:srgbClr val="0070C0"/>
                </a:solidFill>
                <a:effectLst/>
              </a:rPr>
              <a:t>”</a:t>
            </a:r>
            <a:r>
              <a:rPr lang="en-US" sz="1800" i="0" dirty="0" err="1">
                <a:solidFill>
                  <a:srgbClr val="0070C0"/>
                </a:solidFill>
                <a:effectLst/>
              </a:rPr>
              <a:t>Sugeno</a:t>
            </a:r>
            <a:r>
              <a:rPr lang="en-US" sz="1800" i="0" dirty="0">
                <a:solidFill>
                  <a:srgbClr val="0070C0"/>
                </a:solidFill>
                <a:effectLst/>
              </a:rPr>
              <a:t> defuzzification”</a:t>
            </a:r>
            <a:r>
              <a:rPr lang="en-US" sz="1800" b="0" i="0" dirty="0">
                <a:effectLst/>
              </a:rPr>
              <a:t> method.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/>
            <a:r>
              <a:rPr lang="en-US" sz="1800" b="0" i="0" dirty="0">
                <a:effectLst/>
              </a:rPr>
              <a:t>Formed by weighting each function in the output by its respective maximum membership value.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5E79F1-9577-DBB8-B61B-C8E6878F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51" y="958043"/>
            <a:ext cx="2847975" cy="1895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808214-8C02-9277-0C80-3470E6392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565" y="4035509"/>
            <a:ext cx="2057090" cy="7031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2D3BED-A645-CAF7-DCF7-0DB66A11843D}"/>
              </a:ext>
            </a:extLst>
          </p:cNvPr>
          <p:cNvSpPr txBox="1"/>
          <p:nvPr/>
        </p:nvSpPr>
        <p:spPr>
          <a:xfrm>
            <a:off x="274894" y="4680681"/>
            <a:ext cx="9604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rgbClr val="0070C0"/>
                </a:solidFill>
                <a:effectLst/>
              </a:rPr>
              <a:t>Note: </a:t>
            </a:r>
            <a:r>
              <a:rPr lang="en-US" sz="1800" b="0" i="0" dirty="0">
                <a:effectLst/>
              </a:rPr>
              <a:t>The method can be used only for </a:t>
            </a:r>
            <a:r>
              <a:rPr lang="en-US" sz="1800" i="0" dirty="0">
                <a:solidFill>
                  <a:srgbClr val="0070C0"/>
                </a:solidFill>
                <a:effectLst/>
              </a:rPr>
              <a:t>symmetrical</a:t>
            </a:r>
            <a:r>
              <a:rPr lang="en-US" sz="1800" b="1" i="0" dirty="0">
                <a:effectLst/>
              </a:rPr>
              <a:t> </a:t>
            </a:r>
            <a:r>
              <a:rPr lang="en-US" sz="1800" b="0" i="0" dirty="0">
                <a:effectLst/>
              </a:rPr>
              <a:t>output membership functions.</a:t>
            </a:r>
            <a:endParaRPr lang="en-IN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0FC6C7-72D4-2F92-E3EC-9A647E474162}"/>
              </a:ext>
            </a:extLst>
          </p:cNvPr>
          <p:cNvSpPr txBox="1"/>
          <p:nvPr/>
        </p:nvSpPr>
        <p:spPr>
          <a:xfrm>
            <a:off x="326024" y="3389178"/>
            <a:ext cx="9594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800" b="0" i="0" dirty="0">
                <a:effectLst/>
              </a:rPr>
              <a:t>The maximum membership value of each function is used to calculate the </a:t>
            </a:r>
            <a:r>
              <a:rPr lang="en-US" sz="1800" b="0" i="0" dirty="0" err="1">
                <a:effectLst/>
              </a:rPr>
              <a:t>defuzzified</a:t>
            </a:r>
            <a:r>
              <a:rPr lang="en-US" sz="1800" b="0" i="0" dirty="0">
                <a:effectLst/>
              </a:rPr>
              <a:t> (crisp) value as given below,</a:t>
            </a:r>
          </a:p>
        </p:txBody>
      </p:sp>
    </p:spTree>
    <p:extLst>
      <p:ext uri="{BB962C8B-B14F-4D97-AF65-F5344CB8AC3E}">
        <p14:creationId xmlns:p14="http://schemas.microsoft.com/office/powerpoint/2010/main" val="333636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71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88CB2-6FFE-4F67-0080-FB18398BD411}"/>
              </a:ext>
            </a:extLst>
          </p:cNvPr>
          <p:cNvSpPr txBox="1"/>
          <p:nvPr/>
        </p:nvSpPr>
        <p:spPr>
          <a:xfrm>
            <a:off x="302705" y="670066"/>
            <a:ext cx="64260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800" b="0" i="0" dirty="0">
                <a:solidFill>
                  <a:srgbClr val="0070C0"/>
                </a:solidFill>
                <a:effectLst/>
              </a:rPr>
              <a:t>Weighted average method </a:t>
            </a:r>
          </a:p>
          <a:p>
            <a:pPr algn="l" fontAlgn="base"/>
            <a:endParaRPr lang="en-US" sz="1800" i="0" dirty="0">
              <a:effectLst/>
            </a:endParaRPr>
          </a:p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Example:</a:t>
            </a:r>
          </a:p>
          <a:p>
            <a:pPr algn="l" fontAlgn="base"/>
            <a:r>
              <a:rPr lang="en-US" sz="1800" i="0" dirty="0">
                <a:effectLst/>
              </a:rPr>
              <a:t>Find </a:t>
            </a:r>
            <a:r>
              <a:rPr lang="en-US" sz="1800" i="0" dirty="0" err="1">
                <a:effectLst/>
              </a:rPr>
              <a:t>defuzzified</a:t>
            </a:r>
            <a:r>
              <a:rPr lang="en-US" sz="1800" i="0" dirty="0">
                <a:effectLst/>
              </a:rPr>
              <a:t> value for given aggregated fuzzy output set using weighted average method: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9F9312-1552-39F4-AE2E-21DB97B36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687" y="1082097"/>
            <a:ext cx="3170863" cy="21282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98DAC1-4C84-FA75-49AB-06C6121D4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405" y="2240287"/>
            <a:ext cx="2057090" cy="703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B399AF-89C4-DC22-6CB5-3566AA34572F}"/>
                  </a:ext>
                </a:extLst>
              </p:cNvPr>
              <p:cNvSpPr txBox="1"/>
              <p:nvPr/>
            </p:nvSpPr>
            <p:spPr>
              <a:xfrm>
                <a:off x="302704" y="3339775"/>
                <a:ext cx="6237243" cy="713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((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+ (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)) / (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80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941</m:t>
                      </m:r>
                    </m:oMath>
                  </m:oMathPara>
                </a14:m>
                <a:endParaRPr lang="en-IN" sz="180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B399AF-89C4-DC22-6CB5-3566AA345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4" y="3339775"/>
                <a:ext cx="6237243" cy="713913"/>
              </a:xfrm>
              <a:prstGeom prst="rect">
                <a:avLst/>
              </a:prstGeom>
              <a:blipFill>
                <a:blip r:embed="rId5"/>
                <a:stretch>
                  <a:fillRect t="-1709" b="-119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71D7C6E-22E2-A059-8C32-97128D9C1200}"/>
              </a:ext>
            </a:extLst>
          </p:cNvPr>
          <p:cNvSpPr txBox="1"/>
          <p:nvPr/>
        </p:nvSpPr>
        <p:spPr>
          <a:xfrm>
            <a:off x="180631" y="4100719"/>
            <a:ext cx="9470266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3 is average element from first membership function which has maximum membership value (0.7) and 7 is average element from second membership function which has maximum membership value (1.0)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57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72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FD98E6-634D-7A76-B7E8-25D995599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10" y="1032225"/>
            <a:ext cx="4323307" cy="13742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D477DE-7608-221B-F034-7623ADC11F7D}"/>
                  </a:ext>
                </a:extLst>
              </p:cNvPr>
              <p:cNvSpPr txBox="1"/>
              <p:nvPr/>
            </p:nvSpPr>
            <p:spPr>
              <a:xfrm>
                <a:off x="302706" y="426067"/>
                <a:ext cx="7625293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Determine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-cut sets for the following fuzzy sets 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D477DE-7608-221B-F034-7623ADC11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426067"/>
                <a:ext cx="7625293" cy="392415"/>
              </a:xfrm>
              <a:prstGeom prst="rect">
                <a:avLst/>
              </a:prstGeom>
              <a:blipFill>
                <a:blip r:embed="rId4"/>
                <a:stretch>
                  <a:fillRect l="-799" t="-9375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D4277A-A1B7-642C-1196-72669AB879FA}"/>
                  </a:ext>
                </a:extLst>
              </p:cNvPr>
              <p:cNvSpPr txBox="1"/>
              <p:nvPr/>
            </p:nvSpPr>
            <p:spPr>
              <a:xfrm>
                <a:off x="302706" y="2623930"/>
                <a:ext cx="4592411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Express the following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=0.5 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D4277A-A1B7-642C-1196-72669AB87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2623930"/>
                <a:ext cx="4592411" cy="392415"/>
              </a:xfrm>
              <a:prstGeom prst="rect">
                <a:avLst/>
              </a:prstGeom>
              <a:blipFill>
                <a:blip r:embed="rId5"/>
                <a:stretch>
                  <a:fillRect l="-1328" t="-9231" r="-398" b="-2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86104A2-5F49-4EE1-6A32-879DF8B2F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34" y="3381202"/>
            <a:ext cx="4522995" cy="9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542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73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9CCB03-AD09-0FBE-62A3-AFF96A795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820" y="676725"/>
            <a:ext cx="3371850" cy="2295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6C3148-AADF-3603-3BAC-C62D47D04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985" y="3023614"/>
            <a:ext cx="3333750" cy="23431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302FD3-A3F4-AFFB-A5C0-CB4413BCFDA3}"/>
              </a:ext>
            </a:extLst>
          </p:cNvPr>
          <p:cNvSpPr txBox="1"/>
          <p:nvPr/>
        </p:nvSpPr>
        <p:spPr>
          <a:xfrm>
            <a:off x="302706" y="531825"/>
            <a:ext cx="58197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For the functions as shown in figures, determine the </a:t>
            </a:r>
            <a:r>
              <a:rPr lang="en-US" sz="1800" dirty="0" err="1"/>
              <a:t>defuzzified</a:t>
            </a:r>
            <a:r>
              <a:rPr lang="en-US" sz="1800" dirty="0"/>
              <a:t> output value by using following methods:</a:t>
            </a:r>
          </a:p>
          <a:p>
            <a:endParaRPr lang="en-US" sz="1800" dirty="0"/>
          </a:p>
          <a:p>
            <a:pPr algn="l" fontAlgn="base"/>
            <a:r>
              <a:rPr lang="en-US" sz="1800" dirty="0">
                <a:solidFill>
                  <a:srgbClr val="C00000"/>
                </a:solidFill>
              </a:rPr>
              <a:t>0. Height method</a:t>
            </a:r>
            <a:endParaRPr lang="en-US" sz="1800" i="0" dirty="0">
              <a:solidFill>
                <a:srgbClr val="C00000"/>
              </a:solidFill>
              <a:effectLst/>
            </a:endParaRPr>
          </a:p>
          <a:p>
            <a:pPr algn="l" fontAlgn="base">
              <a:buFont typeface="+mj-lt"/>
              <a:buAutoNum type="arabicPeriod"/>
            </a:pPr>
            <a:r>
              <a:rPr lang="en-US" sz="1800" i="0" dirty="0">
                <a:solidFill>
                  <a:srgbClr val="C00000"/>
                </a:solidFill>
                <a:effectLst/>
              </a:rPr>
              <a:t> First of Maxima (</a:t>
            </a:r>
            <a:r>
              <a:rPr lang="en-US" sz="1800" i="0" dirty="0" err="1">
                <a:solidFill>
                  <a:srgbClr val="C00000"/>
                </a:solidFill>
                <a:effectLst/>
              </a:rPr>
              <a:t>FoM</a:t>
            </a:r>
            <a:r>
              <a:rPr lang="en-US" sz="1800" i="0" dirty="0">
                <a:solidFill>
                  <a:srgbClr val="C00000"/>
                </a:solidFill>
                <a:effectLst/>
              </a:rPr>
              <a:t>)</a:t>
            </a:r>
          </a:p>
          <a:p>
            <a:pPr algn="l" fontAlgn="base">
              <a:buFont typeface="+mj-lt"/>
              <a:buAutoNum type="arabicPeriod"/>
            </a:pPr>
            <a:r>
              <a:rPr lang="en-US" sz="1800" i="0" dirty="0">
                <a:solidFill>
                  <a:srgbClr val="C00000"/>
                </a:solidFill>
                <a:effectLst/>
              </a:rPr>
              <a:t> Last of Maxima (</a:t>
            </a:r>
            <a:r>
              <a:rPr lang="en-US" sz="1800" i="0" dirty="0" err="1">
                <a:solidFill>
                  <a:srgbClr val="C00000"/>
                </a:solidFill>
                <a:effectLst/>
              </a:rPr>
              <a:t>LoM</a:t>
            </a:r>
            <a:r>
              <a:rPr lang="en-US" sz="1800" i="0" dirty="0">
                <a:solidFill>
                  <a:srgbClr val="C00000"/>
                </a:solidFill>
                <a:effectLst/>
              </a:rPr>
              <a:t>)</a:t>
            </a:r>
          </a:p>
          <a:p>
            <a:pPr algn="l" fontAlgn="base">
              <a:buFont typeface="+mj-lt"/>
              <a:buAutoNum type="arabicPeriod"/>
            </a:pPr>
            <a:r>
              <a:rPr lang="en-US" sz="1800" i="0" dirty="0">
                <a:solidFill>
                  <a:srgbClr val="C00000"/>
                </a:solidFill>
                <a:effectLst/>
              </a:rPr>
              <a:t> Middle of Maxima (MoM)(Mean-max)</a:t>
            </a:r>
          </a:p>
          <a:p>
            <a:pPr marL="342900" indent="-342900">
              <a:buAutoNum type="arabicPeriod"/>
            </a:pPr>
            <a:r>
              <a:rPr lang="en-IN" sz="1800" dirty="0">
                <a:solidFill>
                  <a:srgbClr val="C00000"/>
                </a:solidFill>
              </a:rPr>
              <a:t>Weighted average method</a:t>
            </a:r>
          </a:p>
        </p:txBody>
      </p:sp>
    </p:spTree>
    <p:extLst>
      <p:ext uri="{BB962C8B-B14F-4D97-AF65-F5344CB8AC3E}">
        <p14:creationId xmlns:p14="http://schemas.microsoft.com/office/powerpoint/2010/main" val="41425640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74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E07153-EEA1-24B0-DC77-4C3C4FF828A1}"/>
                  </a:ext>
                </a:extLst>
              </p:cNvPr>
              <p:cNvSpPr txBox="1"/>
              <p:nvPr/>
            </p:nvSpPr>
            <p:spPr>
              <a:xfrm>
                <a:off x="302704" y="709556"/>
                <a:ext cx="957637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rgbClr val="0070C0"/>
                    </a:solidFill>
                    <a:effectLst/>
                  </a:rPr>
                  <a:t>Centre of Gravity (</a:t>
                </a:r>
                <a:r>
                  <a:rPr lang="en-IN" sz="1800" b="0" i="0" dirty="0" err="1">
                    <a:solidFill>
                      <a:srgbClr val="0070C0"/>
                    </a:solidFill>
                    <a:effectLst/>
                  </a:rPr>
                  <a:t>CoG</a:t>
                </a:r>
                <a:r>
                  <a:rPr lang="en-IN" sz="1800" b="0" i="0" dirty="0">
                    <a:solidFill>
                      <a:srgbClr val="0070C0"/>
                    </a:solidFill>
                    <a:effectLst/>
                  </a:rPr>
                  <a:t>) method or Centre of Mass (</a:t>
                </a:r>
                <a:r>
                  <a:rPr lang="en-IN" sz="1800" b="0" i="0" dirty="0" err="1">
                    <a:solidFill>
                      <a:srgbClr val="0070C0"/>
                    </a:solidFill>
                    <a:effectLst/>
                  </a:rPr>
                  <a:t>CoM</a:t>
                </a:r>
                <a:r>
                  <a:rPr lang="en-IN" sz="1800" b="0" i="0" dirty="0">
                    <a:solidFill>
                      <a:srgbClr val="0070C0"/>
                    </a:solidFill>
                    <a:effectLst/>
                  </a:rPr>
                  <a:t>) or Centroid method</a:t>
                </a:r>
              </a:p>
              <a:p>
                <a:endParaRPr lang="en-IN" sz="1800" dirty="0"/>
              </a:p>
              <a:p>
                <a:r>
                  <a:rPr lang="en-US" sz="1800" b="0" i="0" dirty="0">
                    <a:effectLst/>
                  </a:rPr>
                  <a:t>The basic principle in </a:t>
                </a:r>
                <a:r>
                  <a:rPr lang="en-US" sz="1800" b="0" i="0" dirty="0" err="1">
                    <a:effectLst/>
                  </a:rPr>
                  <a:t>CoG</a:t>
                </a:r>
                <a:r>
                  <a:rPr lang="en-US" sz="1800" b="0" i="0" dirty="0">
                    <a:effectLst/>
                  </a:rPr>
                  <a:t> method is to find the point x</a:t>
                </a:r>
                <a:r>
                  <a:rPr lang="en-US" sz="1800" b="0" i="0" baseline="30000" dirty="0">
                    <a:effectLst/>
                  </a:rPr>
                  <a:t>∗</a:t>
                </a:r>
                <a:r>
                  <a:rPr lang="en-US" sz="1800" b="0" i="0" dirty="0">
                    <a:effectLst/>
                  </a:rPr>
                  <a:t> where a vertical line would slice the aggregate into two 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equal masses</a:t>
                </a:r>
                <a:r>
                  <a:rPr lang="en-US" sz="1800" b="0" i="0" dirty="0">
                    <a:effectLst/>
                  </a:rPr>
                  <a:t>.</a:t>
                </a:r>
              </a:p>
              <a:p>
                <a:endParaRPr lang="en-US" sz="1800" dirty="0"/>
              </a:p>
              <a:p>
                <a:r>
                  <a:rPr lang="en-US" sz="1800" b="0" i="0" dirty="0">
                    <a:effectLst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3000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is computed as, </a:t>
                </a:r>
                <a:endParaRPr lang="en-IN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E07153-EEA1-24B0-DC77-4C3C4FF82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4" y="709556"/>
                <a:ext cx="9576379" cy="1754326"/>
              </a:xfrm>
              <a:prstGeom prst="rect">
                <a:avLst/>
              </a:prstGeom>
              <a:blipFill>
                <a:blip r:embed="rId3"/>
                <a:stretch>
                  <a:fillRect l="-573" t="-1736" r="-64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5107058-7387-D5D7-5DA2-7399F4A07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961" y="1905314"/>
            <a:ext cx="2467622" cy="19465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F50484-5F25-457B-B618-C3813EFE8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6023" y="2918233"/>
            <a:ext cx="1784871" cy="8194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E22901-E5F8-A0AD-E1F3-2A26D80937BC}"/>
                  </a:ext>
                </a:extLst>
              </p:cNvPr>
              <p:cNvSpPr txBox="1"/>
              <p:nvPr/>
            </p:nvSpPr>
            <p:spPr>
              <a:xfrm>
                <a:off x="408541" y="4013014"/>
                <a:ext cx="9209042" cy="412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  <m:r>
                      <a:rPr lang="en-US" sz="1800" b="0" i="1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u="sng" baseline="-25000" dirty="0" err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b="0" i="1" u="sng" baseline="-25000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𝑥𝑑𝑥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denotes the area of the region bounded by the curve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b="0" i="0" dirty="0">
                    <a:effectLst/>
                  </a:rPr>
                  <a:t>.</a:t>
                </a:r>
                <a:endParaRPr lang="en-IN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E22901-E5F8-A0AD-E1F3-2A26D8093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41" y="4013014"/>
                <a:ext cx="9209042" cy="412164"/>
              </a:xfrm>
              <a:prstGeom prst="rect">
                <a:avLst/>
              </a:prstGeom>
              <a:blipFill>
                <a:blip r:embed="rId6"/>
                <a:stretch>
                  <a:fillRect l="-4434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21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75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88E87-1749-8A15-A37D-A1708DD67C88}"/>
              </a:ext>
            </a:extLst>
          </p:cNvPr>
          <p:cNvSpPr txBox="1"/>
          <p:nvPr/>
        </p:nvSpPr>
        <p:spPr>
          <a:xfrm>
            <a:off x="124659" y="473858"/>
            <a:ext cx="1396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0" dirty="0">
                <a:solidFill>
                  <a:srgbClr val="0070C0"/>
                </a:solidFill>
                <a:effectLst/>
              </a:rPr>
              <a:t>Example:</a:t>
            </a:r>
            <a:endParaRPr lang="en-IN" sz="1800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1DA854-2585-6FF0-6C72-B2A9C34E8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965" y="352522"/>
            <a:ext cx="6182165" cy="2497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0AE610-441E-169F-9F73-839D56E5B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966" y="2901533"/>
            <a:ext cx="2962275" cy="2447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CDA25E-BA47-BF21-95E7-7182E28F4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364" y="2901533"/>
            <a:ext cx="3118899" cy="2449135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AF88B501-324F-C6E8-9351-961661F6E080}"/>
              </a:ext>
            </a:extLst>
          </p:cNvPr>
          <p:cNvSpPr/>
          <p:nvPr/>
        </p:nvSpPr>
        <p:spPr>
          <a:xfrm rot="5400000">
            <a:off x="4040296" y="2583881"/>
            <a:ext cx="449532" cy="185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60F511C-5CBA-6826-37C2-DDBBBA94B369}"/>
              </a:ext>
            </a:extLst>
          </p:cNvPr>
          <p:cNvSpPr/>
          <p:nvPr/>
        </p:nvSpPr>
        <p:spPr>
          <a:xfrm>
            <a:off x="5897036" y="4007075"/>
            <a:ext cx="449532" cy="185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4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 animBg="1"/>
      <p:bldP spid="1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76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52C7C9-2231-982C-FDA2-CC44F2F1E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185" y="521151"/>
            <a:ext cx="3118899" cy="2449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EB17EA-1492-8931-8632-F8E48E583E8D}"/>
                  </a:ext>
                </a:extLst>
              </p:cNvPr>
              <p:cNvSpPr txBox="1"/>
              <p:nvPr/>
            </p:nvSpPr>
            <p:spPr>
              <a:xfrm>
                <a:off x="343482" y="461819"/>
                <a:ext cx="6416703" cy="4936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1" i="0" dirty="0">
                    <a:effectLst/>
                  </a:rPr>
                  <a:t>Equation of line ab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𝑙𝑖𝑛𝑒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solidFill>
                      <a:srgbClr val="666666"/>
                    </a:solidFill>
                    <a:effectLst/>
                  </a:rPr>
                  <a:t>  </a:t>
                </a:r>
              </a:p>
              <a:p>
                <a:pPr algn="l" fontAlgn="base"/>
                <a:r>
                  <a:rPr lang="en-US" sz="1800" i="0" dirty="0">
                    <a:effectLst/>
                  </a:rPr>
                  <a:t>Line ranges from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1800" i="0" dirty="0">
                    <a:effectLst/>
                  </a:rPr>
                  <a:t>on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i="0" dirty="0">
                  <a:effectLst/>
                </a:endParaRPr>
              </a:p>
              <a:p>
                <a:pPr algn="l" fontAlgn="base"/>
                <a:r>
                  <a:rPr lang="en-US" sz="1800" b="1" i="0" dirty="0">
                    <a:effectLst/>
                  </a:rPr>
                  <a:t>Equation of line </a:t>
                </a:r>
                <a:r>
                  <a:rPr lang="en-US" sz="1800" b="1" i="0" dirty="0" err="1">
                    <a:effectLst/>
                  </a:rPr>
                  <a:t>bc</a:t>
                </a:r>
                <a:endParaRPr lang="en-US" sz="1800" b="1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𝑙𝑖𝑛𝑒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i="0" dirty="0">
                    <a:effectLst/>
                  </a:rPr>
                  <a:t>Horizontal line has slope zero, and for any value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i="0" dirty="0">
                    <a:effectLst/>
                  </a:rPr>
                  <a:t>,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i="0" dirty="0">
                    <a:effectLst/>
                  </a:rPr>
                  <a:t> coordinate will remain unchanged. So, for line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i="0" dirty="0">
                    <a:effectLst/>
                  </a:rPr>
                  <a:t>Line ranges from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1800" i="0" dirty="0">
                    <a:effectLst/>
                  </a:rPr>
                  <a:t>on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EB17EA-1492-8931-8632-F8E48E583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82" y="461819"/>
                <a:ext cx="6416703" cy="4936480"/>
              </a:xfrm>
              <a:prstGeom prst="rect">
                <a:avLst/>
              </a:prstGeom>
              <a:blipFill>
                <a:blip r:embed="rId4"/>
                <a:stretch>
                  <a:fillRect l="-760" t="-741" r="-1519" b="-9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4453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77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50D94D-813E-9798-2A5C-FDCA0542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185" y="521151"/>
            <a:ext cx="3118899" cy="2449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7F3F56-0968-0274-9331-4A6A88FEB697}"/>
                  </a:ext>
                </a:extLst>
              </p:cNvPr>
              <p:cNvSpPr txBox="1"/>
              <p:nvPr/>
            </p:nvSpPr>
            <p:spPr>
              <a:xfrm>
                <a:off x="233572" y="473858"/>
                <a:ext cx="495962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1" i="0" dirty="0">
                    <a:effectLst/>
                  </a:rPr>
                  <a:t>Equation of line cd:</a:t>
                </a:r>
              </a:p>
              <a:p>
                <a:endParaRPr lang="en-IN" sz="1800" b="1" dirty="0"/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– 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Line ranges from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1800" b="0" i="0" dirty="0">
                    <a:effectLst/>
                  </a:rPr>
                  <a:t>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endParaRPr lang="en-IN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7F3F56-0968-0274-9331-4A6A88FEB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2" y="473858"/>
                <a:ext cx="4959626" cy="1477328"/>
              </a:xfrm>
              <a:prstGeom prst="rect">
                <a:avLst/>
              </a:prstGeom>
              <a:blipFill>
                <a:blip r:embed="rId4"/>
                <a:stretch>
                  <a:fillRect l="-983" t="-24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565787-455C-FCE0-B4AE-8924D8CAF2E9}"/>
                  </a:ext>
                </a:extLst>
              </p:cNvPr>
              <p:cNvSpPr txBox="1"/>
              <p:nvPr/>
            </p:nvSpPr>
            <p:spPr>
              <a:xfrm>
                <a:off x="233572" y="1870394"/>
                <a:ext cx="4959626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1" i="0" dirty="0">
                    <a:effectLst/>
                  </a:rPr>
                  <a:t>Equation of line de:</a:t>
                </a:r>
              </a:p>
              <a:p>
                <a:endParaRPr lang="en-IN" sz="1800" b="1" dirty="0"/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  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Line ranges from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1800" b="0" i="0" dirty="0">
                    <a:effectLst/>
                  </a:rPr>
                  <a:t>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endParaRPr lang="en-IN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565787-455C-FCE0-B4AE-8924D8CAF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2" y="1870394"/>
                <a:ext cx="4959626" cy="1511119"/>
              </a:xfrm>
              <a:prstGeom prst="rect">
                <a:avLst/>
              </a:prstGeom>
              <a:blipFill>
                <a:blip r:embed="rId5"/>
                <a:stretch>
                  <a:fillRect l="-983" t="-24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86ED97-6E5C-330C-F212-23F299A4DFD8}"/>
                  </a:ext>
                </a:extLst>
              </p:cNvPr>
              <p:cNvSpPr txBox="1"/>
              <p:nvPr/>
            </p:nvSpPr>
            <p:spPr>
              <a:xfrm>
                <a:off x="233572" y="3438119"/>
                <a:ext cx="3799447" cy="1788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1" i="0" dirty="0">
                    <a:effectLst/>
                  </a:rPr>
                  <a:t>Equation of line </a:t>
                </a:r>
                <a:r>
                  <a:rPr lang="en-IN" sz="1800" b="1" dirty="0" err="1"/>
                  <a:t>ef</a:t>
                </a:r>
                <a:r>
                  <a:rPr lang="en-IN" sz="1800" b="1" i="0" dirty="0">
                    <a:effectLst/>
                  </a:rPr>
                  <a:t>:</a:t>
                </a:r>
              </a:p>
              <a:p>
                <a:endParaRPr lang="en-IN" sz="1800" b="1" dirty="0"/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  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Line ranges from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1800" b="0" i="0" dirty="0">
                    <a:effectLst/>
                  </a:rPr>
                  <a:t>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dirty="0" err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𝑎𝑥𝑖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endParaRPr lang="en-IN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86ED97-6E5C-330C-F212-23F299A4D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2" y="3438119"/>
                <a:ext cx="3799447" cy="1788118"/>
              </a:xfrm>
              <a:prstGeom prst="rect">
                <a:avLst/>
              </a:prstGeom>
              <a:blipFill>
                <a:blip r:embed="rId6"/>
                <a:stretch>
                  <a:fillRect l="-1282" t="-20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D93E9CC-A801-04BA-3145-A80B5CD2BFB2}"/>
              </a:ext>
            </a:extLst>
          </p:cNvPr>
          <p:cNvSpPr txBox="1"/>
          <p:nvPr/>
        </p:nvSpPr>
        <p:spPr>
          <a:xfrm>
            <a:off x="4308362" y="3070723"/>
            <a:ext cx="5367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Putting all these values in equation for </a:t>
            </a:r>
            <a:r>
              <a:rPr lang="en-US" sz="1800" b="0" i="0" dirty="0" err="1">
                <a:effectLst/>
              </a:rPr>
              <a:t>CoG</a:t>
            </a:r>
            <a:r>
              <a:rPr lang="en-US" sz="1800" b="0" i="0" dirty="0">
                <a:effectLst/>
              </a:rPr>
              <a:t> method,</a:t>
            </a:r>
            <a:endParaRPr lang="en-IN" sz="1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B7F8C0-0B91-25D6-9F5B-28B1E42886C0}"/>
              </a:ext>
            </a:extLst>
          </p:cNvPr>
          <p:cNvCxnSpPr/>
          <p:nvPr/>
        </p:nvCxnSpPr>
        <p:spPr>
          <a:xfrm>
            <a:off x="4308362" y="2683557"/>
            <a:ext cx="0" cy="26659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B7D9F60-D285-5CB0-D13D-85D874D202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3954" y="3844769"/>
            <a:ext cx="5223628" cy="161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142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78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84DD4-D633-9D3C-28F0-274F44430A3E}"/>
              </a:ext>
            </a:extLst>
          </p:cNvPr>
          <p:cNvSpPr txBox="1"/>
          <p:nvPr/>
        </p:nvSpPr>
        <p:spPr>
          <a:xfrm>
            <a:off x="213682" y="578836"/>
            <a:ext cx="94929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b="0" i="0" dirty="0">
                <a:solidFill>
                  <a:srgbClr val="0070C0"/>
                </a:solidFill>
                <a:effectLst/>
              </a:rPr>
              <a:t>Center of Sums (</a:t>
            </a:r>
            <a:r>
              <a:rPr lang="en-US" sz="1800" b="0" i="0" dirty="0" err="1">
                <a:solidFill>
                  <a:srgbClr val="0070C0"/>
                </a:solidFill>
                <a:effectLst/>
              </a:rPr>
              <a:t>CoS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) method 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/>
            <a:r>
              <a:rPr lang="en-US" sz="1800" dirty="0"/>
              <a:t>It </a:t>
            </a:r>
            <a:r>
              <a:rPr lang="en-US" sz="1800" b="0" i="0" dirty="0">
                <a:effectLst/>
              </a:rPr>
              <a:t>is most commonly used </a:t>
            </a:r>
            <a:r>
              <a:rPr lang="en-US" sz="1800" b="0" i="0" u="none" strike="noStrike" dirty="0">
                <a:effectLst/>
              </a:rPr>
              <a:t>defuzzification method</a:t>
            </a:r>
            <a:r>
              <a:rPr lang="en-US" sz="1800" b="0" i="0" dirty="0">
                <a:effectLst/>
              </a:rPr>
              <a:t>. 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/>
            <a:r>
              <a:rPr lang="en-US" sz="1800" b="0" i="0" dirty="0">
                <a:effectLst/>
              </a:rPr>
              <a:t>The crisp value according to </a:t>
            </a:r>
            <a:r>
              <a:rPr lang="en-US" sz="1800" b="0" i="0" dirty="0" err="1">
                <a:effectLst/>
              </a:rPr>
              <a:t>CoS</a:t>
            </a:r>
            <a:r>
              <a:rPr lang="en-US" sz="1800" b="0" i="0" dirty="0">
                <a:effectLst/>
              </a:rPr>
              <a:t> is defined as,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4F3A6E-92A2-6A42-F773-24B89ADF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005" y="1461962"/>
            <a:ext cx="1920885" cy="8708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C79DEC-20FD-4380-B611-2237C9ACE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609" y="2419516"/>
            <a:ext cx="5447679" cy="16846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52FA53-F4F2-879E-8F30-3CF801F0C316}"/>
                  </a:ext>
                </a:extLst>
              </p:cNvPr>
              <p:cNvSpPr txBox="1"/>
              <p:nvPr/>
            </p:nvSpPr>
            <p:spPr>
              <a:xfrm>
                <a:off x="213682" y="2423675"/>
                <a:ext cx="4576979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dirty="0">
                    <a:effectLst/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b="0" i="0" dirty="0">
                    <a:effectLst/>
                  </a:rPr>
                  <a:t> denotes the area of the region bounded by the fuzzy set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b="0" i="0" dirty="0">
                    <a:effectLst/>
                  </a:rPr>
                  <a:t> 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b="0" i="0" dirty="0">
                    <a:effectLst/>
                  </a:rPr>
                  <a:t> is the 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𝒈𝒆𝒐𝒎𝒆𝒕𝒓𝒊𝒄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𝒄𝒆𝒏𝒕𝒆𝒓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of that area.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52FA53-F4F2-879E-8F30-3CF801F0C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82" y="2423675"/>
                <a:ext cx="4576979" cy="1511119"/>
              </a:xfrm>
              <a:prstGeom prst="rect">
                <a:avLst/>
              </a:prstGeom>
              <a:blipFill>
                <a:blip r:embed="rId5"/>
                <a:stretch>
                  <a:fillRect l="-1065" t="-2429" r="-6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3586008-7ACD-9494-3220-57ECF98ADE31}"/>
              </a:ext>
            </a:extLst>
          </p:cNvPr>
          <p:cNvSpPr txBox="1"/>
          <p:nvPr/>
        </p:nvSpPr>
        <p:spPr>
          <a:xfrm>
            <a:off x="213682" y="4190905"/>
            <a:ext cx="9581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Note: </a:t>
            </a:r>
            <a:r>
              <a:rPr lang="en-US" sz="1800" b="0" i="0" dirty="0">
                <a:effectLst/>
              </a:rPr>
              <a:t>In </a:t>
            </a:r>
            <a:r>
              <a:rPr lang="en-US" sz="1800" b="0" i="0" dirty="0" err="1">
                <a:effectLst/>
              </a:rPr>
              <a:t>CoG</a:t>
            </a:r>
            <a:r>
              <a:rPr lang="en-US" sz="1800" b="0" i="0" dirty="0">
                <a:effectLst/>
              </a:rPr>
              <a:t> method, the overlapping area is counted </a:t>
            </a:r>
            <a:r>
              <a:rPr lang="en-US" sz="1800" b="1" i="0" dirty="0">
                <a:effectLst/>
              </a:rPr>
              <a:t>once</a:t>
            </a:r>
            <a:r>
              <a:rPr lang="en-US" sz="1800" b="0" i="0" dirty="0">
                <a:effectLst/>
              </a:rPr>
              <a:t>, whereas, in </a:t>
            </a:r>
            <a:r>
              <a:rPr lang="en-US" sz="1800" b="0" i="0" dirty="0" err="1">
                <a:effectLst/>
              </a:rPr>
              <a:t>CoS</a:t>
            </a:r>
            <a:r>
              <a:rPr lang="en-US" sz="1800" b="0" i="0" dirty="0">
                <a:effectLst/>
              </a:rPr>
              <a:t>, the overlapping is counted </a:t>
            </a:r>
            <a:r>
              <a:rPr lang="en-US" sz="1800" b="1" i="0" dirty="0">
                <a:effectLst/>
              </a:rPr>
              <a:t>twice or so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9763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2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79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5C40E-82E0-7039-4875-109D8344639E}"/>
              </a:ext>
            </a:extLst>
          </p:cNvPr>
          <p:cNvSpPr txBox="1"/>
          <p:nvPr/>
        </p:nvSpPr>
        <p:spPr>
          <a:xfrm>
            <a:off x="124659" y="474430"/>
            <a:ext cx="9790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Example – 1:</a:t>
            </a:r>
          </a:p>
          <a:p>
            <a:pPr algn="l" fontAlgn="base"/>
            <a:r>
              <a:rPr lang="en-US" sz="1800" b="0" i="0" dirty="0">
                <a:effectLst/>
              </a:rPr>
              <a:t>Given following three fuzzy output sets, find the corresponding crisp value.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866AD6-A8BD-F9A7-25ED-8992C9515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06" y="1256762"/>
            <a:ext cx="1828800" cy="2314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94FFB5-259C-0601-1B99-391BE7CAA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088" y="1220602"/>
            <a:ext cx="1676400" cy="221932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41D3B5-70B6-FB17-8BF1-CA2BE568E9D1}"/>
              </a:ext>
            </a:extLst>
          </p:cNvPr>
          <p:cNvCxnSpPr>
            <a:cxnSpLocks/>
          </p:cNvCxnSpPr>
          <p:nvPr/>
        </p:nvCxnSpPr>
        <p:spPr>
          <a:xfrm>
            <a:off x="7160662" y="1377206"/>
            <a:ext cx="0" cy="4173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6A3326C-F2F9-117B-5000-76E32936626D}"/>
              </a:ext>
            </a:extLst>
          </p:cNvPr>
          <p:cNvSpPr txBox="1"/>
          <p:nvPr/>
        </p:nvSpPr>
        <p:spPr>
          <a:xfrm>
            <a:off x="7160662" y="1293041"/>
            <a:ext cx="27541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Area of trapezoidal (symmetric) is computed as shown in this diagram:</a:t>
            </a:r>
            <a:endParaRPr lang="en-IN" sz="1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9FF2EA6-9EC5-DFBE-9D2C-27B753B41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653" y="2493370"/>
            <a:ext cx="1712053" cy="1859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A5FB11-5622-D5E9-4250-98A24CF4A982}"/>
                  </a:ext>
                </a:extLst>
              </p:cNvPr>
              <p:cNvSpPr txBox="1"/>
              <p:nvPr/>
            </p:nvSpPr>
            <p:spPr>
              <a:xfrm>
                <a:off x="58435" y="4248764"/>
                <a:ext cx="234999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=(1 + 5) / 2 =3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baseline="-25000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=1/2 (2 + 4</m:t>
                      </m:r>
                      <m:r>
                        <a:rPr lang="en-US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× 0.2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b="0" i="1" baseline="-25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= 0.6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A5FB11-5622-D5E9-4250-98A24CF4A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" y="4248764"/>
                <a:ext cx="2349995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5A8EFA77-E63E-8CE8-E52C-E237781EA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1442" y="1392482"/>
            <a:ext cx="1659656" cy="1779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29BBA4-25C2-CE0C-CD95-A9873A4EA8AF}"/>
                  </a:ext>
                </a:extLst>
              </p:cNvPr>
              <p:cNvSpPr txBox="1"/>
              <p:nvPr/>
            </p:nvSpPr>
            <p:spPr>
              <a:xfrm>
                <a:off x="4767103" y="4211456"/>
                <a:ext cx="2549528" cy="861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600" i="1" baseline="-25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(3 + 7) / 2 = 5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baseline="-25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1/2 (2 + 4) × 1.0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baseline="-25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3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29BBA4-25C2-CE0C-CD95-A9873A4EA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103" y="4211456"/>
                <a:ext cx="2549528" cy="8610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F823C0-E1AE-1BC3-3451-95406DC52575}"/>
                  </a:ext>
                </a:extLst>
              </p:cNvPr>
              <p:cNvSpPr txBox="1"/>
              <p:nvPr/>
            </p:nvSpPr>
            <p:spPr>
              <a:xfrm>
                <a:off x="2461442" y="3180050"/>
                <a:ext cx="2520993" cy="861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600" i="1" baseline="-25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(2 + 6) / 2 = 4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baseline="-25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1/2 (2 + 4) × 0.4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  <a:p>
                <a:pPr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1600" i="1" baseline="-25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16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1.2</m:t>
                      </m:r>
                    </m:oMath>
                  </m:oMathPara>
                </a14:m>
                <a:endParaRPr lang="pt-BR" sz="16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F823C0-E1AE-1BC3-3451-95406DC52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442" y="3180050"/>
                <a:ext cx="2520993" cy="8610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88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22" grpId="0"/>
      <p:bldP spid="26" grpId="0"/>
      <p:bldP spid="2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80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1B4BF-13D3-0281-9DD9-391249A8598F}"/>
              </a:ext>
            </a:extLst>
          </p:cNvPr>
          <p:cNvSpPr txBox="1"/>
          <p:nvPr/>
        </p:nvSpPr>
        <p:spPr>
          <a:xfrm>
            <a:off x="302706" y="464479"/>
            <a:ext cx="9492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We can find the corresponding crisp value using the formula of </a:t>
            </a:r>
            <a:r>
              <a:rPr lang="en-US" sz="1800" b="0" i="0" dirty="0" err="1">
                <a:effectLst/>
              </a:rPr>
              <a:t>CoS</a:t>
            </a:r>
            <a:r>
              <a:rPr lang="en-US" sz="1800" b="0" i="0" dirty="0">
                <a:effectLst/>
              </a:rPr>
              <a:t> method: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E8EA00-2BB4-21DD-E82F-318831D38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241" y="787221"/>
            <a:ext cx="4021717" cy="2276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333074-022E-50BC-74F1-D4B041E652C1}"/>
              </a:ext>
            </a:extLst>
          </p:cNvPr>
          <p:cNvSpPr txBox="1"/>
          <p:nvPr/>
        </p:nvSpPr>
        <p:spPr>
          <a:xfrm>
            <a:off x="215965" y="2997214"/>
            <a:ext cx="9832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Example – 2:</a:t>
            </a:r>
          </a:p>
          <a:p>
            <a:pPr algn="l" fontAlgn="base"/>
            <a:r>
              <a:rPr lang="en-US" sz="1800" b="0" i="0" dirty="0">
                <a:effectLst/>
              </a:rPr>
              <a:t>Given following three fuzzy output sets, find the corresponding crisp value.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8C64A4-4F02-473E-4294-A5E50CC49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450" y="3732607"/>
            <a:ext cx="6220566" cy="157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81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F04B6B-C9BB-906C-95E1-9010ADC5AD9E}"/>
                  </a:ext>
                </a:extLst>
              </p:cNvPr>
              <p:cNvSpPr txBox="1"/>
              <p:nvPr/>
            </p:nvSpPr>
            <p:spPr>
              <a:xfrm>
                <a:off x="302707" y="670066"/>
                <a:ext cx="6525924" cy="40041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Center of Largest Area (CoA)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This method is simple, computationally effective and widely used </a:t>
                </a:r>
                <a:r>
                  <a:rPr lang="en-US" sz="1800" i="0" strike="noStrike" dirty="0">
                    <a:effectLst/>
                  </a:rPr>
                  <a:t>defuzzification</a:t>
                </a:r>
                <a:r>
                  <a:rPr lang="en-US" sz="1800" b="0" i="0" dirty="0">
                    <a:effectLst/>
                  </a:rPr>
                  <a:t>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If the fuzzy set has two sub regions, then the 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</a:rPr>
                  <a:t>center of gravity of the sub region with the largest area </a:t>
                </a:r>
                <a:r>
                  <a:rPr lang="en-US" sz="1800" b="0" i="0" dirty="0">
                    <a:effectLst/>
                  </a:rPr>
                  <a:t>can be used to calculate the </a:t>
                </a:r>
                <a:r>
                  <a:rPr lang="en-US" sz="1800" b="0" i="0" dirty="0" err="1">
                    <a:effectLst/>
                  </a:rPr>
                  <a:t>defuzzified</a:t>
                </a:r>
                <a:r>
                  <a:rPr lang="en-US" sz="1800" b="0" i="0" dirty="0">
                    <a:effectLst/>
                  </a:rPr>
                  <a:t> value.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ctr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baseline="30000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= (∫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 . 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/ ( ∫ </m:t>
                      </m:r>
                      <m:r>
                        <a:rPr lang="en-US" sz="1800" b="0" i="1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u="sng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baseline="-25000" dirty="0" err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1800" b="0" i="1" dirty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ctr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Here,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b="0" i="0" dirty="0">
                    <a:effectLst/>
                  </a:rPr>
                  <a:t> is the region with largest area,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b="0" i="0" dirty="0">
                    <a:effectLst/>
                  </a:rPr>
                  <a:t> is the center of gravity of </a:t>
                </a:r>
                <a14:m>
                  <m:oMath xmlns:m="http://schemas.openxmlformats.org/officeDocument/2006/math">
                    <m:r>
                      <a:rPr lang="en-US" sz="1800" b="0" i="1" u="sng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baseline="-25000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F04B6B-C9BB-906C-95E1-9010ADC5A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7" y="670066"/>
                <a:ext cx="6525924" cy="4004109"/>
              </a:xfrm>
              <a:prstGeom prst="rect">
                <a:avLst/>
              </a:prstGeom>
              <a:blipFill>
                <a:blip r:embed="rId3"/>
                <a:stretch>
                  <a:fillRect l="-841" t="-913" b="-1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3621943-686E-9A43-2F32-1EE62FC74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630" y="1209147"/>
            <a:ext cx="3091658" cy="238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1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82</a:t>
            </a:fld>
            <a:endParaRPr lang="en-IN" sz="1058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E279-5BCE-972C-8083-9BC8F35438D0}"/>
              </a:ext>
            </a:extLst>
          </p:cNvPr>
          <p:cNvSpPr txBox="1"/>
          <p:nvPr/>
        </p:nvSpPr>
        <p:spPr>
          <a:xfrm>
            <a:off x="3701627" y="-79416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Defuzzification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387939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Defuzzification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3EC8F-689B-8A6E-00CC-CBA1BEEECA9F}"/>
              </a:ext>
            </a:extLst>
          </p:cNvPr>
          <p:cNvSpPr txBox="1"/>
          <p:nvPr/>
        </p:nvSpPr>
        <p:spPr>
          <a:xfrm>
            <a:off x="302706" y="436825"/>
            <a:ext cx="9715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Example: </a:t>
            </a:r>
            <a:r>
              <a:rPr lang="en-US" sz="1800" b="0" i="0" dirty="0">
                <a:solidFill>
                  <a:srgbClr val="666666"/>
                </a:solidFill>
                <a:effectLst/>
              </a:rPr>
              <a:t>Find the crisp value </a:t>
            </a:r>
            <a:r>
              <a:rPr lang="en-US" sz="1800" dirty="0">
                <a:solidFill>
                  <a:srgbClr val="666666"/>
                </a:solidFill>
              </a:rPr>
              <a:t>for the </a:t>
            </a:r>
            <a:r>
              <a:rPr lang="en-US" sz="1800" b="0" i="0" dirty="0">
                <a:solidFill>
                  <a:srgbClr val="666666"/>
                </a:solidFill>
                <a:effectLst/>
              </a:rPr>
              <a:t>given fuzzy output functions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377A2A-2CDB-C6F1-CE4C-5C3DD477E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45" y="775298"/>
            <a:ext cx="6705911" cy="19717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EEDC75-BD74-8BA5-E1E0-369610631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120" y="2893144"/>
            <a:ext cx="2838450" cy="2657475"/>
          </a:xfrm>
          <a:prstGeom prst="rect">
            <a:avLst/>
          </a:prstGeom>
        </p:spPr>
      </p:pic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13979DB2-C5FC-6582-301F-5554A7D655C7}"/>
              </a:ext>
            </a:extLst>
          </p:cNvPr>
          <p:cNvSpPr/>
          <p:nvPr/>
        </p:nvSpPr>
        <p:spPr>
          <a:xfrm>
            <a:off x="6074804" y="2833058"/>
            <a:ext cx="287717" cy="69573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8770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83</a:t>
            </a:fld>
            <a:endParaRPr lang="en-IN" sz="1058" spc="-1">
              <a:latin typeface="Times New Roman"/>
            </a:endParaRP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7BE1F1A-AC43-991B-1E87-1D41A83B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317003" cy="201161"/>
          </a:xfrm>
        </p:spPr>
        <p:txBody>
          <a:bodyPr/>
          <a:lstStyle/>
          <a:p>
            <a:r>
              <a:rPr lang="en-US" sz="900" dirty="0"/>
              <a:t>Principles of Soft Computing-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Classical and fuzzy logic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27ADD-8651-536C-7AD4-A7C3F36A10EB}"/>
              </a:ext>
            </a:extLst>
          </p:cNvPr>
          <p:cNvSpPr txBox="1"/>
          <p:nvPr/>
        </p:nvSpPr>
        <p:spPr>
          <a:xfrm>
            <a:off x="2838139" y="-30239"/>
            <a:ext cx="42440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  <a:latin typeface="+mj-lt"/>
              </a:rPr>
              <a:t>Classical and fuzzy logic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EE181-6FEF-1AFE-BC0B-A03D7523D580}"/>
              </a:ext>
            </a:extLst>
          </p:cNvPr>
          <p:cNvSpPr txBox="1"/>
          <p:nvPr/>
        </p:nvSpPr>
        <p:spPr>
          <a:xfrm>
            <a:off x="350912" y="400648"/>
            <a:ext cx="921846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800" i="0" dirty="0">
                <a:solidFill>
                  <a:srgbClr val="FF0000"/>
                </a:solidFill>
                <a:effectLst/>
              </a:rPr>
              <a:t>What is logic?</a:t>
            </a:r>
          </a:p>
          <a:p>
            <a:pPr algn="l" fontAlgn="base"/>
            <a:r>
              <a:rPr lang="en-US" sz="1800" b="0" i="0" dirty="0">
                <a:effectLst/>
              </a:rPr>
              <a:t>It is a method for developing a quantitative reasoning process that can be duplicated and altered using mathematical proofs.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/>
            <a:r>
              <a:rPr lang="en-US" sz="1800" b="0" i="0" dirty="0">
                <a:effectLst/>
              </a:rPr>
              <a:t>It is the ability of humans to think rationally about something using suitable evidence and inferences.</a:t>
            </a:r>
          </a:p>
          <a:p>
            <a:pPr algn="l" fontAlgn="base"/>
            <a:endParaRPr lang="en-US" sz="1800" b="0" i="0" dirty="0">
              <a:effectLst/>
            </a:endParaRPr>
          </a:p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Proposition</a:t>
            </a:r>
          </a:p>
          <a:p>
            <a:pPr algn="l" fontAlgn="base"/>
            <a:r>
              <a:rPr lang="en-US" sz="1800" b="0" i="0" dirty="0">
                <a:effectLst/>
              </a:rPr>
              <a:t>It is a collection of declarative statements that have either a truth value as </a:t>
            </a:r>
            <a:r>
              <a:rPr lang="en-US" sz="1800" i="0" dirty="0">
                <a:solidFill>
                  <a:srgbClr val="0070C0"/>
                </a:solidFill>
                <a:effectLst/>
              </a:rPr>
              <a:t>true</a:t>
            </a:r>
            <a:r>
              <a:rPr lang="en-US" sz="1800" b="1" i="0" dirty="0">
                <a:effectLst/>
              </a:rPr>
              <a:t> </a:t>
            </a:r>
            <a:r>
              <a:rPr lang="en-US" sz="1800" b="0" i="0" dirty="0">
                <a:effectLst/>
              </a:rPr>
              <a:t>or a truth value as </a:t>
            </a:r>
            <a:r>
              <a:rPr lang="en-US" sz="1800" i="0" dirty="0">
                <a:solidFill>
                  <a:srgbClr val="0070C0"/>
                </a:solidFill>
                <a:effectLst/>
              </a:rPr>
              <a:t>false.</a:t>
            </a:r>
            <a:r>
              <a:rPr lang="en-US" sz="1800" b="0" i="0" dirty="0">
                <a:effectLst/>
              </a:rPr>
              <a:t> </a:t>
            </a:r>
          </a:p>
          <a:p>
            <a:pPr algn="l" fontAlgn="base"/>
            <a:endParaRPr lang="en-US" sz="1800" dirty="0"/>
          </a:p>
          <a:p>
            <a:pPr fontAlgn="base"/>
            <a:r>
              <a:rPr lang="en-US" sz="1800" b="0" i="0" dirty="0">
                <a:effectLst/>
              </a:rPr>
              <a:t>The veracity (truth: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T</a:t>
            </a:r>
            <a:r>
              <a:rPr lang="en-US" sz="1800" b="0" i="0" dirty="0">
                <a:effectLst/>
              </a:rPr>
              <a:t>) of an element in the proposition </a:t>
            </a:r>
            <a:r>
              <a:rPr lang="en-US" sz="1800" b="0" i="0" dirty="0">
                <a:solidFill>
                  <a:srgbClr val="0070C0"/>
                </a:solidFill>
                <a:effectLst/>
              </a:rPr>
              <a:t>P</a:t>
            </a:r>
            <a:r>
              <a:rPr lang="en-US" sz="1800" b="0" i="0" dirty="0">
                <a:effectLst/>
              </a:rPr>
              <a:t> can be assigned a binary truth value, </a:t>
            </a:r>
            <a:r>
              <a:rPr lang="en-US" sz="1800" b="1" i="0" dirty="0">
                <a:effectLst/>
              </a:rPr>
              <a:t>called </a:t>
            </a:r>
            <a:r>
              <a:rPr lang="en-US" sz="1800" b="1" i="0" dirty="0">
                <a:solidFill>
                  <a:srgbClr val="0070C0"/>
                </a:solidFill>
                <a:effectLst/>
              </a:rPr>
              <a:t>T (P)</a:t>
            </a:r>
            <a:endParaRPr lang="en-US" sz="1800" b="0" i="0" dirty="0">
              <a:solidFill>
                <a:srgbClr val="0070C0"/>
              </a:solidFill>
              <a:effectLst/>
            </a:endParaRPr>
          </a:p>
          <a:p>
            <a:pPr algn="l" fontAlgn="base"/>
            <a:endParaRPr lang="en-US" sz="1800" dirty="0"/>
          </a:p>
          <a:p>
            <a:pPr algn="l" fontAlgn="base"/>
            <a:r>
              <a:rPr lang="en-US" sz="1800" i="0" dirty="0">
                <a:solidFill>
                  <a:srgbClr val="0070C0"/>
                </a:solidFill>
                <a:effectLst/>
              </a:rPr>
              <a:t>Examples:(</a:t>
            </a:r>
            <a:r>
              <a:rPr lang="en-US" sz="1800" i="0" dirty="0" err="1">
                <a:solidFill>
                  <a:srgbClr val="0070C0"/>
                </a:solidFill>
                <a:effectLst/>
              </a:rPr>
              <a:t>i</a:t>
            </a:r>
            <a:r>
              <a:rPr lang="en-US" sz="1800" i="0" dirty="0">
                <a:solidFill>
                  <a:srgbClr val="0070C0"/>
                </a:solidFill>
                <a:effectLst/>
              </a:rPr>
              <a:t>) </a:t>
            </a:r>
            <a:r>
              <a:rPr lang="en-US" sz="1800" b="0" i="0" dirty="0">
                <a:effectLst/>
              </a:rPr>
              <a:t>Man is mortal</a:t>
            </a:r>
          </a:p>
          <a:p>
            <a:pPr algn="l" fontAlgn="base"/>
            <a:r>
              <a:rPr lang="en-US" sz="1800" dirty="0"/>
              <a:t>	 (ii) Sun rises in the West</a:t>
            </a:r>
          </a:p>
          <a:p>
            <a:pPr algn="l" fontAlgn="base"/>
            <a:r>
              <a:rPr lang="en-US" sz="1800" b="0" i="0" dirty="0">
                <a:effectLst/>
              </a:rPr>
              <a:t>         </a:t>
            </a:r>
            <a:r>
              <a:rPr lang="en-US" sz="1800" dirty="0"/>
              <a:t>(iii) Virat Kohli is great batsman </a:t>
            </a:r>
            <a:endParaRPr lang="en-US" sz="18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34234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84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B92DD2-57A0-D698-28F4-2533CC495E06}"/>
                  </a:ext>
                </a:extLst>
              </p:cNvPr>
              <p:cNvSpPr txBox="1"/>
              <p:nvPr/>
            </p:nvSpPr>
            <p:spPr>
              <a:xfrm>
                <a:off x="302706" y="670066"/>
                <a:ext cx="9358129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Logical Connectives</a:t>
                </a:r>
              </a:p>
              <a:p>
                <a:pPr algn="l" fontAlgn="base"/>
                <a:endParaRPr lang="en-US" sz="180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It connects the propositional statements together to form new propositions.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800" b="0" i="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800" b="0" i="0" dirty="0">
                    <a:effectLst/>
                  </a:rPr>
                  <a:t> are two propositions on the same universe, they can be combined using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b="0" i="0" dirty="0">
                    <a:effectLst/>
                  </a:rPr>
                  <a:t> logical connectives</a:t>
                </a:r>
                <a:r>
                  <a:rPr lang="en-US" sz="1800" dirty="0"/>
                  <a:t>.</a:t>
                </a:r>
                <a:endParaRPr lang="en-US" sz="1800" b="0" i="0" dirty="0"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b="0" i="0" dirty="0">
                    <a:effectLst/>
                  </a:rPr>
                  <a:t>Disjunction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(∨)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b="0" i="0" dirty="0">
                    <a:effectLst/>
                  </a:rPr>
                  <a:t>Conjunction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(∧)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b="0" i="0" dirty="0">
                    <a:effectLst/>
                  </a:rPr>
                  <a:t>Negation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(−)</m:t>
                    </m:r>
                  </m:oMath>
                </a14:m>
                <a:r>
                  <a:rPr lang="en-US" sz="1800" b="0" i="0" dirty="0">
                    <a:effectLst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(~)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b="0" i="0" dirty="0">
                    <a:effectLst/>
                  </a:rPr>
                  <a:t>Implication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(→)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>
                  <a:buFont typeface="+mj-lt"/>
                  <a:buAutoNum type="arabicPeriod"/>
                </a:pPr>
                <a:r>
                  <a:rPr lang="en-US" sz="1800" b="0" i="0" dirty="0">
                    <a:effectLst/>
                  </a:rPr>
                  <a:t>Equivalence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(⟷)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B92DD2-57A0-D698-28F4-2533CC495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6" y="670066"/>
                <a:ext cx="9358129" cy="3693319"/>
              </a:xfrm>
              <a:prstGeom prst="rect">
                <a:avLst/>
              </a:prstGeom>
              <a:blipFill>
                <a:blip r:embed="rId3"/>
                <a:stretch>
                  <a:fillRect l="-586" t="-990" b="-16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0D0BF87-21C2-2FC3-C41F-DD654294117C}"/>
              </a:ext>
            </a:extLst>
          </p:cNvPr>
          <p:cNvSpPr txBox="1"/>
          <p:nvPr/>
        </p:nvSpPr>
        <p:spPr>
          <a:xfrm>
            <a:off x="2838139" y="-30239"/>
            <a:ext cx="42440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  <a:latin typeface="+mj-lt"/>
              </a:rPr>
              <a:t>Classical and fuzzy logic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C23E9CEA-736E-CBAE-3606-3138977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404467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Classical and fuzzy logic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3615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85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FE8FE6-1EB7-B206-061E-30513FB8BCBE}"/>
                  </a:ext>
                </a:extLst>
              </p:cNvPr>
              <p:cNvSpPr txBox="1"/>
              <p:nvPr/>
            </p:nvSpPr>
            <p:spPr>
              <a:xfrm>
                <a:off x="392158" y="403017"/>
                <a:ext cx="6078216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Disjunction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The disjunction connective or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“logical or” </a:t>
                </a:r>
                <a:r>
                  <a:rPr lang="en-US" sz="1800" b="0" i="0" dirty="0">
                    <a:effectLst/>
                  </a:rPr>
                  <a:t>is a term used to represent inclusive or.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∨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Hence,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∨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FE8FE6-1EB7-B206-061E-30513FB8B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58" y="403017"/>
                <a:ext cx="6078216" cy="2031325"/>
              </a:xfrm>
              <a:prstGeom prst="rect">
                <a:avLst/>
              </a:prstGeom>
              <a:blipFill>
                <a:blip r:embed="rId3"/>
                <a:stretch>
                  <a:fillRect l="-802" t="-1502" r="-2909" b="-3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B5E4A9A-3B13-7172-8B95-24F85B3E1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279" y="694531"/>
            <a:ext cx="3181350" cy="2095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A4BF24-FDFF-7E1E-9DE3-05AE1DB4204A}"/>
                  </a:ext>
                </a:extLst>
              </p:cNvPr>
              <p:cNvSpPr txBox="1"/>
              <p:nvPr/>
            </p:nvSpPr>
            <p:spPr>
              <a:xfrm>
                <a:off x="392158" y="2826101"/>
                <a:ext cx="607821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Conjunction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If both the proposition P and Q are true, then the compound proposition will be true. 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It performs </a:t>
                </a:r>
                <a:r>
                  <a:rPr lang="en-US" sz="1800" b="0" i="0" dirty="0">
                    <a:solidFill>
                      <a:srgbClr val="0070C0"/>
                    </a:solidFill>
                    <a:effectLst/>
                  </a:rPr>
                  <a:t>logical ‘and’ </a:t>
                </a:r>
                <a:r>
                  <a:rPr lang="en-US" sz="1800" b="0" i="0" dirty="0">
                    <a:effectLst/>
                  </a:rPr>
                  <a:t>operation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∧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Hence,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∧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A4BF24-FDFF-7E1E-9DE3-05AE1DB42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58" y="2826101"/>
                <a:ext cx="6078216" cy="2308324"/>
              </a:xfrm>
              <a:prstGeom prst="rect">
                <a:avLst/>
              </a:prstGeom>
              <a:blipFill>
                <a:blip r:embed="rId5"/>
                <a:stretch>
                  <a:fillRect l="-802" t="-1587" r="-903" b="-3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BB833E1-B414-5429-D26E-25E062ED8D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279" y="3231512"/>
            <a:ext cx="3181349" cy="2095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059144-1176-2A88-0A9C-C8CBC808404B}"/>
              </a:ext>
            </a:extLst>
          </p:cNvPr>
          <p:cNvSpPr txBox="1"/>
          <p:nvPr/>
        </p:nvSpPr>
        <p:spPr>
          <a:xfrm>
            <a:off x="2838139" y="-30239"/>
            <a:ext cx="42440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  <a:latin typeface="+mj-lt"/>
              </a:rPr>
              <a:t>Classical and fuzzy logic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2615095D-1AFF-253B-5884-CB22D7F8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396515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Classical and fuzzy logic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59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86</a:t>
            </a:fld>
            <a:endParaRPr lang="en-IN" sz="1058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9F28C8-13B3-C306-CABF-E23AAEE5843E}"/>
                  </a:ext>
                </a:extLst>
              </p:cNvPr>
              <p:cNvSpPr txBox="1"/>
              <p:nvPr/>
            </p:nvSpPr>
            <p:spPr>
              <a:xfrm>
                <a:off x="239703" y="413293"/>
                <a:ext cx="704568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Negation</a:t>
                </a:r>
              </a:p>
              <a:p>
                <a:pPr algn="l" fontAlgn="base"/>
                <a:r>
                  <a:rPr lang="en-US" sz="1800" b="0" i="0" dirty="0">
                    <a:effectLst/>
                  </a:rPr>
                  <a:t>The negation of a proposition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800" b="0" i="0" dirty="0">
                    <a:effectLst/>
                  </a:rPr>
                  <a:t> is false when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800" b="0" i="0" dirty="0">
                    <a:effectLst/>
                  </a:rPr>
                  <a:t> is true and vice versa</a:t>
                </a: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9F28C8-13B3-C306-CABF-E23AAEE58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03" y="413293"/>
                <a:ext cx="7045680" cy="1477328"/>
              </a:xfrm>
              <a:prstGeom prst="rect">
                <a:avLst/>
              </a:prstGeom>
              <a:blipFill>
                <a:blip r:embed="rId3"/>
                <a:stretch>
                  <a:fillRect l="-692" t="-2479" b="-24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5FEB48D-4A2F-7355-BF54-7CD23E211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113" y="719291"/>
            <a:ext cx="2143125" cy="1304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DA3264-73CC-850C-625B-FDAC457A4D8C}"/>
                  </a:ext>
                </a:extLst>
              </p:cNvPr>
              <p:cNvSpPr txBox="1"/>
              <p:nvPr/>
            </p:nvSpPr>
            <p:spPr>
              <a:xfrm>
                <a:off x="239703" y="2027449"/>
                <a:ext cx="641761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Implication</a:t>
                </a:r>
              </a:p>
              <a:p>
                <a:pPr algn="l" fontAlgn="base"/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”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𝒆𝒏𝒕𝒂𝒊𝒍𝒔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”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means that it can never happen that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b="0" i="0" dirty="0">
                    <a:effectLst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800" b="0" i="0" dirty="0">
                    <a:effectLst/>
                  </a:rPr>
                  <a:t> is not true.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It is also written as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“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𝑰𝒇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𝒕𝒉𝒆𝒏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”</m:t>
                    </m:r>
                    <m:r>
                      <a:rPr lang="en-US" sz="1800" b="0" i="1" dirty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800" b="0" i="0" dirty="0">
                    <a:effectLst/>
                  </a:rPr>
                  <a:t>where </a:t>
                </a:r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P</a:t>
                </a:r>
                <a:r>
                  <a:rPr lang="en-US" sz="1800" b="0" i="0" dirty="0">
                    <a:effectLst/>
                  </a:rPr>
                  <a:t> is called as the premise/hypothesis and Q is called as conclusion</a:t>
                </a: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):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∉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In other words,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DA3264-73CC-850C-625B-FDAC457A4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03" y="2027449"/>
                <a:ext cx="6417610" cy="3139321"/>
              </a:xfrm>
              <a:prstGeom prst="rect">
                <a:avLst/>
              </a:prstGeom>
              <a:blipFill>
                <a:blip r:embed="rId5"/>
                <a:stretch>
                  <a:fillRect l="-760" t="-1165" b="-2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0BD5F07-993D-37E2-B51C-BB1092778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313" y="2592309"/>
            <a:ext cx="3209925" cy="2133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C6B758-2B88-34BB-1656-308DAC8276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2080" y="4669105"/>
            <a:ext cx="2964035" cy="6864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FB1518-9A4D-02F9-E12E-EA3585EA4830}"/>
              </a:ext>
            </a:extLst>
          </p:cNvPr>
          <p:cNvSpPr txBox="1"/>
          <p:nvPr/>
        </p:nvSpPr>
        <p:spPr>
          <a:xfrm>
            <a:off x="2838139" y="-30239"/>
            <a:ext cx="42440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  <a:latin typeface="+mj-lt"/>
              </a:rPr>
              <a:t>Classical and fuzzy logic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F3CFB001-969B-E6A9-5488-C9CC512C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6" y="5349458"/>
            <a:ext cx="4293148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Classical and fuzzy logic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9483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3;p26">
            <a:extLst>
              <a:ext uri="{FF2B5EF4-FFF2-40B4-BE49-F238E27FC236}">
                <a16:creationId xmlns:a16="http://schemas.microsoft.com/office/drawing/2014/main" id="{BEE062BC-AFAE-4758-82C8-773AA1F075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842016" y="-48"/>
            <a:ext cx="1953613" cy="670114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2069-F13F-442F-AC80-BB5C0D92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Pandu Sowkuntla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D1BDB-CA38-47E4-B056-7FB698E57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algn="r">
              <a:tabLst>
                <a:tab pos="0" algn="l"/>
              </a:tabLst>
            </a:pPr>
            <a:fld id="{8102FD01-B328-4375-925A-2628011DBD89}" type="slidenum">
              <a:rPr lang="en" sz="1058" spc="-1">
                <a:solidFill>
                  <a:srgbClr val="A7A5A5"/>
                </a:solidFill>
                <a:ea typeface="Arial"/>
              </a:rPr>
              <a:pPr algn="r">
                <a:tabLst>
                  <a:tab pos="0" algn="l"/>
                </a:tabLst>
              </a:pPr>
              <a:t>87</a:t>
            </a:fld>
            <a:endParaRPr lang="en-IN" sz="1058" spc="-1"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0BF87-21C2-2FC3-C41F-DD654294117C}"/>
              </a:ext>
            </a:extLst>
          </p:cNvPr>
          <p:cNvSpPr txBox="1"/>
          <p:nvPr/>
        </p:nvSpPr>
        <p:spPr>
          <a:xfrm>
            <a:off x="2838139" y="-30239"/>
            <a:ext cx="42440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200" b="1" i="0" dirty="0">
                <a:solidFill>
                  <a:srgbClr val="FF0000"/>
                </a:solidFill>
                <a:effectLst/>
                <a:latin typeface="+mj-lt"/>
              </a:rPr>
              <a:t>Classical and fuzzy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242508-D61F-C5FF-AFA3-EF07639BF72A}"/>
                  </a:ext>
                </a:extLst>
              </p:cNvPr>
              <p:cNvSpPr txBox="1"/>
              <p:nvPr/>
            </p:nvSpPr>
            <p:spPr>
              <a:xfrm>
                <a:off x="223552" y="437603"/>
                <a:ext cx="6659991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base"/>
                <a:r>
                  <a:rPr lang="en-US" sz="1800" i="0" dirty="0">
                    <a:solidFill>
                      <a:srgbClr val="0070C0"/>
                    </a:solidFill>
                    <a:effectLst/>
                  </a:rPr>
                  <a:t>Equivalence</a:t>
                </a:r>
              </a:p>
              <a:p>
                <a:pPr algn="l" fontAlgn="base"/>
                <a:endParaRPr lang="en-US" sz="1800" b="1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The equivalence connective is generally used when we have a dual implication for propositions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800" b="0" i="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  <a:p>
                <a:pPr algn="l" fontAlgn="base"/>
                <a:endParaRPr lang="en-US" sz="1800" b="0" i="0" dirty="0">
                  <a:effectLst/>
                </a:endParaRPr>
              </a:p>
              <a:p>
                <a:pPr algn="l" fontAlgn="base"/>
                <a:r>
                  <a:rPr lang="en-US" sz="1800" b="0" i="0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800" b="0" i="0" dirty="0">
                    <a:effectLst/>
                  </a:rPr>
                  <a:t>, then we can say that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⟷ 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1800" b="0" i="0" dirty="0"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242508-D61F-C5FF-AFA3-EF07639BF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52" y="437603"/>
                <a:ext cx="6659991" cy="1754326"/>
              </a:xfrm>
              <a:prstGeom prst="rect">
                <a:avLst/>
              </a:prstGeom>
              <a:blipFill>
                <a:blip r:embed="rId3"/>
                <a:stretch>
                  <a:fillRect l="-824" t="-2083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39539DB-565F-950A-0874-A3BFBA126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543" y="665956"/>
            <a:ext cx="3005997" cy="2031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EBACB2-EC83-2D1B-50BA-EB360896E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213" y="2307662"/>
            <a:ext cx="3407977" cy="729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38D280-9ED1-8FB9-6FFA-8075FF674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666" y="3775697"/>
            <a:ext cx="7006725" cy="1529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5DFA09-31BA-789B-E4C6-A8CBADA5F3D7}"/>
              </a:ext>
            </a:extLst>
          </p:cNvPr>
          <p:cNvSpPr txBox="1"/>
          <p:nvPr/>
        </p:nvSpPr>
        <p:spPr>
          <a:xfrm>
            <a:off x="223552" y="3377049"/>
            <a:ext cx="833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</a:rPr>
              <a:t>All five connectives are summarized in following table:</a:t>
            </a:r>
            <a:endParaRPr lang="en-IN" sz="1800" dirty="0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64AFFD1D-D028-FD98-CE8A-BCA96EEB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705" y="5349458"/>
            <a:ext cx="4309051" cy="201161"/>
          </a:xfrm>
        </p:spPr>
        <p:txBody>
          <a:bodyPr/>
          <a:lstStyle/>
          <a:p>
            <a:r>
              <a:rPr lang="en-US" sz="900" dirty="0"/>
              <a:t>Principles of Soft Computing- </a:t>
            </a:r>
            <a:r>
              <a:rPr lang="en-US" dirty="0"/>
              <a:t>-&gt; Unit-III: </a:t>
            </a:r>
            <a:r>
              <a:rPr lang="en-US" dirty="0">
                <a:solidFill>
                  <a:srgbClr val="FF0000"/>
                </a:solidFill>
              </a:rPr>
              <a:t>Classical and fuzzy logic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99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9B466B-319F-4FDB-9394-FD914CFC5EF6}">
  <we:reference id="wa104380848" version="2.1.0.1" store="en-US" storeType="OMEX"/>
  <we:alternateReferences>
    <we:reference id="wa104380848" version="2.1.0.1" store="WA10438084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15896</TotalTime>
  <Words>9713</Words>
  <Application>Microsoft Office PowerPoint</Application>
  <PresentationFormat>Custom</PresentationFormat>
  <Paragraphs>1187</Paragraphs>
  <Slides>87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7" baseType="lpstr">
      <vt:lpstr>Arial</vt:lpstr>
      <vt:lpstr>Calibri</vt:lpstr>
      <vt:lpstr>Cambria Math</vt:lpstr>
      <vt:lpstr>Comic Sans MS</vt:lpstr>
      <vt:lpstr>Consolas</vt:lpstr>
      <vt:lpstr>Roboto Condensed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Sowkuntla Pandu</cp:lastModifiedBy>
  <cp:revision>442</cp:revision>
  <dcterms:modified xsi:type="dcterms:W3CDTF">2025-12-01T00:06:57Z</dcterms:modified>
  <dc:language>en-IN</dc:language>
</cp:coreProperties>
</file>